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asking how code currently gets from a developer's laptop to a server in their organisation. Most rooms describe something manual. That gap is what this module closes. Confirm everyone has a Jenkins instance available — a local Docker container is enough — before session 1 ends.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minutes. Point out that sessions 2 and 3 assume the Maven project from module 5 — if learners do not have one, provide a sample repository. The labs are cumulative, so anyone who falls behind should be paired up rather than left to catch up alone.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Ask learners to open their Jenkins instance now so setup problems surface early rather than during the 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room for their own integration horror story — every experienced team has one, and the room engages far more with a real example than with this list. The self-reinforcing loop in the footer is the point to land before showing the alternative.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footer line matters: teams sometimes install Jenkins, keep working on month-long branches, and conclude CI does not help. Say explicitly that a CI server without frequent merging is just a scheduled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 items 1 and 6 back to module 4's branching discussion and module 1's culture material. The ten-minute guideline is practitioner consensus rather than a standard — present it as a target worth defending, because build time is the thing that quietly erodes CI discipline.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recap of the DevOps module, so keep it brief unless learners missed that session. The delivery-versus-deployment distinction is examined frequently; use the could-deploy versus did-deploy mnemonic.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 honest picture: Jenkins is the most widely deployed CI server and the most flexible, but it is also self-managed — you own the upgrades, the plugin conflicts and the backups. That trade-off sets up the alternatives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even-handed. If your learners are heading into a GitHub-based organisation, tell them Actions is likely their day job and that everything in sessions 2 and 3 maps across with different syntax. That honesty buys credibility for the rest of the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Docker is the fastest route for a classroom and avoids Java version arguments. Emphasise the named volume — without it, every restart loses all configuration, which is a painful lesson to learn mid-lab.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the wizard live if at all possible. The Jenkins URL field is the one people skip and regret: email links and webhook callbacks are built from it, and a wrong value produces broken links that are hard to trace back to this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screen live rather than reading the slide. Point out that the layout changed in recent Jenkins versions, so older tutorials describe a different menu — learners should search by name rather than by 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name is a contract between this screen and every Jenkinsfile — renaming an installation breaks every pipeline that references it. Agree naming conventions early and keep them boring.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restraint point is worth dwelling on — instances with 200 plugins are common and miserable to upgrade. Mention that the suggested-plugins set from the wizard covers almost everything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this to module 4's rule about secrets in repositories: the Jenkinsfile is in Git, so the credential ID is the only thing that may appear in it. Demonstrate the masked output once — learners trust it more when they see the asterisks.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a freestyle job live end to end — it takes four minutes and gives learners a complete mental model before the abstraction of pipelines. Always finish by opening the console output; reading build logs is the core troubleshooting skill in this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dismiss freestyle entirely — plenty of production Jenkins instances run them, and learners will inherit some. Frame the move to pipelines as the same shift as infrastructure as code: the definition belongs in version control with the thing it builds.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Emphasise "Pipeline script from SCM" over pasting a script into the job — pasting recreates the freestyle problem of unversioned configuration. Mention the Snippet Generator now; learners will need it in session 2 to discover syntax.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hinge between sessions. Ask learners which column describes their organisation today — many will say freestyle, which makes the migration discussion in session 2 immediately relevant.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The usual blockers are missing credentials for a private repository and a Maven tool name that does not match. Ask one learner to project their console output and walk the group through locating the failure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Recap session 1 in a line: Jenkins can build your project. This session makes the build definition maintainable and the execution scalable.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stage view of a running pipeline while you explain these terms — the visual mapping from Jenkinsfile text to coloured boxes makes the vocabulary stick in one pass.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this file top to bottom — it contains almost every directive learners will need. Point out the post block on the Test stage as well as at pipeline level: post can appear at both scopes, which is a common point of confusion.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Snippet Generator is the single most useful thing to show here — it turns a plugin's options into working syntax and saves learners from guessing. Demonstrate it once with the git step and once with withCredentials.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scripted brief — learners need to recognise and read it, since plenty of existing pipelines are scripted, but they should write declarative. The closing rule is the practical guidance to repeat.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restart-from-stage row is a practical advantage learners appreciate: re-running only the failed deploy stage rather than the whole twenty-minute build. Demonstrate it if your Jenkins version supports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Multibranch plus webhooks is how most modern Jenkins installations are actually configured, so it is worth ten minutes even though it is not named in the syllabus. Note that webhooks require Jenkins to be reachable from the SCM — which is why on-premises instances often fall back to polling.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guidance to state plainly: set the controller's executor count to zero in any real installation, so it only coordinates. The security argument is the one senior engineers care about — build scripts are arbitrary code, and running them on the controller means running them next to every credential Jenkins holds.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direction of the connection is the thing learners must get right: SSH is controller-initiated, inbound is agent-initiated. Firewall rules follow from that, and choosing the wrong one produces an agent that never comes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node live if you have a second machine or container available; if not, walk the configuration screen and show the agent log. Labels are the piece that ties this slide back to pipelines — make sure everyone sees the label expression in the Jenkinsfile.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a pre-built agent container ready in case learners cannot spin one up. The most common failure is a missing Java runtime on the agent; the node log states this plainly, so use it as another exercise in reading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The pipeline now builds and tests. This session makes it deploy, react to events, tell people what happened, and keep running for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port clash is the most common lab-blocking problem — decide the port assignment before learners start and put it on the board. Note that Tomcat 10 moved to the jakarta namespace, so a WAR built for Tomcat 9 may not deploy; this links straight back to the Maven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deployment succeed and then open the application in a browser — the moment a pipeline puts working software in front of the group is the moment the whole course clicks. Mention that plugin step names are version-specific, which is exactly what the Snippet Generator is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deliverable of the whole module — a pipeline that takes a commit to a running application. Walk it stage by stage and ask the group which module taught each piece: Git for checkout, Maven for build, this module for the 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 convention is Jenkins-specific and genuinely useful — it is also a favourite interview question. Explain that polling is a fallback for when webhooks cannot reach Jenkins, not a first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notification-fatigue point is the one that matters in practice: teams that email on every build quickly filter the mails and then miss a real failure. Use an app password or a dedicated SMTP account for the demo — never a personal password.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Jenkins instances have a habit of becoming critical infrastructure that nobody owns. The closing question is worth asking the room directly — the silence is usually instructive. Mention JCasC as the modern answer even if you do not demonstrate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footer is the summary of the module. Ask which right-hand items exist in their organisation — flaky tests and snowflake controllers get the most rueful nods. Both are cultural problems with technical symptoms.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Print this as a handout. The ordering in the footer is the habit to instil — learners tend to search the error message online before reading the rest of the log, where the real cause usually sits a few lines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lab is the payoff — protect the time for it. If SMTP is unavailable in your environment, substitute an echo step or a chat webhook so learners still practise the post block. End the session by having one pair demonstrate their commit-to-running-app cycle for the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Self-assessment. The line most often flagged is the fourth — agents. Reassure learners that understanding the model matters more than having configured one, and that the pattern repeats in every CI tool they will meet.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one-step challenge and ask two or three learners to name the step they will automate. Collect unanswered questions and open the next module with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C26"/>
        </a:solidFill>
      </p:bgPr>
    </p:bg>
    <p:spTree>
      <p:nvGrpSpPr>
        <p:cNvPr id="1" name=""/>
        <p:cNvGrpSpPr/>
        <p:nvPr/>
      </p:nvGrpSpPr>
      <p:grpSpPr>
        <a:xfrm>
          <a:off x="0" y="0"/>
          <a:ext cx="0" cy="0"/>
          <a:chOff x="0" y="0"/>
          <a:chExt cx="0" cy="0"/>
        </a:xfrm>
      </p:grpSpPr>
      <p:sp>
        <p:nvSpPr>
          <p:cNvPr id="2" name="Shape 0"/>
          <p:cNvSpPr/>
          <p:nvPr/>
        </p:nvSpPr>
        <p:spPr>
          <a:xfrm>
            <a:off x="8412480" y="-1554480"/>
            <a:ext cx="6035040" cy="6035040"/>
          </a:xfrm>
          <a:prstGeom prst="ellipse">
            <a:avLst/>
          </a:prstGeom>
          <a:solidFill>
            <a:srgbClr val="2C3E50"/>
          </a:solidFill>
          <a:ln w="12700">
            <a:solidFill>
              <a:srgbClr val="2C3E50"/>
            </a:solidFill>
            <a:prstDash val="solid"/>
          </a:ln>
        </p:spPr>
      </p:sp>
      <p:sp>
        <p:nvSpPr>
          <p:cNvPr id="3" name="Shape 1"/>
          <p:cNvSpPr/>
          <p:nvPr/>
        </p:nvSpPr>
        <p:spPr>
          <a:xfrm>
            <a:off x="9875520" y="3474720"/>
            <a:ext cx="4206240" cy="4206240"/>
          </a:xfrm>
          <a:prstGeom prst="ellipse">
            <a:avLst/>
          </a:prstGeom>
          <a:solidFill>
            <a:srgbClr val="1F5673"/>
          </a:solidFill>
          <a:ln w="12700">
            <a:solidFill>
              <a:srgbClr val="1F5673"/>
            </a:solidFill>
            <a:prstDash val="solid"/>
          </a:ln>
        </p:spPr>
      </p:sp>
      <p:sp>
        <p:nvSpPr>
          <p:cNvPr id="4" name="Text 2"/>
          <p:cNvSpPr txBox="1"/>
          <p:nvPr/>
        </p:nvSpPr>
        <p:spPr>
          <a:xfrm>
            <a:off x="640080" y="1783080"/>
            <a:ext cx="7680960" cy="274320"/>
          </a:xfrm>
          <a:prstGeom prst="rect">
            <a:avLst/>
          </a:prstGeom>
          <a:noFill/>
          <a:ln/>
        </p:spPr>
        <p:txBody>
          <a:bodyPr wrap="square" lIns="0" tIns="0" rIns="0" bIns="0" rtlCol="0" anchor="ctr"/>
          <a:lstStyle/>
          <a:p>
            <a:pPr indent="0" marL="0">
              <a:buNone/>
            </a:pPr>
            <a:r>
              <a:rPr lang="en-US" sz="1250" b="1" spc="350" kern="0" dirty="0">
                <a:solidFill>
                  <a:srgbClr val="6FB3D2"/>
                </a:solidFill>
                <a:latin typeface="Calibri" pitchFamily="34" charset="0"/>
                <a:ea typeface="Calibri" pitchFamily="34" charset="-122"/>
                <a:cs typeface="Calibri" pitchFamily="34" charset="-120"/>
              </a:rPr>
              <a:t>MODULE 06</a:t>
            </a:r>
            <a:endParaRPr lang="en-US" sz="1250" dirty="0"/>
          </a:p>
        </p:txBody>
      </p:sp>
      <p:sp>
        <p:nvSpPr>
          <p:cNvPr id="5" name="Text 3"/>
          <p:cNvSpPr txBox="1"/>
          <p:nvPr/>
        </p:nvSpPr>
        <p:spPr>
          <a:xfrm>
            <a:off x="640080" y="2148840"/>
            <a:ext cx="7863840" cy="1554480"/>
          </a:xfrm>
          <a:prstGeom prst="rect">
            <a:avLst/>
          </a:prstGeom>
          <a:noFill/>
          <a:ln/>
        </p:spPr>
        <p:txBody>
          <a:bodyPr wrap="square" lIns="0" tIns="0" rIns="0" bIns="0" rtlCol="0" anchor="ctr"/>
          <a:lstStyle/>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Continuous Integration</a:t>
            </a:r>
            <a:endParaRPr lang="en-US" sz="4200" dirty="0"/>
          </a:p>
          <a:p>
            <a:pPr indent="0" marL="0">
              <a:lnSpc>
                <a:spcPct val="100000"/>
              </a:lnSpc>
              <a:buNone/>
            </a:pPr>
            <a:r>
              <a:rPr lang="en-US" sz="4200" b="1" dirty="0">
                <a:solidFill>
                  <a:srgbClr val="FFFFFF"/>
                </a:solidFill>
                <a:latin typeface="Cambria" pitchFamily="34" charset="0"/>
                <a:ea typeface="Cambria" pitchFamily="34" charset="-122"/>
                <a:cs typeface="Cambria" pitchFamily="34" charset="-120"/>
              </a:rPr>
              <a:t>Using Jenkins</a:t>
            </a:r>
            <a:endParaRPr lang="en-US" sz="4200" dirty="0"/>
          </a:p>
        </p:txBody>
      </p:sp>
      <p:sp>
        <p:nvSpPr>
          <p:cNvPr id="6" name="Text 4"/>
          <p:cNvSpPr txBox="1"/>
          <p:nvPr/>
        </p:nvSpPr>
        <p:spPr>
          <a:xfrm>
            <a:off x="640080" y="3794760"/>
            <a:ext cx="7315200" cy="822960"/>
          </a:xfrm>
          <a:prstGeom prst="rect">
            <a:avLst/>
          </a:prstGeom>
          <a:noFill/>
          <a:ln/>
        </p:spPr>
        <p:txBody>
          <a:bodyPr wrap="square" lIns="0" tIns="0" rIns="0" bIns="0" rtlCol="0" anchor="ctr"/>
          <a:lstStyle/>
          <a:p>
            <a:pPr indent="0" marL="0">
              <a:lnSpc>
                <a:spcPct val="110000"/>
              </a:lnSpc>
              <a:buNone/>
            </a:pPr>
            <a:r>
              <a:rPr lang="en-US" sz="1550" dirty="0">
                <a:solidFill>
                  <a:srgbClr val="AAB4C0"/>
                </a:solidFill>
                <a:latin typeface="Calibri" pitchFamily="34" charset="0"/>
                <a:ea typeface="Calibri" pitchFamily="34" charset="-122"/>
                <a:cs typeface="Calibri" pitchFamily="34" charset="-120"/>
              </a:rPr>
              <a:t>Every commit built, tested and deployed automatically — from a first freestyle job to a distributed pipeline that ships to a running server.</a:t>
            </a:r>
            <a:endParaRPr lang="en-US" sz="1550" dirty="0"/>
          </a:p>
        </p:txBody>
      </p:sp>
      <p:sp>
        <p:nvSpPr>
          <p:cNvPr id="7" name="Shape 5"/>
          <p:cNvSpPr/>
          <p:nvPr/>
        </p:nvSpPr>
        <p:spPr>
          <a:xfrm>
            <a:off x="640080" y="4754880"/>
            <a:ext cx="2011680" cy="0"/>
          </a:xfrm>
          <a:prstGeom prst="line">
            <a:avLst/>
          </a:prstGeom>
          <a:noFill/>
          <a:ln w="38100">
            <a:solidFill>
              <a:srgbClr val="6FB3D2"/>
            </a:solidFill>
            <a:prstDash val="solid"/>
          </a:ln>
        </p:spPr>
      </p:sp>
      <p:sp>
        <p:nvSpPr>
          <p:cNvPr id="8" name="Text 6"/>
          <p:cNvSpPr txBox="1"/>
          <p:nvPr/>
        </p:nvSpPr>
        <p:spPr>
          <a:xfrm>
            <a:off x="640080" y="4983480"/>
            <a:ext cx="7315200" cy="1005840"/>
          </a:xfrm>
          <a:prstGeom prst="rect">
            <a:avLst/>
          </a:prstGeom>
          <a:noFill/>
          <a:ln/>
        </p:spPr>
        <p:txBody>
          <a:bodyPr wrap="square" lIns="0" tIns="0" rIns="0" bIns="0" rtlCol="0" anchor="ctr"/>
          <a:lstStyle/>
          <a:p>
            <a:pPr indent="0" marL="0">
              <a:lnSpc>
                <a:spcPct val="115000"/>
              </a:lnSpc>
              <a:buNone/>
            </a:pPr>
            <a:r>
              <a:rPr lang="en-US" sz="1300" dirty="0">
                <a:solidFill>
                  <a:srgbClr val="8B95A3"/>
                </a:solidFill>
                <a:latin typeface="Calibri" pitchFamily="34" charset="0"/>
                <a:ea typeface="Calibri" pitchFamily="34" charset="-122"/>
                <a:cs typeface="Calibri" pitchFamily="34" charset="-120"/>
              </a:rPr>
              <a:t>Total duration: 6 hours across 3 sessions</a:t>
            </a:r>
            <a:endParaRPr lang="en-US" sz="1300" dirty="0"/>
          </a:p>
          <a:p>
            <a:pPr indent="0" marL="0">
              <a:lnSpc>
                <a:spcPct val="115000"/>
              </a:lnSpc>
              <a:buNone/>
            </a:pPr>
            <a:r>
              <a:rPr lang="en-US" sz="1300" dirty="0">
                <a:solidFill>
                  <a:srgbClr val="8B95A3"/>
                </a:solidFill>
                <a:latin typeface="Calibri" pitchFamily="34" charset="0"/>
                <a:ea typeface="Calibri" pitchFamily="34" charset="-122"/>
                <a:cs typeface="Calibri" pitchFamily="34" charset="-120"/>
              </a:rPr>
              <a:t>Builds on: Git (module 4) and Maven (module 5)</a:t>
            </a:r>
            <a:endParaRPr lang="en-US" sz="1300" dirty="0"/>
          </a:p>
          <a:p>
            <a:pPr indent="0" marL="0">
              <a:lnSpc>
                <a:spcPct val="115000"/>
              </a:lnSpc>
              <a:buNone/>
            </a:pPr>
            <a:r>
              <a:rPr lang="en-US" sz="1300" dirty="0">
                <a:solidFill>
                  <a:srgbClr val="8B95A3"/>
                </a:solidFill>
                <a:latin typeface="Calibri" pitchFamily="34" charset="0"/>
                <a:ea typeface="Calibri" pitchFamily="34" charset="-122"/>
                <a:cs typeface="Calibri" pitchFamily="34" charset="-120"/>
              </a:rPr>
              <a:t>Format: Concepts, live Jenkins demonstrations, and hands-on labs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MODULE MAP</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Six hours, three sessions</a:t>
            </a:r>
            <a:endParaRPr lang="en-US" sz="3100" dirty="0"/>
          </a:p>
        </p:txBody>
      </p:sp>
      <p:sp>
        <p:nvSpPr>
          <p:cNvPr id="4" name="Shape 2"/>
          <p:cNvSpPr/>
          <p:nvPr/>
        </p:nvSpPr>
        <p:spPr>
          <a:xfrm>
            <a:off x="640080" y="1572768"/>
            <a:ext cx="3419856" cy="3977640"/>
          </a:xfrm>
          <a:prstGeom prst="roundRect">
            <a:avLst>
              <a:gd name="adj" fmla="val 1604"/>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572768"/>
            <a:ext cx="3419856" cy="841248"/>
          </a:xfrm>
          <a:prstGeom prst="roundRect">
            <a:avLst>
              <a:gd name="adj" fmla="val 6522"/>
            </a:avLst>
          </a:prstGeom>
          <a:solidFill>
            <a:srgbClr val="1F5673"/>
          </a:solidFill>
          <a:ln w="12700">
            <a:solidFill>
              <a:srgbClr val="1F5673"/>
            </a:solidFill>
            <a:prstDash val="solid"/>
          </a:ln>
        </p:spPr>
      </p:sp>
      <p:sp>
        <p:nvSpPr>
          <p:cNvPr id="6" name="Text 4"/>
          <p:cNvSpPr txBox="1"/>
          <p:nvPr/>
        </p:nvSpPr>
        <p:spPr>
          <a:xfrm>
            <a:off x="896112" y="1572768"/>
            <a:ext cx="2322576" cy="8412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Session 1</a:t>
            </a:r>
            <a:endParaRPr lang="en-US" sz="2100" dirty="0"/>
          </a:p>
        </p:txBody>
      </p:sp>
      <p:sp>
        <p:nvSpPr>
          <p:cNvPr id="7" name="Text 5"/>
          <p:cNvSpPr txBox="1"/>
          <p:nvPr/>
        </p:nvSpPr>
        <p:spPr>
          <a:xfrm>
            <a:off x="3099816" y="1572768"/>
            <a:ext cx="731520" cy="841248"/>
          </a:xfrm>
          <a:prstGeom prst="rect">
            <a:avLst/>
          </a:prstGeom>
          <a:noFill/>
          <a:ln/>
        </p:spPr>
        <p:txBody>
          <a:bodyPr wrap="square" lIns="0" tIns="0" rIns="0" bIns="0" rtlCol="0" anchor="ctr"/>
          <a:lstStyle/>
          <a:p>
            <a:pPr algn="r" indent="0" marL="0">
              <a:buNone/>
            </a:pPr>
            <a:r>
              <a:rPr lang="en-US" sz="1300" b="1" dirty="0">
                <a:solidFill>
                  <a:srgbClr val="6FB3D2"/>
                </a:solidFill>
                <a:latin typeface="Calibri" pitchFamily="34" charset="0"/>
                <a:ea typeface="Calibri" pitchFamily="34" charset="-122"/>
                <a:cs typeface="Calibri" pitchFamily="34" charset="-120"/>
              </a:rPr>
              <a:t>2 hrs</a:t>
            </a:r>
            <a:endParaRPr lang="en-US" sz="1300" dirty="0"/>
          </a:p>
        </p:txBody>
      </p:sp>
      <p:sp>
        <p:nvSpPr>
          <p:cNvPr id="8" name="Text 6"/>
          <p:cNvSpPr txBox="1"/>
          <p:nvPr/>
        </p:nvSpPr>
        <p:spPr>
          <a:xfrm>
            <a:off x="896112" y="2606040"/>
            <a:ext cx="2907792" cy="777240"/>
          </a:xfrm>
          <a:prstGeom prst="rect">
            <a:avLst/>
          </a:prstGeom>
          <a:noFill/>
          <a:ln/>
        </p:spPr>
        <p:txBody>
          <a:bodyPr wrap="square" lIns="0" tIns="0" rIns="0" bIns="0" rtlCol="0" anchor="ctr"/>
          <a:lstStyle/>
          <a:p>
            <a:pPr indent="0" marL="0">
              <a:lnSpc>
                <a:spcPct val="105000"/>
              </a:lnSpc>
              <a:buNone/>
            </a:pPr>
            <a:r>
              <a:rPr lang="en-US" sz="1400" b="1" dirty="0">
                <a:solidFill>
                  <a:srgbClr val="141C26"/>
                </a:solidFill>
                <a:latin typeface="Calibri" pitchFamily="34" charset="0"/>
                <a:ea typeface="Calibri" pitchFamily="34" charset="-122"/>
                <a:cs typeface="Calibri" pitchFamily="34" charset="-120"/>
              </a:rPr>
              <a:t>CI concepts, Jenkins setup, plugins, and your first jobs</a:t>
            </a:r>
            <a:endParaRPr lang="en-US" sz="1400" dirty="0"/>
          </a:p>
        </p:txBody>
      </p:sp>
      <p:sp>
        <p:nvSpPr>
          <p:cNvPr id="9" name="Text 7"/>
          <p:cNvSpPr txBox="1"/>
          <p:nvPr/>
        </p:nvSpPr>
        <p:spPr>
          <a:xfrm>
            <a:off x="896112" y="3429000"/>
            <a:ext cx="2907792" cy="192024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Continuous vs traditional integration</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Installation, configuration, plugins, credentials</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Freestyle jobs and an introduction to pipelines</a:t>
            </a:r>
            <a:endParaRPr lang="en-US" sz="1250" dirty="0"/>
          </a:p>
        </p:txBody>
      </p:sp>
      <p:sp>
        <p:nvSpPr>
          <p:cNvPr id="10" name="Shape 8"/>
          <p:cNvSpPr/>
          <p:nvPr/>
        </p:nvSpPr>
        <p:spPr>
          <a:xfrm>
            <a:off x="4384548" y="1572768"/>
            <a:ext cx="3419856" cy="3977640"/>
          </a:xfrm>
          <a:prstGeom prst="roundRect">
            <a:avLst>
              <a:gd name="adj" fmla="val 1604"/>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384548" y="1572768"/>
            <a:ext cx="3419856" cy="841248"/>
          </a:xfrm>
          <a:prstGeom prst="roundRect">
            <a:avLst>
              <a:gd name="adj" fmla="val 6522"/>
            </a:avLst>
          </a:prstGeom>
          <a:solidFill>
            <a:srgbClr val="2C3E50"/>
          </a:solidFill>
          <a:ln w="12700">
            <a:solidFill>
              <a:srgbClr val="2C3E50"/>
            </a:solidFill>
            <a:prstDash val="solid"/>
          </a:ln>
        </p:spPr>
      </p:sp>
      <p:sp>
        <p:nvSpPr>
          <p:cNvPr id="12" name="Text 10"/>
          <p:cNvSpPr txBox="1"/>
          <p:nvPr/>
        </p:nvSpPr>
        <p:spPr>
          <a:xfrm>
            <a:off x="4640580" y="1572768"/>
            <a:ext cx="2322576" cy="8412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Session 2</a:t>
            </a:r>
            <a:endParaRPr lang="en-US" sz="2100" dirty="0"/>
          </a:p>
        </p:txBody>
      </p:sp>
      <p:sp>
        <p:nvSpPr>
          <p:cNvPr id="13" name="Text 11"/>
          <p:cNvSpPr txBox="1"/>
          <p:nvPr/>
        </p:nvSpPr>
        <p:spPr>
          <a:xfrm>
            <a:off x="6844284" y="1572768"/>
            <a:ext cx="731520" cy="841248"/>
          </a:xfrm>
          <a:prstGeom prst="rect">
            <a:avLst/>
          </a:prstGeom>
          <a:noFill/>
          <a:ln/>
        </p:spPr>
        <p:txBody>
          <a:bodyPr wrap="square" lIns="0" tIns="0" rIns="0" bIns="0" rtlCol="0" anchor="ctr"/>
          <a:lstStyle/>
          <a:p>
            <a:pPr algn="r" indent="0" marL="0">
              <a:buNone/>
            </a:pPr>
            <a:r>
              <a:rPr lang="en-US" sz="1300" b="1" dirty="0">
                <a:solidFill>
                  <a:srgbClr val="6FB3D2"/>
                </a:solidFill>
                <a:latin typeface="Calibri" pitchFamily="34" charset="0"/>
                <a:ea typeface="Calibri" pitchFamily="34" charset="-122"/>
                <a:cs typeface="Calibri" pitchFamily="34" charset="-120"/>
              </a:rPr>
              <a:t>2 hrs</a:t>
            </a:r>
            <a:endParaRPr lang="en-US" sz="1300" dirty="0"/>
          </a:p>
        </p:txBody>
      </p:sp>
      <p:sp>
        <p:nvSpPr>
          <p:cNvPr id="14" name="Text 12"/>
          <p:cNvSpPr txBox="1"/>
          <p:nvPr/>
        </p:nvSpPr>
        <p:spPr>
          <a:xfrm>
            <a:off x="4640580" y="2606040"/>
            <a:ext cx="2907792" cy="777240"/>
          </a:xfrm>
          <a:prstGeom prst="rect">
            <a:avLst/>
          </a:prstGeom>
          <a:noFill/>
          <a:ln/>
        </p:spPr>
        <p:txBody>
          <a:bodyPr wrap="square" lIns="0" tIns="0" rIns="0" bIns="0" rtlCol="0" anchor="ctr"/>
          <a:lstStyle/>
          <a:p>
            <a:pPr indent="0" marL="0">
              <a:lnSpc>
                <a:spcPct val="105000"/>
              </a:lnSpc>
              <a:buNone/>
            </a:pPr>
            <a:r>
              <a:rPr lang="en-US" sz="1400" b="1" dirty="0">
                <a:solidFill>
                  <a:srgbClr val="141C26"/>
                </a:solidFill>
                <a:latin typeface="Calibri" pitchFamily="34" charset="0"/>
                <a:ea typeface="Calibri" pitchFamily="34" charset="-122"/>
                <a:cs typeface="Calibri" pitchFamily="34" charset="-120"/>
              </a:rPr>
              <a:t>Pipelines as code and distributed builds</a:t>
            </a:r>
            <a:endParaRPr lang="en-US" sz="1400" dirty="0"/>
          </a:p>
        </p:txBody>
      </p:sp>
      <p:sp>
        <p:nvSpPr>
          <p:cNvPr id="15" name="Text 13"/>
          <p:cNvSpPr txBox="1"/>
          <p:nvPr/>
        </p:nvSpPr>
        <p:spPr>
          <a:xfrm>
            <a:off x="4640580" y="3429000"/>
            <a:ext cx="2907792" cy="192024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Declarative and scripted pipeline syntax</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Controller and agent architecture</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Configuring and targeting agent nodes</a:t>
            </a:r>
            <a:endParaRPr lang="en-US" sz="1250" dirty="0"/>
          </a:p>
        </p:txBody>
      </p:sp>
      <p:sp>
        <p:nvSpPr>
          <p:cNvPr id="16" name="Shape 14"/>
          <p:cNvSpPr/>
          <p:nvPr/>
        </p:nvSpPr>
        <p:spPr>
          <a:xfrm>
            <a:off x="8129016" y="1572768"/>
            <a:ext cx="3419856" cy="3977640"/>
          </a:xfrm>
          <a:prstGeom prst="roundRect">
            <a:avLst>
              <a:gd name="adj" fmla="val 1604"/>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8129016" y="1572768"/>
            <a:ext cx="3419856" cy="841248"/>
          </a:xfrm>
          <a:prstGeom prst="roundRect">
            <a:avLst>
              <a:gd name="adj" fmla="val 6522"/>
            </a:avLst>
          </a:prstGeom>
          <a:solidFill>
            <a:srgbClr val="141C26"/>
          </a:solidFill>
          <a:ln w="12700">
            <a:solidFill>
              <a:srgbClr val="141C26"/>
            </a:solidFill>
            <a:prstDash val="solid"/>
          </a:ln>
        </p:spPr>
      </p:sp>
      <p:sp>
        <p:nvSpPr>
          <p:cNvPr id="18" name="Text 16"/>
          <p:cNvSpPr txBox="1"/>
          <p:nvPr/>
        </p:nvSpPr>
        <p:spPr>
          <a:xfrm>
            <a:off x="8385048" y="1572768"/>
            <a:ext cx="2322576" cy="8412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Session 3</a:t>
            </a:r>
            <a:endParaRPr lang="en-US" sz="2100" dirty="0"/>
          </a:p>
        </p:txBody>
      </p:sp>
      <p:sp>
        <p:nvSpPr>
          <p:cNvPr id="19" name="Text 17"/>
          <p:cNvSpPr txBox="1"/>
          <p:nvPr/>
        </p:nvSpPr>
        <p:spPr>
          <a:xfrm>
            <a:off x="10588752" y="1572768"/>
            <a:ext cx="731520" cy="841248"/>
          </a:xfrm>
          <a:prstGeom prst="rect">
            <a:avLst/>
          </a:prstGeom>
          <a:noFill/>
          <a:ln/>
        </p:spPr>
        <p:txBody>
          <a:bodyPr wrap="square" lIns="0" tIns="0" rIns="0" bIns="0" rtlCol="0" anchor="ctr"/>
          <a:lstStyle/>
          <a:p>
            <a:pPr algn="r" indent="0" marL="0">
              <a:buNone/>
            </a:pPr>
            <a:r>
              <a:rPr lang="en-US" sz="1300" b="1" dirty="0">
                <a:solidFill>
                  <a:srgbClr val="6FB3D2"/>
                </a:solidFill>
                <a:latin typeface="Calibri" pitchFamily="34" charset="0"/>
                <a:ea typeface="Calibri" pitchFamily="34" charset="-122"/>
                <a:cs typeface="Calibri" pitchFamily="34" charset="-120"/>
              </a:rPr>
              <a:t>2 hrs</a:t>
            </a:r>
            <a:endParaRPr lang="en-US" sz="1300" dirty="0"/>
          </a:p>
        </p:txBody>
      </p:sp>
      <p:sp>
        <p:nvSpPr>
          <p:cNvPr id="20" name="Text 18"/>
          <p:cNvSpPr txBox="1"/>
          <p:nvPr/>
        </p:nvSpPr>
        <p:spPr>
          <a:xfrm>
            <a:off x="8385048" y="2606040"/>
            <a:ext cx="2907792" cy="777240"/>
          </a:xfrm>
          <a:prstGeom prst="rect">
            <a:avLst/>
          </a:prstGeom>
          <a:noFill/>
          <a:ln/>
        </p:spPr>
        <p:txBody>
          <a:bodyPr wrap="square" lIns="0" tIns="0" rIns="0" bIns="0" rtlCol="0" anchor="ctr"/>
          <a:lstStyle/>
          <a:p>
            <a:pPr indent="0" marL="0">
              <a:lnSpc>
                <a:spcPct val="105000"/>
              </a:lnSpc>
              <a:buNone/>
            </a:pPr>
            <a:r>
              <a:rPr lang="en-US" sz="1400" b="1" dirty="0">
                <a:solidFill>
                  <a:srgbClr val="141C26"/>
                </a:solidFill>
                <a:latin typeface="Calibri" pitchFamily="34" charset="0"/>
                <a:ea typeface="Calibri" pitchFamily="34" charset="-122"/>
                <a:cs typeface="Calibri" pitchFamily="34" charset="-120"/>
              </a:rPr>
              <a:t>Deployment, triggers, notifications and administration</a:t>
            </a:r>
            <a:endParaRPr lang="en-US" sz="1400" dirty="0"/>
          </a:p>
        </p:txBody>
      </p:sp>
      <p:sp>
        <p:nvSpPr>
          <p:cNvPr id="21" name="Text 19"/>
          <p:cNvSpPr txBox="1"/>
          <p:nvPr/>
        </p:nvSpPr>
        <p:spPr>
          <a:xfrm>
            <a:off x="8385048" y="3429000"/>
            <a:ext cx="2907792" cy="1920240"/>
          </a:xfrm>
          <a:prstGeom prst="rect">
            <a:avLst/>
          </a:prstGeom>
          <a:noFill/>
          <a:ln/>
        </p:spPr>
        <p:txBody>
          <a:bodyPr wrap="square" lIns="0" tIns="0" rIns="0" bIns="0" rtlCol="0" anchor="t"/>
          <a:lstStyle/>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Tomcat setup and automated deployment</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Build triggers and email notifications</a:t>
            </a:r>
            <a:endParaRPr lang="en-US" sz="1250" dirty="0"/>
          </a:p>
          <a:p>
            <a:pPr marL="203200" indent="-203200">
              <a:spcAft>
                <a:spcPts val="900"/>
              </a:spcAft>
              <a:buSzPct val="100000"/>
              <a:buChar char="•"/>
            </a:pPr>
            <a:r>
              <a:rPr lang="en-US" sz="1250" dirty="0">
                <a:solidFill>
                  <a:srgbClr val="28313B"/>
                </a:solidFill>
                <a:latin typeface="Calibri" pitchFamily="34" charset="0"/>
                <a:ea typeface="Calibri" pitchFamily="34" charset="-122"/>
                <a:cs typeface="Calibri" pitchFamily="34" charset="-120"/>
              </a:rPr>
              <a:t>Security, backup and Jenkins management</a:t>
            </a:r>
            <a:endParaRPr lang="en-US" sz="1250" dirty="0"/>
          </a:p>
        </p:txBody>
      </p:sp>
      <p:sp>
        <p:nvSpPr>
          <p:cNvPr id="22" name="Text 20"/>
          <p:cNvSpPr txBox="1"/>
          <p:nvPr/>
        </p:nvSpPr>
        <p:spPr>
          <a:xfrm>
            <a:off x="640080" y="5715000"/>
            <a:ext cx="10908792" cy="365760"/>
          </a:xfrm>
          <a:prstGeom prst="rect">
            <a:avLst/>
          </a:prstGeom>
          <a:noFill/>
          <a:ln/>
        </p:spPr>
        <p:txBody>
          <a:bodyPr wrap="square" lIns="0" tIns="0" rIns="0" bIns="0" rtlCol="0" anchor="ctr"/>
          <a:lstStyle/>
          <a:p>
            <a:pPr indent="0" marL="0">
              <a:buNone/>
            </a:pPr>
            <a:r>
              <a:rPr lang="en-US" sz="1400" i="1" dirty="0">
                <a:solidFill>
                  <a:srgbClr val="1F5673"/>
                </a:solidFill>
                <a:latin typeface="Calibri" pitchFamily="34" charset="0"/>
                <a:ea typeface="Calibri" pitchFamily="34" charset="-122"/>
                <a:cs typeface="Calibri" pitchFamily="34" charset="-120"/>
              </a:rPr>
              <a:t>One pipeline is built up across all three labs: a job in lab 1, a Jenkinsfile in lab 2, a deployment in lab 3.</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C26"/>
        </a:solidFill>
      </p:bgPr>
    </p:bg>
    <p:spTree>
      <p:nvGrpSpPr>
        <p:cNvPr id="1" name=""/>
        <p:cNvGrpSpPr/>
        <p:nvPr/>
      </p:nvGrpSpPr>
      <p:grpSpPr>
        <a:xfrm>
          <a:off x="0" y="0"/>
          <a:ext cx="0" cy="0"/>
          <a:chOff x="0" y="0"/>
          <a:chExt cx="0" cy="0"/>
        </a:xfrm>
      </p:grpSpPr>
      <p:sp>
        <p:nvSpPr>
          <p:cNvPr id="2" name="Shape 0"/>
          <p:cNvSpPr/>
          <p:nvPr/>
        </p:nvSpPr>
        <p:spPr>
          <a:xfrm>
            <a:off x="8778240" y="-1737360"/>
            <a:ext cx="5852160" cy="5852160"/>
          </a:xfrm>
          <a:prstGeom prst="ellipse">
            <a:avLst/>
          </a:prstGeom>
          <a:solidFill>
            <a:srgbClr val="2C3E50"/>
          </a:solidFill>
          <a:ln w="12700">
            <a:solidFill>
              <a:srgbClr val="2C3E50"/>
            </a:solidFill>
            <a:prstDash val="solid"/>
          </a:ln>
        </p:spPr>
      </p:sp>
      <p:sp>
        <p:nvSpPr>
          <p:cNvPr id="3" name="Shape 1"/>
          <p:cNvSpPr/>
          <p:nvPr/>
        </p:nvSpPr>
        <p:spPr>
          <a:xfrm>
            <a:off x="10058400" y="3657600"/>
            <a:ext cx="3657600" cy="3657600"/>
          </a:xfrm>
          <a:prstGeom prst="ellipse">
            <a:avLst/>
          </a:prstGeom>
          <a:solidFill>
            <a:srgbClr val="1F5673"/>
          </a:solidFill>
          <a:ln w="12700">
            <a:solidFill>
              <a:srgbClr val="1F5673"/>
            </a:solidFill>
            <a:prstDash val="solid"/>
          </a:ln>
        </p:spPr>
      </p:sp>
      <p:sp>
        <p:nvSpPr>
          <p:cNvPr id="4" name="Text 2"/>
          <p:cNvSpPr txBox="1"/>
          <p:nvPr/>
        </p:nvSpPr>
        <p:spPr>
          <a:xfrm>
            <a:off x="640080" y="1691640"/>
            <a:ext cx="7680960" cy="274320"/>
          </a:xfrm>
          <a:prstGeom prst="rect">
            <a:avLst/>
          </a:prstGeom>
          <a:noFill/>
          <a:ln/>
        </p:spPr>
        <p:txBody>
          <a:bodyPr wrap="square" lIns="0" tIns="0" rIns="0" bIns="0" rtlCol="0" anchor="ctr"/>
          <a:lstStyle/>
          <a:p>
            <a:pPr indent="0" marL="0">
              <a:buNone/>
            </a:pPr>
            <a:r>
              <a:rPr lang="en-US" sz="1250" b="1" spc="300" kern="0" dirty="0">
                <a:solidFill>
                  <a:srgbClr val="6FB3D2"/>
                </a:solidFill>
                <a:latin typeface="Calibri" pitchFamily="34" charset="0"/>
                <a:ea typeface="Calibri" pitchFamily="34" charset="-122"/>
                <a:cs typeface="Calibri" pitchFamily="34" charset="-120"/>
              </a:rPr>
              <a:t>SESSION 01  ·  2 HOURS</a:t>
            </a:r>
            <a:endParaRPr lang="en-US" sz="1250" dirty="0"/>
          </a:p>
        </p:txBody>
      </p:sp>
      <p:sp>
        <p:nvSpPr>
          <p:cNvPr id="5" name="Text 3"/>
          <p:cNvSpPr txBox="1"/>
          <p:nvPr/>
        </p:nvSpPr>
        <p:spPr>
          <a:xfrm>
            <a:off x="640080" y="2057400"/>
            <a:ext cx="7863840" cy="137160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CI concepts, Jenkins</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setup and first jobs</a:t>
            </a:r>
            <a:endParaRPr lang="en-US" sz="4000" dirty="0"/>
          </a:p>
        </p:txBody>
      </p:sp>
      <p:sp>
        <p:nvSpPr>
          <p:cNvPr id="6" name="Text 4"/>
          <p:cNvSpPr txBox="1"/>
          <p:nvPr/>
        </p:nvSpPr>
        <p:spPr>
          <a:xfrm>
            <a:off x="640080" y="3429000"/>
            <a:ext cx="7132320" cy="457200"/>
          </a:xfrm>
          <a:prstGeom prst="rect">
            <a:avLst/>
          </a:prstGeom>
          <a:noFill/>
          <a:ln/>
        </p:spPr>
        <p:txBody>
          <a:bodyPr wrap="square" lIns="0" tIns="0" rIns="0" bIns="0" rtlCol="0" anchor="ctr"/>
          <a:lstStyle/>
          <a:p>
            <a:pPr indent="0" marL="0">
              <a:buNone/>
            </a:pPr>
            <a:r>
              <a:rPr lang="en-US" sz="1550" dirty="0">
                <a:solidFill>
                  <a:srgbClr val="AAB4C0"/>
                </a:solidFill>
                <a:latin typeface="Calibri" pitchFamily="34" charset="0"/>
                <a:ea typeface="Calibri" pitchFamily="34" charset="-122"/>
                <a:cs typeface="Calibri" pitchFamily="34" charset="-120"/>
              </a:rPr>
              <a:t>Why continuous integration changed how teams work, and how to get Jenkins running and building.</a:t>
            </a:r>
            <a:endParaRPr lang="en-US" sz="1550" dirty="0"/>
          </a:p>
        </p:txBody>
      </p:sp>
      <p:sp>
        <p:nvSpPr>
          <p:cNvPr id="7" name="Shape 5"/>
          <p:cNvSpPr/>
          <p:nvPr/>
        </p:nvSpPr>
        <p:spPr>
          <a:xfrm>
            <a:off x="640080" y="4114800"/>
            <a:ext cx="3419856" cy="1234440"/>
          </a:xfrm>
          <a:prstGeom prst="roundRect">
            <a:avLst>
              <a:gd name="adj" fmla="val 4444"/>
            </a:avLst>
          </a:prstGeom>
          <a:solidFill>
            <a:srgbClr val="2C3E50"/>
          </a:solidFill>
          <a:ln w="12700">
            <a:solidFill>
              <a:srgbClr val="3D5165"/>
            </a:solidFill>
            <a:prstDash val="solid"/>
          </a:ln>
        </p:spPr>
      </p:sp>
      <p:sp>
        <p:nvSpPr>
          <p:cNvPr id="8" name="Text 6"/>
          <p:cNvSpPr txBox="1"/>
          <p:nvPr/>
        </p:nvSpPr>
        <p:spPr>
          <a:xfrm>
            <a:off x="896112"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01</a:t>
            </a:r>
            <a:endParaRPr lang="en-US" sz="1150" dirty="0"/>
          </a:p>
        </p:txBody>
      </p:sp>
      <p:sp>
        <p:nvSpPr>
          <p:cNvPr id="9" name="Text 7"/>
          <p:cNvSpPr txBox="1"/>
          <p:nvPr/>
        </p:nvSpPr>
        <p:spPr>
          <a:xfrm>
            <a:off x="896112"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Continuous vs traditional integration</a:t>
            </a:r>
            <a:endParaRPr lang="en-US" sz="1350" dirty="0"/>
          </a:p>
        </p:txBody>
      </p:sp>
      <p:sp>
        <p:nvSpPr>
          <p:cNvPr id="10" name="Shape 8"/>
          <p:cNvSpPr/>
          <p:nvPr/>
        </p:nvSpPr>
        <p:spPr>
          <a:xfrm>
            <a:off x="4384548" y="4114800"/>
            <a:ext cx="3419856" cy="1234440"/>
          </a:xfrm>
          <a:prstGeom prst="roundRect">
            <a:avLst>
              <a:gd name="adj" fmla="val 4444"/>
            </a:avLst>
          </a:prstGeom>
          <a:solidFill>
            <a:srgbClr val="2C3E50"/>
          </a:solidFill>
          <a:ln w="12700">
            <a:solidFill>
              <a:srgbClr val="3D5165"/>
            </a:solidFill>
            <a:prstDash val="solid"/>
          </a:ln>
        </p:spPr>
      </p:sp>
      <p:sp>
        <p:nvSpPr>
          <p:cNvPr id="11" name="Text 9"/>
          <p:cNvSpPr txBox="1"/>
          <p:nvPr/>
        </p:nvSpPr>
        <p:spPr>
          <a:xfrm>
            <a:off x="4640580"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02</a:t>
            </a:r>
            <a:endParaRPr lang="en-US" sz="1150" dirty="0"/>
          </a:p>
        </p:txBody>
      </p:sp>
      <p:sp>
        <p:nvSpPr>
          <p:cNvPr id="12" name="Text 10"/>
          <p:cNvSpPr txBox="1"/>
          <p:nvPr/>
        </p:nvSpPr>
        <p:spPr>
          <a:xfrm>
            <a:off x="4640580"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Installation, configuration, plugins</a:t>
            </a:r>
            <a:endParaRPr lang="en-US" sz="1350" dirty="0"/>
          </a:p>
        </p:txBody>
      </p:sp>
      <p:sp>
        <p:nvSpPr>
          <p:cNvPr id="13" name="Shape 11"/>
          <p:cNvSpPr/>
          <p:nvPr/>
        </p:nvSpPr>
        <p:spPr>
          <a:xfrm>
            <a:off x="8129016" y="4114800"/>
            <a:ext cx="3419856" cy="1234440"/>
          </a:xfrm>
          <a:prstGeom prst="roundRect">
            <a:avLst>
              <a:gd name="adj" fmla="val 4444"/>
            </a:avLst>
          </a:prstGeom>
          <a:solidFill>
            <a:srgbClr val="2C3E50"/>
          </a:solidFill>
          <a:ln w="12700">
            <a:solidFill>
              <a:srgbClr val="3D5165"/>
            </a:solidFill>
            <a:prstDash val="solid"/>
          </a:ln>
        </p:spPr>
      </p:sp>
      <p:sp>
        <p:nvSpPr>
          <p:cNvPr id="14" name="Text 12"/>
          <p:cNvSpPr txBox="1"/>
          <p:nvPr/>
        </p:nvSpPr>
        <p:spPr>
          <a:xfrm>
            <a:off x="8385048"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03</a:t>
            </a:r>
            <a:endParaRPr lang="en-US" sz="1150" dirty="0"/>
          </a:p>
        </p:txBody>
      </p:sp>
      <p:sp>
        <p:nvSpPr>
          <p:cNvPr id="15" name="Text 13"/>
          <p:cNvSpPr txBox="1"/>
          <p:nvPr/>
        </p:nvSpPr>
        <p:spPr>
          <a:xfrm>
            <a:off x="8385048"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Freestyle and pipeline jobs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CONTEXT</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Integration before CI</a:t>
            </a:r>
            <a:endParaRPr lang="en-US" sz="3100" dirty="0"/>
          </a:p>
        </p:txBody>
      </p:sp>
      <p:sp>
        <p:nvSpPr>
          <p:cNvPr id="4" name="Text 2"/>
          <p:cNvSpPr txBox="1"/>
          <p:nvPr/>
        </p:nvSpPr>
        <p:spPr>
          <a:xfrm>
            <a:off x="640080" y="1426464"/>
            <a:ext cx="10908792" cy="384048"/>
          </a:xfrm>
          <a:prstGeom prst="rect">
            <a:avLst/>
          </a:prstGeom>
          <a:noFill/>
          <a:ln/>
        </p:spPr>
        <p:txBody>
          <a:bodyPr wrap="square" lIns="0" tIns="0" rIns="0" bIns="0" rtlCol="0" anchor="ctr"/>
          <a:lstStyle/>
          <a:p>
            <a:pPr indent="0" marL="0">
              <a:buNone/>
            </a:pPr>
            <a:r>
              <a:rPr lang="en-US" sz="1400" dirty="0">
                <a:solidFill>
                  <a:srgbClr val="28313B"/>
                </a:solidFill>
                <a:latin typeface="Calibri" pitchFamily="34" charset="0"/>
                <a:ea typeface="Calibri" pitchFamily="34" charset="-122"/>
                <a:cs typeface="Calibri" pitchFamily="34" charset="-120"/>
              </a:rPr>
              <a:t>In traditional integration, developers work in isolation for days or weeks, then combine everything shortly before a release. The longer the isolation, the worse the reunion.</a:t>
            </a:r>
            <a:endParaRPr lang="en-US" sz="1400" dirty="0"/>
          </a:p>
        </p:txBody>
      </p:sp>
      <p:sp>
        <p:nvSpPr>
          <p:cNvPr id="5" name="Shape 3"/>
          <p:cNvSpPr/>
          <p:nvPr/>
        </p:nvSpPr>
        <p:spPr>
          <a:xfrm>
            <a:off x="640080" y="19202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6" name="Shape 4"/>
          <p:cNvSpPr/>
          <p:nvPr/>
        </p:nvSpPr>
        <p:spPr>
          <a:xfrm>
            <a:off x="877824" y="2157984"/>
            <a:ext cx="420624" cy="420624"/>
          </a:xfrm>
          <a:prstGeom prst="ellipse">
            <a:avLst/>
          </a:prstGeom>
          <a:solidFill>
            <a:srgbClr val="A8392C"/>
          </a:solidFill>
          <a:ln w="12700">
            <a:solidFill>
              <a:srgbClr val="A8392C"/>
            </a:solidFill>
            <a:prstDash val="solid"/>
          </a:ln>
        </p:spPr>
      </p:sp>
      <p:sp>
        <p:nvSpPr>
          <p:cNvPr id="7" name="Text 5"/>
          <p:cNvSpPr txBox="1"/>
          <p:nvPr/>
        </p:nvSpPr>
        <p:spPr>
          <a:xfrm>
            <a:off x="877824" y="2157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8" name="Text 6"/>
          <p:cNvSpPr txBox="1"/>
          <p:nvPr/>
        </p:nvSpPr>
        <p:spPr>
          <a:xfrm>
            <a:off x="877824" y="27066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Integration hell</a:t>
            </a:r>
            <a:endParaRPr lang="en-US" sz="1450" dirty="0"/>
          </a:p>
        </p:txBody>
      </p:sp>
      <p:sp>
        <p:nvSpPr>
          <p:cNvPr id="9" name="Text 7"/>
          <p:cNvSpPr txBox="1"/>
          <p:nvPr/>
        </p:nvSpPr>
        <p:spPr>
          <a:xfrm>
            <a:off x="877824" y="30540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Weeks of divergent work merged at once. Conflicts multiply, and nobody remembers why a change was made.</a:t>
            </a:r>
            <a:endParaRPr lang="en-US" sz="1200" dirty="0"/>
          </a:p>
        </p:txBody>
      </p:sp>
      <p:sp>
        <p:nvSpPr>
          <p:cNvPr id="10" name="Shape 8"/>
          <p:cNvSpPr/>
          <p:nvPr/>
        </p:nvSpPr>
        <p:spPr>
          <a:xfrm>
            <a:off x="4384548" y="19202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622292" y="2157984"/>
            <a:ext cx="420624" cy="420624"/>
          </a:xfrm>
          <a:prstGeom prst="ellipse">
            <a:avLst/>
          </a:prstGeom>
          <a:solidFill>
            <a:srgbClr val="A8392C"/>
          </a:solidFill>
          <a:ln w="12700">
            <a:solidFill>
              <a:srgbClr val="A8392C"/>
            </a:solidFill>
            <a:prstDash val="solid"/>
          </a:ln>
        </p:spPr>
      </p:sp>
      <p:sp>
        <p:nvSpPr>
          <p:cNvPr id="12" name="Text 10"/>
          <p:cNvSpPr txBox="1"/>
          <p:nvPr/>
        </p:nvSpPr>
        <p:spPr>
          <a:xfrm>
            <a:off x="4622292" y="2157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3" name="Text 11"/>
          <p:cNvSpPr txBox="1"/>
          <p:nvPr/>
        </p:nvSpPr>
        <p:spPr>
          <a:xfrm>
            <a:off x="4622292" y="27066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Late discovery of defects</a:t>
            </a:r>
            <a:endParaRPr lang="en-US" sz="1450" dirty="0"/>
          </a:p>
        </p:txBody>
      </p:sp>
      <p:sp>
        <p:nvSpPr>
          <p:cNvPr id="14" name="Text 12"/>
          <p:cNvSpPr txBox="1"/>
          <p:nvPr/>
        </p:nvSpPr>
        <p:spPr>
          <a:xfrm>
            <a:off x="4622292" y="30540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A bug introduced on day 2 is found on day 40, when the context is gone and the cost of fixing it is highest.</a:t>
            </a:r>
            <a:endParaRPr lang="en-US" sz="1200" dirty="0"/>
          </a:p>
        </p:txBody>
      </p:sp>
      <p:sp>
        <p:nvSpPr>
          <p:cNvPr id="15" name="Shape 13"/>
          <p:cNvSpPr/>
          <p:nvPr/>
        </p:nvSpPr>
        <p:spPr>
          <a:xfrm>
            <a:off x="8129016" y="19202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6" name="Shape 14"/>
          <p:cNvSpPr/>
          <p:nvPr/>
        </p:nvSpPr>
        <p:spPr>
          <a:xfrm>
            <a:off x="8366760" y="2157984"/>
            <a:ext cx="420624" cy="420624"/>
          </a:xfrm>
          <a:prstGeom prst="ellipse">
            <a:avLst/>
          </a:prstGeom>
          <a:solidFill>
            <a:srgbClr val="A8392C"/>
          </a:solidFill>
          <a:ln w="12700">
            <a:solidFill>
              <a:srgbClr val="A8392C"/>
            </a:solidFill>
            <a:prstDash val="solid"/>
          </a:ln>
        </p:spPr>
      </p:sp>
      <p:sp>
        <p:nvSpPr>
          <p:cNvPr id="17" name="Text 15"/>
          <p:cNvSpPr txBox="1"/>
          <p:nvPr/>
        </p:nvSpPr>
        <p:spPr>
          <a:xfrm>
            <a:off x="8366760" y="21579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8" name="Text 16"/>
          <p:cNvSpPr txBox="1"/>
          <p:nvPr/>
        </p:nvSpPr>
        <p:spPr>
          <a:xfrm>
            <a:off x="8366760" y="27066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Manual, error-prone builds</a:t>
            </a:r>
            <a:endParaRPr lang="en-US" sz="1450" dirty="0"/>
          </a:p>
        </p:txBody>
      </p:sp>
      <p:sp>
        <p:nvSpPr>
          <p:cNvPr id="19" name="Text 17"/>
          <p:cNvSpPr txBox="1"/>
          <p:nvPr/>
        </p:nvSpPr>
        <p:spPr>
          <a:xfrm>
            <a:off x="8366760" y="30540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One person builds on their machine with steps that live in their head. If they are on leave, nobody can release.</a:t>
            </a:r>
            <a:endParaRPr lang="en-US" sz="1200" dirty="0"/>
          </a:p>
        </p:txBody>
      </p:sp>
      <p:sp>
        <p:nvSpPr>
          <p:cNvPr id="20" name="Shape 18"/>
          <p:cNvSpPr/>
          <p:nvPr/>
        </p:nvSpPr>
        <p:spPr>
          <a:xfrm>
            <a:off x="640080" y="39776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1" name="Shape 19"/>
          <p:cNvSpPr/>
          <p:nvPr/>
        </p:nvSpPr>
        <p:spPr>
          <a:xfrm>
            <a:off x="877824" y="4215384"/>
            <a:ext cx="420624" cy="420624"/>
          </a:xfrm>
          <a:prstGeom prst="ellipse">
            <a:avLst/>
          </a:prstGeom>
          <a:solidFill>
            <a:srgbClr val="A8392C"/>
          </a:solidFill>
          <a:ln w="12700">
            <a:solidFill>
              <a:srgbClr val="A8392C"/>
            </a:solidFill>
            <a:prstDash val="solid"/>
          </a:ln>
        </p:spPr>
      </p:sp>
      <p:sp>
        <p:nvSpPr>
          <p:cNvPr id="22" name="Text 20"/>
          <p:cNvSpPr txBox="1"/>
          <p:nvPr/>
        </p:nvSpPr>
        <p:spPr>
          <a:xfrm>
            <a:off x="877824"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3" name="Text 21"/>
          <p:cNvSpPr txBox="1"/>
          <p:nvPr/>
        </p:nvSpPr>
        <p:spPr>
          <a:xfrm>
            <a:off x="877824" y="47640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Big-bang releases</a:t>
            </a:r>
            <a:endParaRPr lang="en-US" sz="1450" dirty="0"/>
          </a:p>
        </p:txBody>
      </p:sp>
      <p:sp>
        <p:nvSpPr>
          <p:cNvPr id="24" name="Text 22"/>
          <p:cNvSpPr txBox="1"/>
          <p:nvPr/>
        </p:nvSpPr>
        <p:spPr>
          <a:xfrm>
            <a:off x="877824" y="51114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Hundreds of changes ship together, so when something breaks there are fifty equally plausible suspects.</a:t>
            </a:r>
            <a:endParaRPr lang="en-US" sz="1200" dirty="0"/>
          </a:p>
        </p:txBody>
      </p:sp>
      <p:sp>
        <p:nvSpPr>
          <p:cNvPr id="25" name="Shape 23"/>
          <p:cNvSpPr/>
          <p:nvPr/>
        </p:nvSpPr>
        <p:spPr>
          <a:xfrm>
            <a:off x="4384548" y="39776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6" name="Shape 24"/>
          <p:cNvSpPr/>
          <p:nvPr/>
        </p:nvSpPr>
        <p:spPr>
          <a:xfrm>
            <a:off x="4622292" y="4215384"/>
            <a:ext cx="420624" cy="420624"/>
          </a:xfrm>
          <a:prstGeom prst="ellipse">
            <a:avLst/>
          </a:prstGeom>
          <a:solidFill>
            <a:srgbClr val="A8392C"/>
          </a:solidFill>
          <a:ln w="12700">
            <a:solidFill>
              <a:srgbClr val="A8392C"/>
            </a:solidFill>
            <a:prstDash val="solid"/>
          </a:ln>
        </p:spPr>
      </p:sp>
      <p:sp>
        <p:nvSpPr>
          <p:cNvPr id="27" name="Text 25"/>
          <p:cNvSpPr txBox="1"/>
          <p:nvPr/>
        </p:nvSpPr>
        <p:spPr>
          <a:xfrm>
            <a:off x="4622292"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8" name="Text 26"/>
          <p:cNvSpPr txBox="1"/>
          <p:nvPr/>
        </p:nvSpPr>
        <p:spPr>
          <a:xfrm>
            <a:off x="4622292" y="47640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No single source of truth</a:t>
            </a:r>
            <a:endParaRPr lang="en-US" sz="1450" dirty="0"/>
          </a:p>
        </p:txBody>
      </p:sp>
      <p:sp>
        <p:nvSpPr>
          <p:cNvPr id="29" name="Text 27"/>
          <p:cNvSpPr txBox="1"/>
          <p:nvPr/>
        </p:nvSpPr>
        <p:spPr>
          <a:xfrm>
            <a:off x="4622292" y="51114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"It works on my machine" cannot be disproved, because there is no neutral environment that builds everything.</a:t>
            </a:r>
            <a:endParaRPr lang="en-US" sz="1200" dirty="0"/>
          </a:p>
        </p:txBody>
      </p:sp>
      <p:sp>
        <p:nvSpPr>
          <p:cNvPr id="30" name="Shape 28"/>
          <p:cNvSpPr/>
          <p:nvPr/>
        </p:nvSpPr>
        <p:spPr>
          <a:xfrm>
            <a:off x="8129016" y="3977640"/>
            <a:ext cx="3419856"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1" name="Shape 29"/>
          <p:cNvSpPr/>
          <p:nvPr/>
        </p:nvSpPr>
        <p:spPr>
          <a:xfrm>
            <a:off x="8366760" y="4215384"/>
            <a:ext cx="420624" cy="420624"/>
          </a:xfrm>
          <a:prstGeom prst="ellipse">
            <a:avLst/>
          </a:prstGeom>
          <a:solidFill>
            <a:srgbClr val="A8392C"/>
          </a:solidFill>
          <a:ln w="12700">
            <a:solidFill>
              <a:srgbClr val="A8392C"/>
            </a:solidFill>
            <a:prstDash val="solid"/>
          </a:ln>
        </p:spPr>
      </p:sp>
      <p:sp>
        <p:nvSpPr>
          <p:cNvPr id="32" name="Text 30"/>
          <p:cNvSpPr txBox="1"/>
          <p:nvPr/>
        </p:nvSpPr>
        <p:spPr>
          <a:xfrm>
            <a:off x="8366760" y="42153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3" name="Text 31"/>
          <p:cNvSpPr txBox="1"/>
          <p:nvPr/>
        </p:nvSpPr>
        <p:spPr>
          <a:xfrm>
            <a:off x="8366760" y="4764024"/>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Fear of change</a:t>
            </a:r>
            <a:endParaRPr lang="en-US" sz="1450" dirty="0"/>
          </a:p>
        </p:txBody>
      </p:sp>
      <p:sp>
        <p:nvSpPr>
          <p:cNvPr id="34" name="Text 32"/>
          <p:cNvSpPr txBox="1"/>
          <p:nvPr/>
        </p:nvSpPr>
        <p:spPr>
          <a:xfrm>
            <a:off x="8366760" y="5111496"/>
            <a:ext cx="2944368" cy="66751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Because integration hurts, teams integrate less often — which makes the next integration hurt more.</a:t>
            </a:r>
            <a:endParaRPr lang="en-US" sz="1200" dirty="0"/>
          </a:p>
        </p:txBody>
      </p:sp>
      <p:sp>
        <p:nvSpPr>
          <p:cNvPr id="35" name="Text 33"/>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The pattern is self-reinforcing: painful integration discourages integration, which makes it more painful still.</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COMPARISON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Continuous vs traditional integration</a:t>
            </a:r>
            <a:endParaRPr lang="en-US" sz="3100" dirty="0"/>
          </a:p>
        </p:txBody>
      </p:sp>
      <p:sp>
        <p:nvSpPr>
          <p:cNvPr id="4" name="Shape 2"/>
          <p:cNvSpPr/>
          <p:nvPr/>
        </p:nvSpPr>
        <p:spPr>
          <a:xfrm>
            <a:off x="4023360" y="1517904"/>
            <a:ext cx="3703320" cy="530352"/>
          </a:xfrm>
          <a:prstGeom prst="roundRect">
            <a:avLst>
              <a:gd name="adj" fmla="val 8621"/>
            </a:avLst>
          </a:prstGeom>
          <a:solidFill>
            <a:srgbClr val="2C3E50"/>
          </a:solidFill>
          <a:ln w="12700">
            <a:solidFill>
              <a:srgbClr val="2C3E50"/>
            </a:solidFill>
            <a:prstDash val="solid"/>
          </a:ln>
        </p:spPr>
      </p:sp>
      <p:sp>
        <p:nvSpPr>
          <p:cNvPr id="5" name="Text 3"/>
          <p:cNvSpPr txBox="1"/>
          <p:nvPr/>
        </p:nvSpPr>
        <p:spPr>
          <a:xfrm>
            <a:off x="4023360" y="1517904"/>
            <a:ext cx="37033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Traditional integration</a:t>
            </a:r>
            <a:endParaRPr lang="en-US" sz="1400" dirty="0"/>
          </a:p>
        </p:txBody>
      </p:sp>
      <p:sp>
        <p:nvSpPr>
          <p:cNvPr id="6" name="Shape 4"/>
          <p:cNvSpPr/>
          <p:nvPr/>
        </p:nvSpPr>
        <p:spPr>
          <a:xfrm>
            <a:off x="7818120" y="1517904"/>
            <a:ext cx="3730752" cy="530352"/>
          </a:xfrm>
          <a:prstGeom prst="roundRect">
            <a:avLst>
              <a:gd name="adj" fmla="val 8621"/>
            </a:avLst>
          </a:prstGeom>
          <a:solidFill>
            <a:srgbClr val="1F5673"/>
          </a:solidFill>
          <a:ln w="12700">
            <a:solidFill>
              <a:srgbClr val="1F5673"/>
            </a:solidFill>
            <a:prstDash val="solid"/>
          </a:ln>
        </p:spPr>
      </p:sp>
      <p:sp>
        <p:nvSpPr>
          <p:cNvPr id="7" name="Text 5"/>
          <p:cNvSpPr txBox="1"/>
          <p:nvPr/>
        </p:nvSpPr>
        <p:spPr>
          <a:xfrm>
            <a:off x="7818120" y="1517904"/>
            <a:ext cx="37307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Continuous integration</a:t>
            </a:r>
            <a:endParaRPr lang="en-US" sz="1400" dirty="0"/>
          </a:p>
        </p:txBody>
      </p:sp>
      <p:sp>
        <p:nvSpPr>
          <p:cNvPr id="8" name="Shape 6"/>
          <p:cNvSpPr/>
          <p:nvPr/>
        </p:nvSpPr>
        <p:spPr>
          <a:xfrm>
            <a:off x="640080" y="2157984"/>
            <a:ext cx="10908792" cy="493776"/>
          </a:xfrm>
          <a:prstGeom prst="roundRect">
            <a:avLst>
              <a:gd name="adj" fmla="val 7407"/>
            </a:avLst>
          </a:prstGeom>
          <a:solidFill>
            <a:srgbClr val="F1F4F7"/>
          </a:solidFill>
          <a:ln w="12700">
            <a:solidFill>
              <a:srgbClr val="DBE2EA"/>
            </a:solidFill>
            <a:prstDash val="solid"/>
          </a:ln>
        </p:spPr>
      </p:sp>
      <p:sp>
        <p:nvSpPr>
          <p:cNvPr id="9" name="Text 7"/>
          <p:cNvSpPr txBox="1"/>
          <p:nvPr/>
        </p:nvSpPr>
        <p:spPr>
          <a:xfrm>
            <a:off x="786384" y="215798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Integration frequency</a:t>
            </a:r>
            <a:endParaRPr lang="en-US" sz="1250" dirty="0"/>
          </a:p>
        </p:txBody>
      </p:sp>
      <p:sp>
        <p:nvSpPr>
          <p:cNvPr id="10" name="Text 8"/>
          <p:cNvSpPr txBox="1"/>
          <p:nvPr/>
        </p:nvSpPr>
        <p:spPr>
          <a:xfrm>
            <a:off x="4169664" y="215798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Weekly, monthly, or at release time</a:t>
            </a:r>
            <a:endParaRPr lang="en-US" sz="1150" dirty="0"/>
          </a:p>
        </p:txBody>
      </p:sp>
      <p:sp>
        <p:nvSpPr>
          <p:cNvPr id="11" name="Text 9"/>
          <p:cNvSpPr txBox="1"/>
          <p:nvPr/>
        </p:nvSpPr>
        <p:spPr>
          <a:xfrm>
            <a:off x="7964424" y="215798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On every commit, many times a day</a:t>
            </a:r>
            <a:endParaRPr lang="en-US" sz="1150" dirty="0"/>
          </a:p>
        </p:txBody>
      </p:sp>
      <p:sp>
        <p:nvSpPr>
          <p:cNvPr id="12" name="Shape 10"/>
          <p:cNvSpPr/>
          <p:nvPr/>
        </p:nvSpPr>
        <p:spPr>
          <a:xfrm>
            <a:off x="640080" y="2724912"/>
            <a:ext cx="10908792" cy="493776"/>
          </a:xfrm>
          <a:prstGeom prst="roundRect">
            <a:avLst>
              <a:gd name="adj" fmla="val 7407"/>
            </a:avLst>
          </a:prstGeom>
          <a:solidFill>
            <a:srgbClr val="FFFFFF"/>
          </a:solidFill>
          <a:ln w="12700">
            <a:solidFill>
              <a:srgbClr val="DBE2EA"/>
            </a:solidFill>
            <a:prstDash val="solid"/>
          </a:ln>
        </p:spPr>
      </p:sp>
      <p:sp>
        <p:nvSpPr>
          <p:cNvPr id="13" name="Text 11"/>
          <p:cNvSpPr txBox="1"/>
          <p:nvPr/>
        </p:nvSpPr>
        <p:spPr>
          <a:xfrm>
            <a:off x="786384" y="272491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Batch size</a:t>
            </a:r>
            <a:endParaRPr lang="en-US" sz="1250" dirty="0"/>
          </a:p>
        </p:txBody>
      </p:sp>
      <p:sp>
        <p:nvSpPr>
          <p:cNvPr id="14" name="Text 12"/>
          <p:cNvSpPr txBox="1"/>
          <p:nvPr/>
        </p:nvSpPr>
        <p:spPr>
          <a:xfrm>
            <a:off x="4169664" y="272491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Hundreds of changes at once</a:t>
            </a:r>
            <a:endParaRPr lang="en-US" sz="1150" dirty="0"/>
          </a:p>
        </p:txBody>
      </p:sp>
      <p:sp>
        <p:nvSpPr>
          <p:cNvPr id="15" name="Text 13"/>
          <p:cNvSpPr txBox="1"/>
          <p:nvPr/>
        </p:nvSpPr>
        <p:spPr>
          <a:xfrm>
            <a:off x="7964424" y="272491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One small change at a time</a:t>
            </a:r>
            <a:endParaRPr lang="en-US" sz="1150" dirty="0"/>
          </a:p>
        </p:txBody>
      </p:sp>
      <p:sp>
        <p:nvSpPr>
          <p:cNvPr id="16" name="Shape 14"/>
          <p:cNvSpPr/>
          <p:nvPr/>
        </p:nvSpPr>
        <p:spPr>
          <a:xfrm>
            <a:off x="640080" y="3291840"/>
            <a:ext cx="10908792" cy="493776"/>
          </a:xfrm>
          <a:prstGeom prst="roundRect">
            <a:avLst>
              <a:gd name="adj" fmla="val 7407"/>
            </a:avLst>
          </a:prstGeom>
          <a:solidFill>
            <a:srgbClr val="F1F4F7"/>
          </a:solidFill>
          <a:ln w="12700">
            <a:solidFill>
              <a:srgbClr val="DBE2EA"/>
            </a:solidFill>
            <a:prstDash val="solid"/>
          </a:ln>
        </p:spPr>
      </p:sp>
      <p:sp>
        <p:nvSpPr>
          <p:cNvPr id="17" name="Text 15"/>
          <p:cNvSpPr txBox="1"/>
          <p:nvPr/>
        </p:nvSpPr>
        <p:spPr>
          <a:xfrm>
            <a:off x="786384" y="3291840"/>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Build process</a:t>
            </a:r>
            <a:endParaRPr lang="en-US" sz="1250" dirty="0"/>
          </a:p>
        </p:txBody>
      </p:sp>
      <p:sp>
        <p:nvSpPr>
          <p:cNvPr id="18" name="Text 16"/>
          <p:cNvSpPr txBox="1"/>
          <p:nvPr/>
        </p:nvSpPr>
        <p:spPr>
          <a:xfrm>
            <a:off x="4169664" y="3291840"/>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Manual, on a developer machine</a:t>
            </a:r>
            <a:endParaRPr lang="en-US" sz="1150" dirty="0"/>
          </a:p>
        </p:txBody>
      </p:sp>
      <p:sp>
        <p:nvSpPr>
          <p:cNvPr id="19" name="Text 17"/>
          <p:cNvSpPr txBox="1"/>
          <p:nvPr/>
        </p:nvSpPr>
        <p:spPr>
          <a:xfrm>
            <a:off x="7964424" y="3291840"/>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Automated, on a neutral server</a:t>
            </a:r>
            <a:endParaRPr lang="en-US" sz="1150" dirty="0"/>
          </a:p>
        </p:txBody>
      </p:sp>
      <p:sp>
        <p:nvSpPr>
          <p:cNvPr id="20" name="Shape 18"/>
          <p:cNvSpPr/>
          <p:nvPr/>
        </p:nvSpPr>
        <p:spPr>
          <a:xfrm>
            <a:off x="640080" y="3858768"/>
            <a:ext cx="10908792" cy="493776"/>
          </a:xfrm>
          <a:prstGeom prst="roundRect">
            <a:avLst>
              <a:gd name="adj" fmla="val 7407"/>
            </a:avLst>
          </a:prstGeom>
          <a:solidFill>
            <a:srgbClr val="FFFFFF"/>
          </a:solidFill>
          <a:ln w="12700">
            <a:solidFill>
              <a:srgbClr val="DBE2EA"/>
            </a:solidFill>
            <a:prstDash val="solid"/>
          </a:ln>
        </p:spPr>
      </p:sp>
      <p:sp>
        <p:nvSpPr>
          <p:cNvPr id="21" name="Text 19"/>
          <p:cNvSpPr txBox="1"/>
          <p:nvPr/>
        </p:nvSpPr>
        <p:spPr>
          <a:xfrm>
            <a:off x="786384" y="3858768"/>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When defects surface</a:t>
            </a:r>
            <a:endParaRPr lang="en-US" sz="1250" dirty="0"/>
          </a:p>
        </p:txBody>
      </p:sp>
      <p:sp>
        <p:nvSpPr>
          <p:cNvPr id="22" name="Text 20"/>
          <p:cNvSpPr txBox="1"/>
          <p:nvPr/>
        </p:nvSpPr>
        <p:spPr>
          <a:xfrm>
            <a:off x="4169664" y="3858768"/>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Days or weeks after they were written</a:t>
            </a:r>
            <a:endParaRPr lang="en-US" sz="1150" dirty="0"/>
          </a:p>
        </p:txBody>
      </p:sp>
      <p:sp>
        <p:nvSpPr>
          <p:cNvPr id="23" name="Text 21"/>
          <p:cNvSpPr txBox="1"/>
          <p:nvPr/>
        </p:nvSpPr>
        <p:spPr>
          <a:xfrm>
            <a:off x="7964424" y="3858768"/>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Within minutes, while context is fresh</a:t>
            </a:r>
            <a:endParaRPr lang="en-US" sz="1150" dirty="0"/>
          </a:p>
        </p:txBody>
      </p:sp>
      <p:sp>
        <p:nvSpPr>
          <p:cNvPr id="24" name="Shape 22"/>
          <p:cNvSpPr/>
          <p:nvPr/>
        </p:nvSpPr>
        <p:spPr>
          <a:xfrm>
            <a:off x="640080" y="4425696"/>
            <a:ext cx="10908792" cy="493776"/>
          </a:xfrm>
          <a:prstGeom prst="roundRect">
            <a:avLst>
              <a:gd name="adj" fmla="val 7407"/>
            </a:avLst>
          </a:prstGeom>
          <a:solidFill>
            <a:srgbClr val="F1F4F7"/>
          </a:solidFill>
          <a:ln w="12700">
            <a:solidFill>
              <a:srgbClr val="DBE2EA"/>
            </a:solidFill>
            <a:prstDash val="solid"/>
          </a:ln>
        </p:spPr>
      </p:sp>
      <p:sp>
        <p:nvSpPr>
          <p:cNvPr id="25" name="Text 23"/>
          <p:cNvSpPr txBox="1"/>
          <p:nvPr/>
        </p:nvSpPr>
        <p:spPr>
          <a:xfrm>
            <a:off x="786384" y="4425696"/>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Cost of a fix</a:t>
            </a:r>
            <a:endParaRPr lang="en-US" sz="1250" dirty="0"/>
          </a:p>
        </p:txBody>
      </p:sp>
      <p:sp>
        <p:nvSpPr>
          <p:cNvPr id="26" name="Text 24"/>
          <p:cNvSpPr txBox="1"/>
          <p:nvPr/>
        </p:nvSpPr>
        <p:spPr>
          <a:xfrm>
            <a:off x="4169664" y="4425696"/>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High — the author has moved on</a:t>
            </a:r>
            <a:endParaRPr lang="en-US" sz="1150" dirty="0"/>
          </a:p>
        </p:txBody>
      </p:sp>
      <p:sp>
        <p:nvSpPr>
          <p:cNvPr id="27" name="Text 25"/>
          <p:cNvSpPr txBox="1"/>
          <p:nvPr/>
        </p:nvSpPr>
        <p:spPr>
          <a:xfrm>
            <a:off x="7964424" y="4425696"/>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Low — fix it before lunch</a:t>
            </a:r>
            <a:endParaRPr lang="en-US" sz="1150" dirty="0"/>
          </a:p>
        </p:txBody>
      </p:sp>
      <p:sp>
        <p:nvSpPr>
          <p:cNvPr id="28" name="Shape 26"/>
          <p:cNvSpPr/>
          <p:nvPr/>
        </p:nvSpPr>
        <p:spPr>
          <a:xfrm>
            <a:off x="640080" y="4992624"/>
            <a:ext cx="10908792" cy="493776"/>
          </a:xfrm>
          <a:prstGeom prst="roundRect">
            <a:avLst>
              <a:gd name="adj" fmla="val 7407"/>
            </a:avLst>
          </a:prstGeom>
          <a:solidFill>
            <a:srgbClr val="FFFFFF"/>
          </a:solidFill>
          <a:ln w="12700">
            <a:solidFill>
              <a:srgbClr val="DBE2EA"/>
            </a:solidFill>
            <a:prstDash val="solid"/>
          </a:ln>
        </p:spPr>
      </p:sp>
      <p:sp>
        <p:nvSpPr>
          <p:cNvPr id="29" name="Text 27"/>
          <p:cNvSpPr txBox="1"/>
          <p:nvPr/>
        </p:nvSpPr>
        <p:spPr>
          <a:xfrm>
            <a:off x="786384" y="499262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Blame for failure</a:t>
            </a:r>
            <a:endParaRPr lang="en-US" sz="1250" dirty="0"/>
          </a:p>
        </p:txBody>
      </p:sp>
      <p:sp>
        <p:nvSpPr>
          <p:cNvPr id="30" name="Text 28"/>
          <p:cNvSpPr txBox="1"/>
          <p:nvPr/>
        </p:nvSpPr>
        <p:spPr>
          <a:xfrm>
            <a:off x="4169664" y="499262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Hard to attribute among many changes</a:t>
            </a:r>
            <a:endParaRPr lang="en-US" sz="1150" dirty="0"/>
          </a:p>
        </p:txBody>
      </p:sp>
      <p:sp>
        <p:nvSpPr>
          <p:cNvPr id="31" name="Text 29"/>
          <p:cNvSpPr txBox="1"/>
          <p:nvPr/>
        </p:nvSpPr>
        <p:spPr>
          <a:xfrm>
            <a:off x="7964424" y="499262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Obvious: the commit that broke it</a:t>
            </a:r>
            <a:endParaRPr lang="en-US" sz="1150" dirty="0"/>
          </a:p>
        </p:txBody>
      </p:sp>
      <p:sp>
        <p:nvSpPr>
          <p:cNvPr id="32" name="Shape 30"/>
          <p:cNvSpPr/>
          <p:nvPr/>
        </p:nvSpPr>
        <p:spPr>
          <a:xfrm>
            <a:off x="640080" y="5559552"/>
            <a:ext cx="10908792" cy="493776"/>
          </a:xfrm>
          <a:prstGeom prst="roundRect">
            <a:avLst>
              <a:gd name="adj" fmla="val 7407"/>
            </a:avLst>
          </a:prstGeom>
          <a:solidFill>
            <a:srgbClr val="F1F4F7"/>
          </a:solidFill>
          <a:ln w="12700">
            <a:solidFill>
              <a:srgbClr val="DBE2EA"/>
            </a:solidFill>
            <a:prstDash val="solid"/>
          </a:ln>
        </p:spPr>
      </p:sp>
      <p:sp>
        <p:nvSpPr>
          <p:cNvPr id="33" name="Text 31"/>
          <p:cNvSpPr txBox="1"/>
          <p:nvPr/>
        </p:nvSpPr>
        <p:spPr>
          <a:xfrm>
            <a:off x="786384" y="555955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Release confidence</a:t>
            </a:r>
            <a:endParaRPr lang="en-US" sz="1250" dirty="0"/>
          </a:p>
        </p:txBody>
      </p:sp>
      <p:sp>
        <p:nvSpPr>
          <p:cNvPr id="34" name="Text 32"/>
          <p:cNvSpPr txBox="1"/>
          <p:nvPr/>
        </p:nvSpPr>
        <p:spPr>
          <a:xfrm>
            <a:off x="4169664" y="555955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Anxiety, long test cycles, weekend windows</a:t>
            </a:r>
            <a:endParaRPr lang="en-US" sz="1150" dirty="0"/>
          </a:p>
        </p:txBody>
      </p:sp>
      <p:sp>
        <p:nvSpPr>
          <p:cNvPr id="35" name="Text 33"/>
          <p:cNvSpPr txBox="1"/>
          <p:nvPr/>
        </p:nvSpPr>
        <p:spPr>
          <a:xfrm>
            <a:off x="7964424" y="555955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Routine — the artifact is always tested</a:t>
            </a:r>
            <a:endParaRPr lang="en-US" sz="1150" dirty="0"/>
          </a:p>
        </p:txBody>
      </p:sp>
      <p:sp>
        <p:nvSpPr>
          <p:cNvPr id="36" name="Text 34"/>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CI is a practice, not a product. Jenkins automates it; the discipline of committing small and often is what makes it work.</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PRACTICE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What continuous integration requires</a:t>
            </a:r>
            <a:endParaRPr lang="en-US" sz="3100" dirty="0"/>
          </a:p>
        </p:txBody>
      </p:sp>
      <p:sp>
        <p:nvSpPr>
          <p:cNvPr id="4" name="Shape 2"/>
          <p:cNvSpPr/>
          <p:nvPr/>
        </p:nvSpPr>
        <p:spPr>
          <a:xfrm>
            <a:off x="640080"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65376"/>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 single shared mainline</a:t>
            </a:r>
            <a:endParaRPr lang="en-US" sz="1450" dirty="0"/>
          </a:p>
        </p:txBody>
      </p:sp>
      <p:sp>
        <p:nvSpPr>
          <p:cNvPr id="8" name="Text 6"/>
          <p:cNvSpPr txBox="1"/>
          <p:nvPr/>
        </p:nvSpPr>
        <p:spPr>
          <a:xfrm>
            <a:off x="877824" y="276148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Everyone merges to the same branch frequently — daily at minimum. Long-lived branches defeat the purpose.</a:t>
            </a:r>
            <a:endParaRPr lang="en-US" sz="1200" dirty="0"/>
          </a:p>
        </p:txBody>
      </p:sp>
      <p:sp>
        <p:nvSpPr>
          <p:cNvPr id="9" name="Shape 7"/>
          <p:cNvSpPr/>
          <p:nvPr/>
        </p:nvSpPr>
        <p:spPr>
          <a:xfrm>
            <a:off x="4384548"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65376"/>
            <a:ext cx="420624" cy="420624"/>
          </a:xfrm>
          <a:prstGeom prst="ellipse">
            <a:avLst/>
          </a:prstGeom>
          <a:solidFill>
            <a:srgbClr val="1F5673"/>
          </a:solidFill>
          <a:ln w="12700">
            <a:solidFill>
              <a:srgbClr val="1F5673"/>
            </a:solidFill>
            <a:prstDash val="solid"/>
          </a:ln>
        </p:spPr>
      </p:sp>
      <p:sp>
        <p:nvSpPr>
          <p:cNvPr id="11" name="Text 9"/>
          <p:cNvSpPr txBox="1"/>
          <p:nvPr/>
        </p:nvSpPr>
        <p:spPr>
          <a:xfrm>
            <a:off x="4622292"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22292"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 fully automated build</a:t>
            </a:r>
            <a:endParaRPr lang="en-US" sz="1450" dirty="0"/>
          </a:p>
        </p:txBody>
      </p:sp>
      <p:sp>
        <p:nvSpPr>
          <p:cNvPr id="13" name="Text 11"/>
          <p:cNvSpPr txBox="1"/>
          <p:nvPr/>
        </p:nvSpPr>
        <p:spPr>
          <a:xfrm>
            <a:off x="4622292" y="276148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One command builds the project from a clean checkout, with no manual steps and no machine-specific setup.</a:t>
            </a:r>
            <a:endParaRPr lang="en-US" sz="1200" dirty="0"/>
          </a:p>
        </p:txBody>
      </p:sp>
      <p:sp>
        <p:nvSpPr>
          <p:cNvPr id="14" name="Shape 12"/>
          <p:cNvSpPr/>
          <p:nvPr/>
        </p:nvSpPr>
        <p:spPr>
          <a:xfrm>
            <a:off x="8129016"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65376"/>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366760"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66760"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An automated test suite</a:t>
            </a:r>
            <a:endParaRPr lang="en-US" sz="1450" dirty="0"/>
          </a:p>
        </p:txBody>
      </p:sp>
      <p:sp>
        <p:nvSpPr>
          <p:cNvPr id="18" name="Text 16"/>
          <p:cNvSpPr txBox="1"/>
          <p:nvPr/>
        </p:nvSpPr>
        <p:spPr>
          <a:xfrm>
            <a:off x="8366760" y="276148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build must be able to judge itself. Without tests, a green build only proves the code compiles.</a:t>
            </a:r>
            <a:endParaRPr lang="en-US" sz="1200" dirty="0"/>
          </a:p>
        </p:txBody>
      </p:sp>
      <p:sp>
        <p:nvSpPr>
          <p:cNvPr id="19" name="Shape 17"/>
          <p:cNvSpPr/>
          <p:nvPr/>
        </p:nvSpPr>
        <p:spPr>
          <a:xfrm>
            <a:off x="640080"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877824" y="3968496"/>
            <a:ext cx="420624" cy="420624"/>
          </a:xfrm>
          <a:prstGeom prst="ellipse">
            <a:avLst/>
          </a:prstGeom>
          <a:solidFill>
            <a:srgbClr val="1F5673"/>
          </a:solidFill>
          <a:ln w="12700">
            <a:solidFill>
              <a:srgbClr val="1F5673"/>
            </a:solidFill>
            <a:prstDash val="solid"/>
          </a:ln>
        </p:spPr>
      </p:sp>
      <p:sp>
        <p:nvSpPr>
          <p:cNvPr id="21" name="Text 19"/>
          <p:cNvSpPr txBox="1"/>
          <p:nvPr/>
        </p:nvSpPr>
        <p:spPr>
          <a:xfrm>
            <a:off x="877824"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877824"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Fast feedback</a:t>
            </a:r>
            <a:endParaRPr lang="en-US" sz="1450" dirty="0"/>
          </a:p>
        </p:txBody>
      </p:sp>
      <p:sp>
        <p:nvSpPr>
          <p:cNvPr id="23" name="Text 21"/>
          <p:cNvSpPr txBox="1"/>
          <p:nvPr/>
        </p:nvSpPr>
        <p:spPr>
          <a:xfrm>
            <a:off x="877824" y="486460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Aim for under ten minutes from commit to result. Slow builds get ignored, and ignored builds stop protecting anything.</a:t>
            </a:r>
            <a:endParaRPr lang="en-US" sz="1200" dirty="0"/>
          </a:p>
        </p:txBody>
      </p:sp>
      <p:sp>
        <p:nvSpPr>
          <p:cNvPr id="24" name="Shape 22"/>
          <p:cNvSpPr/>
          <p:nvPr/>
        </p:nvSpPr>
        <p:spPr>
          <a:xfrm>
            <a:off x="4384548"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4622292" y="3968496"/>
            <a:ext cx="420624" cy="420624"/>
          </a:xfrm>
          <a:prstGeom prst="ellipse">
            <a:avLst/>
          </a:prstGeom>
          <a:solidFill>
            <a:srgbClr val="1F5673"/>
          </a:solidFill>
          <a:ln w="12700">
            <a:solidFill>
              <a:srgbClr val="1F5673"/>
            </a:solidFill>
            <a:prstDash val="solid"/>
          </a:ln>
        </p:spPr>
      </p:sp>
      <p:sp>
        <p:nvSpPr>
          <p:cNvPr id="26" name="Text 24"/>
          <p:cNvSpPr txBox="1"/>
          <p:nvPr/>
        </p:nvSpPr>
        <p:spPr>
          <a:xfrm>
            <a:off x="4622292"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4622292"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 neutral build server</a:t>
            </a:r>
            <a:endParaRPr lang="en-US" sz="1450" dirty="0"/>
          </a:p>
        </p:txBody>
      </p:sp>
      <p:sp>
        <p:nvSpPr>
          <p:cNvPr id="28" name="Text 26"/>
          <p:cNvSpPr txBox="1"/>
          <p:nvPr/>
        </p:nvSpPr>
        <p:spPr>
          <a:xfrm>
            <a:off x="4622292" y="486460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Builds run somewhere that is not anyone's laptop, so environment differences surface immediately.</a:t>
            </a:r>
            <a:endParaRPr lang="en-US" sz="1200" dirty="0"/>
          </a:p>
        </p:txBody>
      </p:sp>
      <p:sp>
        <p:nvSpPr>
          <p:cNvPr id="29" name="Shape 27"/>
          <p:cNvSpPr/>
          <p:nvPr/>
        </p:nvSpPr>
        <p:spPr>
          <a:xfrm>
            <a:off x="8129016"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0" name="Shape 28"/>
          <p:cNvSpPr/>
          <p:nvPr/>
        </p:nvSpPr>
        <p:spPr>
          <a:xfrm>
            <a:off x="8366760" y="3968496"/>
            <a:ext cx="420624" cy="420624"/>
          </a:xfrm>
          <a:prstGeom prst="ellipse">
            <a:avLst/>
          </a:prstGeom>
          <a:solidFill>
            <a:srgbClr val="1F5673"/>
          </a:solidFill>
          <a:ln w="12700">
            <a:solidFill>
              <a:srgbClr val="1F5673"/>
            </a:solidFill>
            <a:prstDash val="solid"/>
          </a:ln>
        </p:spPr>
      </p:sp>
      <p:sp>
        <p:nvSpPr>
          <p:cNvPr id="31" name="Text 29"/>
          <p:cNvSpPr txBox="1"/>
          <p:nvPr/>
        </p:nvSpPr>
        <p:spPr>
          <a:xfrm>
            <a:off x="8366760"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366760"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Fix the build first</a:t>
            </a:r>
            <a:endParaRPr lang="en-US" sz="1450" dirty="0"/>
          </a:p>
        </p:txBody>
      </p:sp>
      <p:sp>
        <p:nvSpPr>
          <p:cNvPr id="33" name="Text 31"/>
          <p:cNvSpPr txBox="1"/>
          <p:nvPr/>
        </p:nvSpPr>
        <p:spPr>
          <a:xfrm>
            <a:off x="8366760" y="4864608"/>
            <a:ext cx="2944368" cy="7132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A broken mainline blocks the whole team. Repairing it takes priority over new work — always.</a:t>
            </a:r>
            <a:endParaRPr lang="en-US" sz="1200" dirty="0"/>
          </a:p>
        </p:txBody>
      </p:sp>
      <p:sp>
        <p:nvSpPr>
          <p:cNvPr id="34" name="Shape 32"/>
          <p:cNvSpPr/>
          <p:nvPr/>
        </p:nvSpPr>
        <p:spPr>
          <a:xfrm>
            <a:off x="640080" y="5806440"/>
            <a:ext cx="10908792" cy="502920"/>
          </a:xfrm>
          <a:prstGeom prst="roundRect">
            <a:avLst>
              <a:gd name="adj" fmla="val 10909"/>
            </a:avLst>
          </a:prstGeom>
          <a:solidFill>
            <a:srgbClr val="EAF1F6"/>
          </a:solidFill>
          <a:ln w="12700">
            <a:solidFill>
              <a:srgbClr val="1F5673"/>
            </a:solidFill>
            <a:prstDash val="solid"/>
          </a:ln>
        </p:spPr>
      </p:sp>
      <p:sp>
        <p:nvSpPr>
          <p:cNvPr id="35" name="Text 33"/>
          <p:cNvSpPr txBox="1"/>
          <p:nvPr/>
        </p:nvSpPr>
        <p:spPr>
          <a:xfrm>
            <a:off x="1005840" y="5806440"/>
            <a:ext cx="10177272" cy="50292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Jenkins provides items 2, 4 and 5. Items 1, 3 and 6 are decisions your team makes.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WHERE THIS LEADS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CI, continuous delivery, continuous deployment</a:t>
            </a:r>
            <a:endParaRPr lang="en-US" sz="3100" dirty="0"/>
          </a:p>
        </p:txBody>
      </p:sp>
      <p:sp>
        <p:nvSpPr>
          <p:cNvPr id="4" name="Shape 2"/>
          <p:cNvSpPr/>
          <p:nvPr/>
        </p:nvSpPr>
        <p:spPr>
          <a:xfrm>
            <a:off x="640080" y="1645920"/>
            <a:ext cx="3419856" cy="2743200"/>
          </a:xfrm>
          <a:prstGeom prst="roundRect">
            <a:avLst>
              <a:gd name="adj" fmla="val 2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645920"/>
            <a:ext cx="3419856" cy="777240"/>
          </a:xfrm>
          <a:prstGeom prst="roundRect">
            <a:avLst>
              <a:gd name="adj" fmla="val 7059"/>
            </a:avLst>
          </a:prstGeom>
          <a:solidFill>
            <a:srgbClr val="1F5673"/>
          </a:solidFill>
          <a:ln w="12700">
            <a:solidFill>
              <a:srgbClr val="1F5673"/>
            </a:solidFill>
            <a:prstDash val="solid"/>
          </a:ln>
        </p:spPr>
      </p:sp>
      <p:sp>
        <p:nvSpPr>
          <p:cNvPr id="6" name="Text 4"/>
          <p:cNvSpPr txBox="1"/>
          <p:nvPr/>
        </p:nvSpPr>
        <p:spPr>
          <a:xfrm>
            <a:off x="877824" y="1645920"/>
            <a:ext cx="2944368"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Continuous Integration</a:t>
            </a:r>
            <a:endParaRPr lang="en-US" sz="1550" dirty="0"/>
          </a:p>
        </p:txBody>
      </p:sp>
      <p:sp>
        <p:nvSpPr>
          <p:cNvPr id="7" name="Text 5"/>
          <p:cNvSpPr txBox="1"/>
          <p:nvPr/>
        </p:nvSpPr>
        <p:spPr>
          <a:xfrm>
            <a:off x="877824" y="2560320"/>
            <a:ext cx="2944368" cy="1234440"/>
          </a:xfrm>
          <a:prstGeom prst="rect">
            <a:avLst/>
          </a:prstGeom>
          <a:noFill/>
          <a:ln/>
        </p:spPr>
        <p:txBody>
          <a:bodyPr wrap="square" lIns="0" tIns="0" rIns="0" bIns="0" rtlCol="0" anchor="ctr"/>
          <a:lstStyle/>
          <a:p>
            <a:pPr indent="0" marL="0">
              <a:lnSpc>
                <a:spcPct val="106000"/>
              </a:lnSpc>
              <a:buNone/>
            </a:pPr>
            <a:r>
              <a:rPr lang="en-US" sz="1300" dirty="0">
                <a:solidFill>
                  <a:srgbClr val="28313B"/>
                </a:solidFill>
                <a:latin typeface="Calibri" pitchFamily="34" charset="0"/>
                <a:ea typeface="Calibri" pitchFamily="34" charset="-122"/>
                <a:cs typeface="Calibri" pitchFamily="34" charset="-120"/>
              </a:rPr>
              <a:t>Every commit is automatically built and tested on a shared server.</a:t>
            </a:r>
            <a:endParaRPr lang="en-US" sz="1300" dirty="0"/>
          </a:p>
        </p:txBody>
      </p:sp>
      <p:sp>
        <p:nvSpPr>
          <p:cNvPr id="8" name="Text 6"/>
          <p:cNvSpPr txBox="1"/>
          <p:nvPr/>
        </p:nvSpPr>
        <p:spPr>
          <a:xfrm>
            <a:off x="877824" y="3840480"/>
            <a:ext cx="2944368" cy="36576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Ends with: a tested artifact</a:t>
            </a:r>
            <a:endParaRPr lang="en-US" sz="1250" dirty="0"/>
          </a:p>
        </p:txBody>
      </p:sp>
      <p:sp>
        <p:nvSpPr>
          <p:cNvPr id="9" name="Shape 7"/>
          <p:cNvSpPr/>
          <p:nvPr/>
        </p:nvSpPr>
        <p:spPr>
          <a:xfrm>
            <a:off x="4151376" y="2834640"/>
            <a:ext cx="274320" cy="274320"/>
          </a:xfrm>
          <a:prstGeom prst="rightArrow">
            <a:avLst/>
          </a:prstGeom>
          <a:solidFill>
            <a:srgbClr val="6FB3D2"/>
          </a:solidFill>
          <a:ln w="12700">
            <a:solidFill>
              <a:srgbClr val="6FB3D2"/>
            </a:solidFill>
            <a:prstDash val="solid"/>
          </a:ln>
        </p:spPr>
      </p:sp>
      <p:sp>
        <p:nvSpPr>
          <p:cNvPr id="10" name="Shape 8"/>
          <p:cNvSpPr/>
          <p:nvPr/>
        </p:nvSpPr>
        <p:spPr>
          <a:xfrm>
            <a:off x="4384548" y="1645920"/>
            <a:ext cx="3419856" cy="2743200"/>
          </a:xfrm>
          <a:prstGeom prst="roundRect">
            <a:avLst>
              <a:gd name="adj" fmla="val 2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384548" y="1645920"/>
            <a:ext cx="3419856" cy="777240"/>
          </a:xfrm>
          <a:prstGeom prst="roundRect">
            <a:avLst>
              <a:gd name="adj" fmla="val 7059"/>
            </a:avLst>
          </a:prstGeom>
          <a:solidFill>
            <a:srgbClr val="2C3E50"/>
          </a:solidFill>
          <a:ln w="12700">
            <a:solidFill>
              <a:srgbClr val="2C3E50"/>
            </a:solidFill>
            <a:prstDash val="solid"/>
          </a:ln>
        </p:spPr>
      </p:sp>
      <p:sp>
        <p:nvSpPr>
          <p:cNvPr id="12" name="Text 10"/>
          <p:cNvSpPr txBox="1"/>
          <p:nvPr/>
        </p:nvSpPr>
        <p:spPr>
          <a:xfrm>
            <a:off x="4622292" y="1645920"/>
            <a:ext cx="2944368"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Continuous Delivery</a:t>
            </a:r>
            <a:endParaRPr lang="en-US" sz="1550" dirty="0"/>
          </a:p>
        </p:txBody>
      </p:sp>
      <p:sp>
        <p:nvSpPr>
          <p:cNvPr id="13" name="Text 11"/>
          <p:cNvSpPr txBox="1"/>
          <p:nvPr/>
        </p:nvSpPr>
        <p:spPr>
          <a:xfrm>
            <a:off x="4622292" y="2560320"/>
            <a:ext cx="2944368" cy="1234440"/>
          </a:xfrm>
          <a:prstGeom prst="rect">
            <a:avLst/>
          </a:prstGeom>
          <a:noFill/>
          <a:ln/>
        </p:spPr>
        <p:txBody>
          <a:bodyPr wrap="square" lIns="0" tIns="0" rIns="0" bIns="0" rtlCol="0" anchor="ctr"/>
          <a:lstStyle/>
          <a:p>
            <a:pPr indent="0" marL="0">
              <a:lnSpc>
                <a:spcPct val="106000"/>
              </a:lnSpc>
              <a:buNone/>
            </a:pPr>
            <a:r>
              <a:rPr lang="en-US" sz="1300" dirty="0">
                <a:solidFill>
                  <a:srgbClr val="28313B"/>
                </a:solidFill>
                <a:latin typeface="Calibri" pitchFamily="34" charset="0"/>
                <a:ea typeface="Calibri" pitchFamily="34" charset="-122"/>
                <a:cs typeface="Calibri" pitchFamily="34" charset="-120"/>
              </a:rPr>
              <a:t>Every tested artifact is automatically prepared for release. Deployment is a one-click business decision.</a:t>
            </a:r>
            <a:endParaRPr lang="en-US" sz="1300" dirty="0"/>
          </a:p>
        </p:txBody>
      </p:sp>
      <p:sp>
        <p:nvSpPr>
          <p:cNvPr id="14" name="Text 12"/>
          <p:cNvSpPr txBox="1"/>
          <p:nvPr/>
        </p:nvSpPr>
        <p:spPr>
          <a:xfrm>
            <a:off x="4622292" y="3840480"/>
            <a:ext cx="2944368" cy="365760"/>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Ends with: could deploy</a:t>
            </a:r>
            <a:endParaRPr lang="en-US" sz="1250" dirty="0"/>
          </a:p>
        </p:txBody>
      </p:sp>
      <p:sp>
        <p:nvSpPr>
          <p:cNvPr id="15" name="Shape 13"/>
          <p:cNvSpPr/>
          <p:nvPr/>
        </p:nvSpPr>
        <p:spPr>
          <a:xfrm>
            <a:off x="7895844" y="2834640"/>
            <a:ext cx="274320" cy="274320"/>
          </a:xfrm>
          <a:prstGeom prst="rightArrow">
            <a:avLst/>
          </a:prstGeom>
          <a:solidFill>
            <a:srgbClr val="6FB3D2"/>
          </a:solidFill>
          <a:ln w="12700">
            <a:solidFill>
              <a:srgbClr val="6FB3D2"/>
            </a:solidFill>
            <a:prstDash val="solid"/>
          </a:ln>
        </p:spPr>
      </p:sp>
      <p:sp>
        <p:nvSpPr>
          <p:cNvPr id="16" name="Shape 14"/>
          <p:cNvSpPr/>
          <p:nvPr/>
        </p:nvSpPr>
        <p:spPr>
          <a:xfrm>
            <a:off x="8129016" y="1645920"/>
            <a:ext cx="3419856" cy="2743200"/>
          </a:xfrm>
          <a:prstGeom prst="roundRect">
            <a:avLst>
              <a:gd name="adj" fmla="val 2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8129016" y="1645920"/>
            <a:ext cx="3419856" cy="777240"/>
          </a:xfrm>
          <a:prstGeom prst="roundRect">
            <a:avLst>
              <a:gd name="adj" fmla="val 7059"/>
            </a:avLst>
          </a:prstGeom>
          <a:solidFill>
            <a:srgbClr val="141C26"/>
          </a:solidFill>
          <a:ln w="12700">
            <a:solidFill>
              <a:srgbClr val="141C26"/>
            </a:solidFill>
            <a:prstDash val="solid"/>
          </a:ln>
        </p:spPr>
      </p:sp>
      <p:sp>
        <p:nvSpPr>
          <p:cNvPr id="18" name="Text 16"/>
          <p:cNvSpPr txBox="1"/>
          <p:nvPr/>
        </p:nvSpPr>
        <p:spPr>
          <a:xfrm>
            <a:off x="8366760" y="1645920"/>
            <a:ext cx="2944368" cy="777240"/>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Continuous Deployment</a:t>
            </a:r>
            <a:endParaRPr lang="en-US" sz="1550" dirty="0"/>
          </a:p>
        </p:txBody>
      </p:sp>
      <p:sp>
        <p:nvSpPr>
          <p:cNvPr id="19" name="Text 17"/>
          <p:cNvSpPr txBox="1"/>
          <p:nvPr/>
        </p:nvSpPr>
        <p:spPr>
          <a:xfrm>
            <a:off x="8366760" y="2560320"/>
            <a:ext cx="2944368" cy="1234440"/>
          </a:xfrm>
          <a:prstGeom prst="rect">
            <a:avLst/>
          </a:prstGeom>
          <a:noFill/>
          <a:ln/>
        </p:spPr>
        <p:txBody>
          <a:bodyPr wrap="square" lIns="0" tIns="0" rIns="0" bIns="0" rtlCol="0" anchor="ctr"/>
          <a:lstStyle/>
          <a:p>
            <a:pPr indent="0" marL="0">
              <a:lnSpc>
                <a:spcPct val="106000"/>
              </a:lnSpc>
              <a:buNone/>
            </a:pPr>
            <a:r>
              <a:rPr lang="en-US" sz="1300" dirty="0">
                <a:solidFill>
                  <a:srgbClr val="28313B"/>
                </a:solidFill>
                <a:latin typeface="Calibri" pitchFamily="34" charset="0"/>
                <a:ea typeface="Calibri" pitchFamily="34" charset="-122"/>
                <a:cs typeface="Calibri" pitchFamily="34" charset="-120"/>
              </a:rPr>
              <a:t>Every artifact that passes the pipeline goes to production with no human gate.</a:t>
            </a:r>
            <a:endParaRPr lang="en-US" sz="1300" dirty="0"/>
          </a:p>
        </p:txBody>
      </p:sp>
      <p:sp>
        <p:nvSpPr>
          <p:cNvPr id="20" name="Text 18"/>
          <p:cNvSpPr txBox="1"/>
          <p:nvPr/>
        </p:nvSpPr>
        <p:spPr>
          <a:xfrm>
            <a:off x="8366760" y="3840480"/>
            <a:ext cx="2944368" cy="365760"/>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Ends with: did deploy</a:t>
            </a:r>
            <a:endParaRPr lang="en-US" sz="1250" dirty="0"/>
          </a:p>
        </p:txBody>
      </p:sp>
      <p:sp>
        <p:nvSpPr>
          <p:cNvPr id="21" name="Shape 19"/>
          <p:cNvSpPr/>
          <p:nvPr/>
        </p:nvSpPr>
        <p:spPr>
          <a:xfrm>
            <a:off x="640080" y="4663440"/>
            <a:ext cx="10908792" cy="1371600"/>
          </a:xfrm>
          <a:prstGeom prst="roundRect">
            <a:avLst>
              <a:gd name="adj" fmla="val 4000"/>
            </a:avLst>
          </a:prstGeom>
          <a:solidFill>
            <a:srgbClr val="141C26"/>
          </a:solidFill>
          <a:ln w="12700">
            <a:solidFill>
              <a:srgbClr val="141C26"/>
            </a:solidFill>
            <a:prstDash val="solid"/>
          </a:ln>
        </p:spPr>
      </p:sp>
      <p:sp>
        <p:nvSpPr>
          <p:cNvPr id="22" name="Text 20"/>
          <p:cNvSpPr txBox="1"/>
          <p:nvPr/>
        </p:nvSpPr>
        <p:spPr>
          <a:xfrm>
            <a:off x="1005840" y="4663440"/>
            <a:ext cx="10177272" cy="137160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This module builds all three with Jenkins: sessions 1 and 2 automate integration, and session 3 adds deployment to a running Tomcat server. Whether you stop at delivery or go all the way to deployment is a decision about risk appetite, not about tooling.</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JENKINS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What Jenkins is</a:t>
            </a:r>
            <a:endParaRPr lang="en-US" sz="3100" dirty="0"/>
          </a:p>
        </p:txBody>
      </p:sp>
      <p:sp>
        <p:nvSpPr>
          <p:cNvPr id="4" name="Shape 2"/>
          <p:cNvSpPr/>
          <p:nvPr/>
        </p:nvSpPr>
        <p:spPr>
          <a:xfrm>
            <a:off x="640080" y="1463040"/>
            <a:ext cx="10908792" cy="822960"/>
          </a:xfrm>
          <a:prstGeom prst="roundRect">
            <a:avLst>
              <a:gd name="adj" fmla="val 6667"/>
            </a:avLst>
          </a:prstGeom>
          <a:solidFill>
            <a:srgbClr val="141C26"/>
          </a:solidFill>
          <a:ln w="12700">
            <a:solidFill>
              <a:srgbClr val="141C26"/>
            </a:solidFill>
            <a:prstDash val="solid"/>
          </a:ln>
        </p:spPr>
      </p:sp>
      <p:sp>
        <p:nvSpPr>
          <p:cNvPr id="5" name="Text 3"/>
          <p:cNvSpPr txBox="1"/>
          <p:nvPr/>
        </p:nvSpPr>
        <p:spPr>
          <a:xfrm>
            <a:off x="1005840" y="1463040"/>
            <a:ext cx="10177272" cy="822960"/>
          </a:xfrm>
          <a:prstGeom prst="rect">
            <a:avLst/>
          </a:prstGeom>
          <a:noFill/>
          <a:ln/>
        </p:spPr>
        <p:txBody>
          <a:bodyPr wrap="square" lIns="0" tIns="0" rIns="0" bIns="0" rtlCol="0" anchor="ctr"/>
          <a:lstStyle/>
          <a:p>
            <a:pPr indent="0" marL="0">
              <a:buNone/>
            </a:pPr>
            <a:r>
              <a:rPr lang="en-US" sz="1550" dirty="0">
                <a:solidFill>
                  <a:srgbClr val="FFFFFF"/>
                </a:solidFill>
                <a:latin typeface="Cambria" pitchFamily="34" charset="0"/>
                <a:ea typeface="Cambria" pitchFamily="34" charset="-122"/>
                <a:cs typeface="Cambria" pitchFamily="34" charset="-120"/>
              </a:rPr>
              <a:t>Jenkins is a free, open-source automation server written in Java. It watches your source repository, runs your build on a schedule or on every change, and reports the result — extended by plugins to do almost anything else.</a:t>
            </a:r>
            <a:endParaRPr lang="en-US" sz="1550" dirty="0"/>
          </a:p>
        </p:txBody>
      </p:sp>
      <p:sp>
        <p:nvSpPr>
          <p:cNvPr id="6" name="Shape 4"/>
          <p:cNvSpPr/>
          <p:nvPr/>
        </p:nvSpPr>
        <p:spPr>
          <a:xfrm>
            <a:off x="640080" y="24688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7" name="Shape 5"/>
          <p:cNvSpPr/>
          <p:nvPr/>
        </p:nvSpPr>
        <p:spPr>
          <a:xfrm>
            <a:off x="877824" y="2706624"/>
            <a:ext cx="420624" cy="420624"/>
          </a:xfrm>
          <a:prstGeom prst="ellipse">
            <a:avLst/>
          </a:prstGeom>
          <a:solidFill>
            <a:srgbClr val="1F5673"/>
          </a:solidFill>
          <a:ln w="12700">
            <a:solidFill>
              <a:srgbClr val="1F5673"/>
            </a:solidFill>
            <a:prstDash val="solid"/>
          </a:ln>
        </p:spPr>
      </p:sp>
      <p:sp>
        <p:nvSpPr>
          <p:cNvPr id="8" name="Text 6"/>
          <p:cNvSpPr txBox="1"/>
          <p:nvPr/>
        </p:nvSpPr>
        <p:spPr>
          <a:xfrm>
            <a:off x="877824" y="27066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9" name="Text 7"/>
          <p:cNvSpPr txBox="1"/>
          <p:nvPr/>
        </p:nvSpPr>
        <p:spPr>
          <a:xfrm>
            <a:off x="877824" y="32552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Open source and free</a:t>
            </a:r>
            <a:endParaRPr lang="en-US" sz="1400" dirty="0"/>
          </a:p>
        </p:txBody>
      </p:sp>
      <p:sp>
        <p:nvSpPr>
          <p:cNvPr id="10" name="Text 8"/>
          <p:cNvSpPr txBox="1"/>
          <p:nvPr/>
        </p:nvSpPr>
        <p:spPr>
          <a:xfrm>
            <a:off x="877824" y="36027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No licence cost, a large community, and originally released as Hudson in 2005 before becoming Jenkins in 2011.</a:t>
            </a:r>
            <a:endParaRPr lang="en-US" sz="1150" dirty="0"/>
          </a:p>
        </p:txBody>
      </p:sp>
      <p:sp>
        <p:nvSpPr>
          <p:cNvPr id="11" name="Shape 9"/>
          <p:cNvSpPr/>
          <p:nvPr/>
        </p:nvSpPr>
        <p:spPr>
          <a:xfrm>
            <a:off x="4384548" y="24688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2" name="Shape 10"/>
          <p:cNvSpPr/>
          <p:nvPr/>
        </p:nvSpPr>
        <p:spPr>
          <a:xfrm>
            <a:off x="4622292" y="2706624"/>
            <a:ext cx="420624" cy="420624"/>
          </a:xfrm>
          <a:prstGeom prst="ellipse">
            <a:avLst/>
          </a:prstGeom>
          <a:solidFill>
            <a:srgbClr val="1F5673"/>
          </a:solidFill>
          <a:ln w="12700">
            <a:solidFill>
              <a:srgbClr val="1F5673"/>
            </a:solidFill>
            <a:prstDash val="solid"/>
          </a:ln>
        </p:spPr>
      </p:sp>
      <p:sp>
        <p:nvSpPr>
          <p:cNvPr id="13" name="Text 11"/>
          <p:cNvSpPr txBox="1"/>
          <p:nvPr/>
        </p:nvSpPr>
        <p:spPr>
          <a:xfrm>
            <a:off x="4622292" y="27066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4622292" y="32552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Massively extensible</a:t>
            </a:r>
            <a:endParaRPr lang="en-US" sz="1400" dirty="0"/>
          </a:p>
        </p:txBody>
      </p:sp>
      <p:sp>
        <p:nvSpPr>
          <p:cNvPr id="15" name="Text 13"/>
          <p:cNvSpPr txBox="1"/>
          <p:nvPr/>
        </p:nvSpPr>
        <p:spPr>
          <a:xfrm>
            <a:off x="4622292" y="36027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Over 1,800 plugins cover source control, build tools, cloud providers, notifications and reporting.</a:t>
            </a:r>
            <a:endParaRPr lang="en-US" sz="1150" dirty="0"/>
          </a:p>
        </p:txBody>
      </p:sp>
      <p:sp>
        <p:nvSpPr>
          <p:cNvPr id="16" name="Shape 14"/>
          <p:cNvSpPr/>
          <p:nvPr/>
        </p:nvSpPr>
        <p:spPr>
          <a:xfrm>
            <a:off x="8129016" y="24688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8366760" y="2706624"/>
            <a:ext cx="420624" cy="420624"/>
          </a:xfrm>
          <a:prstGeom prst="ellipse">
            <a:avLst/>
          </a:prstGeom>
          <a:solidFill>
            <a:srgbClr val="1F5673"/>
          </a:solidFill>
          <a:ln w="12700">
            <a:solidFill>
              <a:srgbClr val="1F5673"/>
            </a:solidFill>
            <a:prstDash val="solid"/>
          </a:ln>
        </p:spPr>
      </p:sp>
      <p:sp>
        <p:nvSpPr>
          <p:cNvPr id="18" name="Text 16"/>
          <p:cNvSpPr txBox="1"/>
          <p:nvPr/>
        </p:nvSpPr>
        <p:spPr>
          <a:xfrm>
            <a:off x="8366760" y="27066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9" name="Text 17"/>
          <p:cNvSpPr txBox="1"/>
          <p:nvPr/>
        </p:nvSpPr>
        <p:spPr>
          <a:xfrm>
            <a:off x="8366760" y="32552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Runs anywhere</a:t>
            </a:r>
            <a:endParaRPr lang="en-US" sz="1400" dirty="0"/>
          </a:p>
        </p:txBody>
      </p:sp>
      <p:sp>
        <p:nvSpPr>
          <p:cNvPr id="20" name="Text 18"/>
          <p:cNvSpPr txBox="1"/>
          <p:nvPr/>
        </p:nvSpPr>
        <p:spPr>
          <a:xfrm>
            <a:off x="8366760" y="36027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Java application: bare metal, a virtual machine, a container, or a Kubernetes cluster.</a:t>
            </a:r>
            <a:endParaRPr lang="en-US" sz="1150" dirty="0"/>
          </a:p>
        </p:txBody>
      </p:sp>
      <p:sp>
        <p:nvSpPr>
          <p:cNvPr id="21" name="Shape 19"/>
          <p:cNvSpPr/>
          <p:nvPr/>
        </p:nvSpPr>
        <p:spPr>
          <a:xfrm>
            <a:off x="640080" y="42976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2" name="Shape 20"/>
          <p:cNvSpPr/>
          <p:nvPr/>
        </p:nvSpPr>
        <p:spPr>
          <a:xfrm>
            <a:off x="877824" y="4535424"/>
            <a:ext cx="420624" cy="420624"/>
          </a:xfrm>
          <a:prstGeom prst="ellipse">
            <a:avLst/>
          </a:prstGeom>
          <a:solidFill>
            <a:srgbClr val="1F5673"/>
          </a:solidFill>
          <a:ln w="12700">
            <a:solidFill>
              <a:srgbClr val="1F5673"/>
            </a:solidFill>
            <a:prstDash val="solid"/>
          </a:ln>
        </p:spPr>
      </p:sp>
      <p:sp>
        <p:nvSpPr>
          <p:cNvPr id="23" name="Text 21"/>
          <p:cNvSpPr txBox="1"/>
          <p:nvPr/>
        </p:nvSpPr>
        <p:spPr>
          <a:xfrm>
            <a:off x="877824" y="4535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4" name="Text 22"/>
          <p:cNvSpPr txBox="1"/>
          <p:nvPr/>
        </p:nvSpPr>
        <p:spPr>
          <a:xfrm>
            <a:off x="877824" y="50840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Pipeline as code</a:t>
            </a:r>
            <a:endParaRPr lang="en-US" sz="1400" dirty="0"/>
          </a:p>
        </p:txBody>
      </p:sp>
      <p:sp>
        <p:nvSpPr>
          <p:cNvPr id="25" name="Text 23"/>
          <p:cNvSpPr txBox="1"/>
          <p:nvPr/>
        </p:nvSpPr>
        <p:spPr>
          <a:xfrm>
            <a:off x="877824" y="54315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Build definitions live in a Jenkinsfile in your repository, versioned alongside the application.</a:t>
            </a:r>
            <a:endParaRPr lang="en-US" sz="1150" dirty="0"/>
          </a:p>
        </p:txBody>
      </p:sp>
      <p:sp>
        <p:nvSpPr>
          <p:cNvPr id="26" name="Shape 24"/>
          <p:cNvSpPr/>
          <p:nvPr/>
        </p:nvSpPr>
        <p:spPr>
          <a:xfrm>
            <a:off x="4384548" y="42976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7" name="Shape 25"/>
          <p:cNvSpPr/>
          <p:nvPr/>
        </p:nvSpPr>
        <p:spPr>
          <a:xfrm>
            <a:off x="4622292" y="4535424"/>
            <a:ext cx="420624" cy="420624"/>
          </a:xfrm>
          <a:prstGeom prst="ellipse">
            <a:avLst/>
          </a:prstGeom>
          <a:solidFill>
            <a:srgbClr val="1F5673"/>
          </a:solidFill>
          <a:ln w="12700">
            <a:solidFill>
              <a:srgbClr val="1F5673"/>
            </a:solidFill>
            <a:prstDash val="solid"/>
          </a:ln>
        </p:spPr>
      </p:sp>
      <p:sp>
        <p:nvSpPr>
          <p:cNvPr id="28" name="Text 26"/>
          <p:cNvSpPr txBox="1"/>
          <p:nvPr/>
        </p:nvSpPr>
        <p:spPr>
          <a:xfrm>
            <a:off x="4622292" y="4535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9" name="Text 27"/>
          <p:cNvSpPr txBox="1"/>
          <p:nvPr/>
        </p:nvSpPr>
        <p:spPr>
          <a:xfrm>
            <a:off x="4622292" y="50840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Distributed by design</a:t>
            </a:r>
            <a:endParaRPr lang="en-US" sz="1400" dirty="0"/>
          </a:p>
        </p:txBody>
      </p:sp>
      <p:sp>
        <p:nvSpPr>
          <p:cNvPr id="30" name="Text 28"/>
          <p:cNvSpPr txBox="1"/>
          <p:nvPr/>
        </p:nvSpPr>
        <p:spPr>
          <a:xfrm>
            <a:off x="4622292" y="54315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controller coordinates work; agents execute it, on as many machines and platforms as you need.</a:t>
            </a:r>
            <a:endParaRPr lang="en-US" sz="1150" dirty="0"/>
          </a:p>
        </p:txBody>
      </p:sp>
      <p:sp>
        <p:nvSpPr>
          <p:cNvPr id="31" name="Shape 29"/>
          <p:cNvSpPr/>
          <p:nvPr/>
        </p:nvSpPr>
        <p:spPr>
          <a:xfrm>
            <a:off x="8129016" y="4297680"/>
            <a:ext cx="3419856" cy="1645920"/>
          </a:xfrm>
          <a:prstGeom prst="roundRect">
            <a:avLst>
              <a:gd name="adj" fmla="val 333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2" name="Shape 30"/>
          <p:cNvSpPr/>
          <p:nvPr/>
        </p:nvSpPr>
        <p:spPr>
          <a:xfrm>
            <a:off x="8366760" y="4535424"/>
            <a:ext cx="420624" cy="420624"/>
          </a:xfrm>
          <a:prstGeom prst="ellipse">
            <a:avLst/>
          </a:prstGeom>
          <a:solidFill>
            <a:srgbClr val="1F5673"/>
          </a:solidFill>
          <a:ln w="12700">
            <a:solidFill>
              <a:srgbClr val="1F5673"/>
            </a:solidFill>
            <a:prstDash val="solid"/>
          </a:ln>
        </p:spPr>
      </p:sp>
      <p:sp>
        <p:nvSpPr>
          <p:cNvPr id="33" name="Text 31"/>
          <p:cNvSpPr txBox="1"/>
          <p:nvPr/>
        </p:nvSpPr>
        <p:spPr>
          <a:xfrm>
            <a:off x="8366760" y="45354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4" name="Text 32"/>
          <p:cNvSpPr txBox="1"/>
          <p:nvPr/>
        </p:nvSpPr>
        <p:spPr>
          <a:xfrm>
            <a:off x="8366760" y="508406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Vendor-neutral</a:t>
            </a:r>
            <a:endParaRPr lang="en-US" sz="1400" dirty="0"/>
          </a:p>
        </p:txBody>
      </p:sp>
      <p:sp>
        <p:nvSpPr>
          <p:cNvPr id="35" name="Text 33"/>
          <p:cNvSpPr txBox="1"/>
          <p:nvPr/>
        </p:nvSpPr>
        <p:spPr>
          <a:xfrm>
            <a:off x="8366760" y="5431536"/>
            <a:ext cx="2944368" cy="4389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Not tied to a hosting provider, which is why it persists in regulated and on-premises environments.</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LANDSCAPE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Jenkins and the alternatives</a:t>
            </a:r>
            <a:endParaRPr lang="en-US" sz="3100" dirty="0"/>
          </a:p>
        </p:txBody>
      </p:sp>
      <p:sp>
        <p:nvSpPr>
          <p:cNvPr id="4" name="Shape 2"/>
          <p:cNvSpPr/>
          <p:nvPr/>
        </p:nvSpPr>
        <p:spPr>
          <a:xfrm>
            <a:off x="640080" y="1572768"/>
            <a:ext cx="2514600" cy="27432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572768"/>
            <a:ext cx="2514600" cy="822960"/>
          </a:xfrm>
          <a:prstGeom prst="roundRect">
            <a:avLst>
              <a:gd name="adj" fmla="val 6667"/>
            </a:avLst>
          </a:prstGeom>
          <a:solidFill>
            <a:srgbClr val="1F5673"/>
          </a:solidFill>
          <a:ln w="12700">
            <a:solidFill>
              <a:srgbClr val="1F5673"/>
            </a:solidFill>
            <a:prstDash val="solid"/>
          </a:ln>
        </p:spPr>
      </p:sp>
      <p:sp>
        <p:nvSpPr>
          <p:cNvPr id="6" name="Text 4"/>
          <p:cNvSpPr txBox="1"/>
          <p:nvPr/>
        </p:nvSpPr>
        <p:spPr>
          <a:xfrm>
            <a:off x="877824" y="1664208"/>
            <a:ext cx="2039112"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Jenkins</a:t>
            </a:r>
            <a:endParaRPr lang="en-US" sz="1550" dirty="0"/>
          </a:p>
        </p:txBody>
      </p:sp>
      <p:sp>
        <p:nvSpPr>
          <p:cNvPr id="7" name="Text 5"/>
          <p:cNvSpPr txBox="1"/>
          <p:nvPr/>
        </p:nvSpPr>
        <p:spPr>
          <a:xfrm>
            <a:off x="877824" y="2011680"/>
            <a:ext cx="2039112" cy="274320"/>
          </a:xfrm>
          <a:prstGeom prst="rect">
            <a:avLst/>
          </a:prstGeom>
          <a:noFill/>
          <a:ln/>
        </p:spPr>
        <p:txBody>
          <a:bodyPr wrap="square" lIns="0" tIns="0" rIns="0" bIns="0" rtlCol="0" anchor="ctr"/>
          <a:lstStyle/>
          <a:p>
            <a:pPr indent="0" marL="0">
              <a:buNone/>
            </a:pPr>
            <a:r>
              <a:rPr lang="en-US" sz="1100" dirty="0">
                <a:solidFill>
                  <a:srgbClr val="CBD6E0"/>
                </a:solidFill>
                <a:latin typeface="Calibri" pitchFamily="34" charset="0"/>
                <a:ea typeface="Calibri" pitchFamily="34" charset="-122"/>
                <a:cs typeface="Calibri" pitchFamily="34" charset="-120"/>
              </a:rPr>
              <a:t>Self-hosted</a:t>
            </a:r>
            <a:endParaRPr lang="en-US" sz="1100" dirty="0"/>
          </a:p>
        </p:txBody>
      </p:sp>
      <p:sp>
        <p:nvSpPr>
          <p:cNvPr id="8" name="Text 6"/>
          <p:cNvSpPr txBox="1"/>
          <p:nvPr/>
        </p:nvSpPr>
        <p:spPr>
          <a:xfrm>
            <a:off x="877824" y="2542032"/>
            <a:ext cx="2039112" cy="164592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Maximum flexibility and control; you run and maintain the server yourself.</a:t>
            </a:r>
            <a:endParaRPr lang="en-US" sz="1250" dirty="0"/>
          </a:p>
        </p:txBody>
      </p:sp>
      <p:sp>
        <p:nvSpPr>
          <p:cNvPr id="9" name="Shape 7"/>
          <p:cNvSpPr/>
          <p:nvPr/>
        </p:nvSpPr>
        <p:spPr>
          <a:xfrm>
            <a:off x="3456432" y="1572768"/>
            <a:ext cx="2514600" cy="27432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3456432" y="1572768"/>
            <a:ext cx="2514600" cy="822960"/>
          </a:xfrm>
          <a:prstGeom prst="roundRect">
            <a:avLst>
              <a:gd name="adj" fmla="val 6667"/>
            </a:avLst>
          </a:prstGeom>
          <a:solidFill>
            <a:srgbClr val="2C3E50"/>
          </a:solidFill>
          <a:ln w="12700">
            <a:solidFill>
              <a:srgbClr val="2C3E50"/>
            </a:solidFill>
            <a:prstDash val="solid"/>
          </a:ln>
        </p:spPr>
      </p:sp>
      <p:sp>
        <p:nvSpPr>
          <p:cNvPr id="11" name="Text 9"/>
          <p:cNvSpPr txBox="1"/>
          <p:nvPr/>
        </p:nvSpPr>
        <p:spPr>
          <a:xfrm>
            <a:off x="3694176" y="1664208"/>
            <a:ext cx="2039112"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GitHub Actions</a:t>
            </a:r>
            <a:endParaRPr lang="en-US" sz="1550" dirty="0"/>
          </a:p>
        </p:txBody>
      </p:sp>
      <p:sp>
        <p:nvSpPr>
          <p:cNvPr id="12" name="Text 10"/>
          <p:cNvSpPr txBox="1"/>
          <p:nvPr/>
        </p:nvSpPr>
        <p:spPr>
          <a:xfrm>
            <a:off x="3694176" y="2011680"/>
            <a:ext cx="2039112" cy="274320"/>
          </a:xfrm>
          <a:prstGeom prst="rect">
            <a:avLst/>
          </a:prstGeom>
          <a:noFill/>
          <a:ln/>
        </p:spPr>
        <p:txBody>
          <a:bodyPr wrap="square" lIns="0" tIns="0" rIns="0" bIns="0" rtlCol="0" anchor="ctr"/>
          <a:lstStyle/>
          <a:p>
            <a:pPr indent="0" marL="0">
              <a:buNone/>
            </a:pPr>
            <a:r>
              <a:rPr lang="en-US" sz="1100" dirty="0">
                <a:solidFill>
                  <a:srgbClr val="CBD6E0"/>
                </a:solidFill>
                <a:latin typeface="Calibri" pitchFamily="34" charset="0"/>
                <a:ea typeface="Calibri" pitchFamily="34" charset="-122"/>
                <a:cs typeface="Calibri" pitchFamily="34" charset="-120"/>
              </a:rPr>
              <a:t>Hosted</a:t>
            </a:r>
            <a:endParaRPr lang="en-US" sz="1100" dirty="0"/>
          </a:p>
        </p:txBody>
      </p:sp>
      <p:sp>
        <p:nvSpPr>
          <p:cNvPr id="13" name="Text 11"/>
          <p:cNvSpPr txBox="1"/>
          <p:nvPr/>
        </p:nvSpPr>
        <p:spPr>
          <a:xfrm>
            <a:off x="3694176" y="2542032"/>
            <a:ext cx="2039112" cy="164592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Workflows live beside the code on GitHub; no server to run, tied to that platform.</a:t>
            </a:r>
            <a:endParaRPr lang="en-US" sz="1250" dirty="0"/>
          </a:p>
        </p:txBody>
      </p:sp>
      <p:sp>
        <p:nvSpPr>
          <p:cNvPr id="14" name="Shape 12"/>
          <p:cNvSpPr/>
          <p:nvPr/>
        </p:nvSpPr>
        <p:spPr>
          <a:xfrm>
            <a:off x="6272784" y="1572768"/>
            <a:ext cx="2514600" cy="27432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6272784" y="1572768"/>
            <a:ext cx="2514600" cy="822960"/>
          </a:xfrm>
          <a:prstGeom prst="roundRect">
            <a:avLst>
              <a:gd name="adj" fmla="val 6667"/>
            </a:avLst>
          </a:prstGeom>
          <a:solidFill>
            <a:srgbClr val="141C26"/>
          </a:solidFill>
          <a:ln w="12700">
            <a:solidFill>
              <a:srgbClr val="141C26"/>
            </a:solidFill>
            <a:prstDash val="solid"/>
          </a:ln>
        </p:spPr>
      </p:sp>
      <p:sp>
        <p:nvSpPr>
          <p:cNvPr id="16" name="Text 14"/>
          <p:cNvSpPr txBox="1"/>
          <p:nvPr/>
        </p:nvSpPr>
        <p:spPr>
          <a:xfrm>
            <a:off x="6510528" y="1664208"/>
            <a:ext cx="2039112"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GitLab CI</a:t>
            </a:r>
            <a:endParaRPr lang="en-US" sz="1550" dirty="0"/>
          </a:p>
        </p:txBody>
      </p:sp>
      <p:sp>
        <p:nvSpPr>
          <p:cNvPr id="17" name="Text 15"/>
          <p:cNvSpPr txBox="1"/>
          <p:nvPr/>
        </p:nvSpPr>
        <p:spPr>
          <a:xfrm>
            <a:off x="6510528" y="2011680"/>
            <a:ext cx="2039112" cy="274320"/>
          </a:xfrm>
          <a:prstGeom prst="rect">
            <a:avLst/>
          </a:prstGeom>
          <a:noFill/>
          <a:ln/>
        </p:spPr>
        <p:txBody>
          <a:bodyPr wrap="square" lIns="0" tIns="0" rIns="0" bIns="0" rtlCol="0" anchor="ctr"/>
          <a:lstStyle/>
          <a:p>
            <a:pPr indent="0" marL="0">
              <a:buNone/>
            </a:pPr>
            <a:r>
              <a:rPr lang="en-US" sz="1100" dirty="0">
                <a:solidFill>
                  <a:srgbClr val="CBD6E0"/>
                </a:solidFill>
                <a:latin typeface="Calibri" pitchFamily="34" charset="0"/>
                <a:ea typeface="Calibri" pitchFamily="34" charset="-122"/>
                <a:cs typeface="Calibri" pitchFamily="34" charset="-120"/>
              </a:rPr>
              <a:t>Either</a:t>
            </a:r>
            <a:endParaRPr lang="en-US" sz="1100" dirty="0"/>
          </a:p>
        </p:txBody>
      </p:sp>
      <p:sp>
        <p:nvSpPr>
          <p:cNvPr id="18" name="Text 16"/>
          <p:cNvSpPr txBox="1"/>
          <p:nvPr/>
        </p:nvSpPr>
        <p:spPr>
          <a:xfrm>
            <a:off x="6510528" y="2542032"/>
            <a:ext cx="2039112" cy="164592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Built into GitLab; a .gitlab-ci.yml file and runners you host or GitLab hosts.</a:t>
            </a:r>
            <a:endParaRPr lang="en-US" sz="1250" dirty="0"/>
          </a:p>
        </p:txBody>
      </p:sp>
      <p:sp>
        <p:nvSpPr>
          <p:cNvPr id="19" name="Shape 17"/>
          <p:cNvSpPr/>
          <p:nvPr/>
        </p:nvSpPr>
        <p:spPr>
          <a:xfrm>
            <a:off x="9089136" y="1572768"/>
            <a:ext cx="2514600" cy="27432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9089136" y="1572768"/>
            <a:ext cx="2514600" cy="822960"/>
          </a:xfrm>
          <a:prstGeom prst="roundRect">
            <a:avLst>
              <a:gd name="adj" fmla="val 6667"/>
            </a:avLst>
          </a:prstGeom>
          <a:solidFill>
            <a:srgbClr val="2C3E50"/>
          </a:solidFill>
          <a:ln w="12700">
            <a:solidFill>
              <a:srgbClr val="2C3E50"/>
            </a:solidFill>
            <a:prstDash val="solid"/>
          </a:ln>
        </p:spPr>
      </p:sp>
      <p:sp>
        <p:nvSpPr>
          <p:cNvPr id="21" name="Text 19"/>
          <p:cNvSpPr txBox="1"/>
          <p:nvPr/>
        </p:nvSpPr>
        <p:spPr>
          <a:xfrm>
            <a:off x="9326880" y="1664208"/>
            <a:ext cx="2039112" cy="347472"/>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Others</a:t>
            </a:r>
            <a:endParaRPr lang="en-US" sz="1550" dirty="0"/>
          </a:p>
        </p:txBody>
      </p:sp>
      <p:sp>
        <p:nvSpPr>
          <p:cNvPr id="22" name="Text 20"/>
          <p:cNvSpPr txBox="1"/>
          <p:nvPr/>
        </p:nvSpPr>
        <p:spPr>
          <a:xfrm>
            <a:off x="9326880" y="2011680"/>
            <a:ext cx="2039112" cy="274320"/>
          </a:xfrm>
          <a:prstGeom prst="rect">
            <a:avLst/>
          </a:prstGeom>
          <a:noFill/>
          <a:ln/>
        </p:spPr>
        <p:txBody>
          <a:bodyPr wrap="square" lIns="0" tIns="0" rIns="0" bIns="0" rtlCol="0" anchor="ctr"/>
          <a:lstStyle/>
          <a:p>
            <a:pPr indent="0" marL="0">
              <a:buNone/>
            </a:pPr>
            <a:r>
              <a:rPr lang="en-US" sz="1100" dirty="0">
                <a:solidFill>
                  <a:srgbClr val="CBD6E0"/>
                </a:solidFill>
                <a:latin typeface="Calibri" pitchFamily="34" charset="0"/>
                <a:ea typeface="Calibri" pitchFamily="34" charset="-122"/>
                <a:cs typeface="Calibri" pitchFamily="34" charset="-120"/>
              </a:rPr>
              <a:t>Varies</a:t>
            </a:r>
            <a:endParaRPr lang="en-US" sz="1100" dirty="0"/>
          </a:p>
        </p:txBody>
      </p:sp>
      <p:sp>
        <p:nvSpPr>
          <p:cNvPr id="23" name="Text 21"/>
          <p:cNvSpPr txBox="1"/>
          <p:nvPr/>
        </p:nvSpPr>
        <p:spPr>
          <a:xfrm>
            <a:off x="9326880" y="2542032"/>
            <a:ext cx="2039112" cy="164592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Azure Pipelines, CircleCI, TeamCity, Bamboo, AWS CodePipeline, Argo CD for Kubernetes.</a:t>
            </a:r>
            <a:endParaRPr lang="en-US" sz="1250" dirty="0"/>
          </a:p>
        </p:txBody>
      </p:sp>
      <p:sp>
        <p:nvSpPr>
          <p:cNvPr id="24" name="Shape 22"/>
          <p:cNvSpPr/>
          <p:nvPr/>
        </p:nvSpPr>
        <p:spPr>
          <a:xfrm>
            <a:off x="640080" y="4526280"/>
            <a:ext cx="10908792" cy="1508760"/>
          </a:xfrm>
          <a:prstGeom prst="roundRect">
            <a:avLst>
              <a:gd name="adj" fmla="val 3636"/>
            </a:avLst>
          </a:prstGeom>
          <a:solidFill>
            <a:srgbClr val="EAF1F6"/>
          </a:solidFill>
          <a:ln w="12700">
            <a:solidFill>
              <a:srgbClr val="1F5673"/>
            </a:solidFill>
            <a:prstDash val="solid"/>
          </a:ln>
        </p:spPr>
      </p:sp>
      <p:sp>
        <p:nvSpPr>
          <p:cNvPr id="25" name="Text 23"/>
          <p:cNvSpPr txBox="1"/>
          <p:nvPr/>
        </p:nvSpPr>
        <p:spPr>
          <a:xfrm>
            <a:off x="960120" y="4700016"/>
            <a:ext cx="10268712" cy="292608"/>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Why learn Jenkins first</a:t>
            </a:r>
            <a:endParaRPr lang="en-US" sz="1400" dirty="0"/>
          </a:p>
        </p:txBody>
      </p:sp>
      <p:sp>
        <p:nvSpPr>
          <p:cNvPr id="26" name="Text 24"/>
          <p:cNvSpPr txBox="1"/>
          <p:nvPr/>
        </p:nvSpPr>
        <p:spPr>
          <a:xfrm>
            <a:off x="960120" y="5047488"/>
            <a:ext cx="10268712" cy="868680"/>
          </a:xfrm>
          <a:prstGeom prst="rect">
            <a:avLst/>
          </a:prstGeom>
          <a:noFill/>
          <a:ln/>
        </p:spPr>
        <p:txBody>
          <a:bodyPr wrap="square" lIns="0" tIns="0" rIns="0" bIns="0" rtlCol="0" anchor="ctr"/>
          <a:lstStyle/>
          <a:p>
            <a:pPr indent="0" marL="0">
              <a:lnSpc>
                <a:spcPct val="106000"/>
              </a:lnSpc>
              <a:buNone/>
            </a:pPr>
            <a:r>
              <a:rPr lang="en-US" sz="1350" dirty="0">
                <a:solidFill>
                  <a:srgbClr val="28313B"/>
                </a:solidFill>
                <a:latin typeface="Calibri" pitchFamily="34" charset="0"/>
                <a:ea typeface="Calibri" pitchFamily="34" charset="-122"/>
                <a:cs typeface="Calibri" pitchFamily="34" charset="-120"/>
              </a:rPr>
              <a:t>The concepts are identical everywhere: a trigger, a set of stages, agents that execute them, and artifacts that come out the other end. Jenkins makes every one of those pieces visible rather than hiding them behind a hosted service — which is exactly why it teaches the model well.</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SETUP</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Installing Jenkins</a:t>
            </a:r>
            <a:endParaRPr lang="en-US" sz="3100" dirty="0"/>
          </a:p>
        </p:txBody>
      </p:sp>
      <p:sp>
        <p:nvSpPr>
          <p:cNvPr id="4" name="Text 2"/>
          <p:cNvSpPr txBox="1"/>
          <p:nvPr/>
        </p:nvSpPr>
        <p:spPr>
          <a:xfrm>
            <a:off x="640080" y="1408176"/>
            <a:ext cx="10908792" cy="310896"/>
          </a:xfrm>
          <a:prstGeom prst="rect">
            <a:avLst/>
          </a:prstGeom>
          <a:noFill/>
          <a:ln/>
        </p:spPr>
        <p:txBody>
          <a:bodyPr wrap="square" lIns="0" tIns="0" rIns="0" bIns="0" rtlCol="0" anchor="ctr"/>
          <a:lstStyle/>
          <a:p>
            <a:pPr indent="0" marL="0">
              <a:buNone/>
            </a:pPr>
            <a:r>
              <a:rPr lang="en-US" sz="1400" dirty="0">
                <a:solidFill>
                  <a:srgbClr val="28313B"/>
                </a:solidFill>
                <a:latin typeface="Calibri" pitchFamily="34" charset="0"/>
                <a:ea typeface="Calibri" pitchFamily="34" charset="-122"/>
                <a:cs typeface="Calibri" pitchFamily="34" charset="-120"/>
              </a:rPr>
              <a:t>Jenkins needs a supported Java runtime and listens on port 8080 by default.</a:t>
            </a:r>
            <a:endParaRPr lang="en-US" sz="1400" dirty="0"/>
          </a:p>
        </p:txBody>
      </p:sp>
      <p:sp>
        <p:nvSpPr>
          <p:cNvPr id="5" name="Shape 3"/>
          <p:cNvSpPr/>
          <p:nvPr/>
        </p:nvSpPr>
        <p:spPr>
          <a:xfrm>
            <a:off x="640080" y="1783080"/>
            <a:ext cx="5669280" cy="2286000"/>
          </a:xfrm>
          <a:prstGeom prst="roundRect">
            <a:avLst>
              <a:gd name="adj" fmla="val 2000"/>
            </a:avLst>
          </a:prstGeom>
          <a:solidFill>
            <a:srgbClr val="141C26"/>
          </a:solidFill>
          <a:ln w="12700">
            <a:solidFill>
              <a:srgbClr val="2C3E50"/>
            </a:solidFill>
            <a:prstDash val="solid"/>
          </a:ln>
        </p:spPr>
      </p:sp>
      <p:sp>
        <p:nvSpPr>
          <p:cNvPr id="6" name="Text 4"/>
          <p:cNvSpPr txBox="1"/>
          <p:nvPr/>
        </p:nvSpPr>
        <p:spPr>
          <a:xfrm>
            <a:off x="896112" y="198424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LINUX — PACKAGE REPOSITORY</a:t>
            </a:r>
            <a:endParaRPr lang="en-US" sz="1250" dirty="0"/>
          </a:p>
        </p:txBody>
      </p:sp>
      <p:sp>
        <p:nvSpPr>
          <p:cNvPr id="7" name="Text 5"/>
          <p:cNvSpPr txBox="1"/>
          <p:nvPr/>
        </p:nvSpPr>
        <p:spPr>
          <a:xfrm>
            <a:off x="896112" y="2386584"/>
            <a:ext cx="5157216" cy="1517904"/>
          </a:xfrm>
          <a:prstGeom prst="rect">
            <a:avLst/>
          </a:prstGeom>
          <a:noFill/>
          <a:ln/>
        </p:spPr>
        <p:txBody>
          <a:bodyPr wrap="square" lIns="0" tIns="0" rIns="0" bIns="0" rtlCol="0" anchor="t"/>
          <a:lstStyle/>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sudo apt install openjdk-17-jre    # or dnf</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add the Jenkins repo and key, then:</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sudo apt install jenkins</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sudo systemctl enable --now jenkins</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sudo systemctl status jenkins</a:t>
            </a:r>
            <a:endParaRPr lang="en-US" sz="1150" dirty="0"/>
          </a:p>
        </p:txBody>
      </p:sp>
      <p:sp>
        <p:nvSpPr>
          <p:cNvPr id="8" name="Shape 6"/>
          <p:cNvSpPr/>
          <p:nvPr/>
        </p:nvSpPr>
        <p:spPr>
          <a:xfrm>
            <a:off x="6675120" y="1783080"/>
            <a:ext cx="4873752" cy="2286000"/>
          </a:xfrm>
          <a:prstGeom prst="roundRect">
            <a:avLst>
              <a:gd name="adj" fmla="val 2000"/>
            </a:avLst>
          </a:prstGeom>
          <a:solidFill>
            <a:srgbClr val="141C26"/>
          </a:solidFill>
          <a:ln w="12700">
            <a:solidFill>
              <a:srgbClr val="2C3E50"/>
            </a:solidFill>
            <a:prstDash val="solid"/>
          </a:ln>
        </p:spPr>
      </p:sp>
      <p:sp>
        <p:nvSpPr>
          <p:cNvPr id="9" name="Text 7"/>
          <p:cNvSpPr txBox="1"/>
          <p:nvPr/>
        </p:nvSpPr>
        <p:spPr>
          <a:xfrm>
            <a:off x="6931152" y="1984248"/>
            <a:ext cx="4361688"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DOCKER — FASTEST FOR LEARNING</a:t>
            </a:r>
            <a:endParaRPr lang="en-US" sz="1250" dirty="0"/>
          </a:p>
        </p:txBody>
      </p:sp>
      <p:sp>
        <p:nvSpPr>
          <p:cNvPr id="10" name="Text 8"/>
          <p:cNvSpPr txBox="1"/>
          <p:nvPr/>
        </p:nvSpPr>
        <p:spPr>
          <a:xfrm>
            <a:off x="6931152" y="2386584"/>
            <a:ext cx="4361688" cy="1517904"/>
          </a:xfrm>
          <a:prstGeom prst="rect">
            <a:avLst/>
          </a:prstGeom>
          <a:noFill/>
          <a:ln/>
        </p:spPr>
        <p:txBody>
          <a:bodyPr wrap="square" lIns="0" tIns="0" rIns="0" bIns="0" rtlCol="0" anchor="t"/>
          <a:lstStyle/>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docker run -d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-p 8080:8080 -p 50000:50000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-v jenkins_home:/var/jenkins_home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--name jenkins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jenkins/jenkins:lts</a:t>
            </a:r>
            <a:endParaRPr lang="en-US" sz="1150" dirty="0"/>
          </a:p>
        </p:txBody>
      </p:sp>
      <p:sp>
        <p:nvSpPr>
          <p:cNvPr id="11" name="Shape 9"/>
          <p:cNvSpPr/>
          <p:nvPr/>
        </p:nvSpPr>
        <p:spPr>
          <a:xfrm>
            <a:off x="640080" y="4251960"/>
            <a:ext cx="2514600"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2" name="Shape 10"/>
          <p:cNvSpPr/>
          <p:nvPr/>
        </p:nvSpPr>
        <p:spPr>
          <a:xfrm>
            <a:off x="877824" y="4489704"/>
            <a:ext cx="420624" cy="420624"/>
          </a:xfrm>
          <a:prstGeom prst="ellipse">
            <a:avLst/>
          </a:prstGeom>
          <a:solidFill>
            <a:srgbClr val="1F5673"/>
          </a:solidFill>
          <a:ln w="12700">
            <a:solidFill>
              <a:srgbClr val="1F5673"/>
            </a:solidFill>
            <a:prstDash val="solid"/>
          </a:ln>
        </p:spPr>
      </p:sp>
      <p:sp>
        <p:nvSpPr>
          <p:cNvPr id="13" name="Text 11"/>
          <p:cNvSpPr txBox="1"/>
          <p:nvPr/>
        </p:nvSpPr>
        <p:spPr>
          <a:xfrm>
            <a:off x="877824" y="44897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877824" y="503834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Choose the LTS line</a:t>
            </a:r>
            <a:endParaRPr lang="en-US" sz="1350" dirty="0"/>
          </a:p>
        </p:txBody>
      </p:sp>
      <p:sp>
        <p:nvSpPr>
          <p:cNvPr id="15" name="Text 13"/>
          <p:cNvSpPr txBox="1"/>
          <p:nvPr/>
        </p:nvSpPr>
        <p:spPr>
          <a:xfrm>
            <a:off x="877824" y="5385816"/>
            <a:ext cx="2039112" cy="6217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Long-term support releases change less often and are what most organisations run.</a:t>
            </a:r>
            <a:endParaRPr lang="en-US" sz="1150" dirty="0"/>
          </a:p>
        </p:txBody>
      </p:sp>
      <p:sp>
        <p:nvSpPr>
          <p:cNvPr id="16" name="Shape 14"/>
          <p:cNvSpPr/>
          <p:nvPr/>
        </p:nvSpPr>
        <p:spPr>
          <a:xfrm>
            <a:off x="3456432" y="4251960"/>
            <a:ext cx="2514600"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3694176" y="4489704"/>
            <a:ext cx="420624" cy="420624"/>
          </a:xfrm>
          <a:prstGeom prst="ellipse">
            <a:avLst/>
          </a:prstGeom>
          <a:solidFill>
            <a:srgbClr val="1F5673"/>
          </a:solidFill>
          <a:ln w="12700">
            <a:solidFill>
              <a:srgbClr val="1F5673"/>
            </a:solidFill>
            <a:prstDash val="solid"/>
          </a:ln>
        </p:spPr>
      </p:sp>
      <p:sp>
        <p:nvSpPr>
          <p:cNvPr id="18" name="Text 16"/>
          <p:cNvSpPr txBox="1"/>
          <p:nvPr/>
        </p:nvSpPr>
        <p:spPr>
          <a:xfrm>
            <a:off x="3694176" y="44897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3694176" y="503834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Port 8080 and 50000</a:t>
            </a:r>
            <a:endParaRPr lang="en-US" sz="1350" dirty="0"/>
          </a:p>
        </p:txBody>
      </p:sp>
      <p:sp>
        <p:nvSpPr>
          <p:cNvPr id="20" name="Text 18"/>
          <p:cNvSpPr txBox="1"/>
          <p:nvPr/>
        </p:nvSpPr>
        <p:spPr>
          <a:xfrm>
            <a:off x="3694176" y="5385816"/>
            <a:ext cx="2039112" cy="6217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8080 serves the web interface; 50000 is the inbound agent port used in session 2.</a:t>
            </a:r>
            <a:endParaRPr lang="en-US" sz="1150" dirty="0"/>
          </a:p>
        </p:txBody>
      </p:sp>
      <p:sp>
        <p:nvSpPr>
          <p:cNvPr id="21" name="Shape 19"/>
          <p:cNvSpPr/>
          <p:nvPr/>
        </p:nvSpPr>
        <p:spPr>
          <a:xfrm>
            <a:off x="6272784" y="4251960"/>
            <a:ext cx="2514600"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2" name="Shape 20"/>
          <p:cNvSpPr/>
          <p:nvPr/>
        </p:nvSpPr>
        <p:spPr>
          <a:xfrm>
            <a:off x="6510528" y="4489704"/>
            <a:ext cx="420624" cy="420624"/>
          </a:xfrm>
          <a:prstGeom prst="ellipse">
            <a:avLst/>
          </a:prstGeom>
          <a:solidFill>
            <a:srgbClr val="1F5673"/>
          </a:solidFill>
          <a:ln w="12700">
            <a:solidFill>
              <a:srgbClr val="1F5673"/>
            </a:solidFill>
            <a:prstDash val="solid"/>
          </a:ln>
        </p:spPr>
      </p:sp>
      <p:sp>
        <p:nvSpPr>
          <p:cNvPr id="23" name="Text 21"/>
          <p:cNvSpPr txBox="1"/>
          <p:nvPr/>
        </p:nvSpPr>
        <p:spPr>
          <a:xfrm>
            <a:off x="6510528" y="44897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4" name="Text 22"/>
          <p:cNvSpPr txBox="1"/>
          <p:nvPr/>
        </p:nvSpPr>
        <p:spPr>
          <a:xfrm>
            <a:off x="6510528" y="503834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Run as a service</a:t>
            </a:r>
            <a:endParaRPr lang="en-US" sz="1350" dirty="0"/>
          </a:p>
        </p:txBody>
      </p:sp>
      <p:sp>
        <p:nvSpPr>
          <p:cNvPr id="25" name="Text 23"/>
          <p:cNvSpPr txBox="1"/>
          <p:nvPr/>
        </p:nvSpPr>
        <p:spPr>
          <a:xfrm>
            <a:off x="6510528" y="5385816"/>
            <a:ext cx="2039112" cy="6217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package installs a systemd unit and a jenkins user — do not run it as root.</a:t>
            </a:r>
            <a:endParaRPr lang="en-US" sz="1150" dirty="0"/>
          </a:p>
        </p:txBody>
      </p:sp>
      <p:sp>
        <p:nvSpPr>
          <p:cNvPr id="26" name="Shape 24"/>
          <p:cNvSpPr/>
          <p:nvPr/>
        </p:nvSpPr>
        <p:spPr>
          <a:xfrm>
            <a:off x="9089136" y="4251960"/>
            <a:ext cx="2514600"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7" name="Shape 25"/>
          <p:cNvSpPr/>
          <p:nvPr/>
        </p:nvSpPr>
        <p:spPr>
          <a:xfrm>
            <a:off x="9326880" y="4489704"/>
            <a:ext cx="420624" cy="420624"/>
          </a:xfrm>
          <a:prstGeom prst="ellipse">
            <a:avLst/>
          </a:prstGeom>
          <a:solidFill>
            <a:srgbClr val="1F5673"/>
          </a:solidFill>
          <a:ln w="12700">
            <a:solidFill>
              <a:srgbClr val="1F5673"/>
            </a:solidFill>
            <a:prstDash val="solid"/>
          </a:ln>
        </p:spPr>
      </p:sp>
      <p:sp>
        <p:nvSpPr>
          <p:cNvPr id="28" name="Text 26"/>
          <p:cNvSpPr txBox="1"/>
          <p:nvPr/>
        </p:nvSpPr>
        <p:spPr>
          <a:xfrm>
            <a:off x="9326880" y="448970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9" name="Text 27"/>
          <p:cNvSpPr txBox="1"/>
          <p:nvPr/>
        </p:nvSpPr>
        <p:spPr>
          <a:xfrm>
            <a:off x="9326880" y="503834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Front it with HTTPS</a:t>
            </a:r>
            <a:endParaRPr lang="en-US" sz="1350" dirty="0"/>
          </a:p>
        </p:txBody>
      </p:sp>
      <p:sp>
        <p:nvSpPr>
          <p:cNvPr id="30" name="Text 28"/>
          <p:cNvSpPr txBox="1"/>
          <p:nvPr/>
        </p:nvSpPr>
        <p:spPr>
          <a:xfrm>
            <a:off x="9326880" y="5385816"/>
            <a:ext cx="2039112" cy="6217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In anything beyond a lab, put Nginx or a load balancer in front and terminate TLS there.</a:t>
            </a:r>
            <a:endParaRPr lang="en-US" sz="11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SETUP</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The first-run wizard</a:t>
            </a:r>
            <a:endParaRPr lang="en-US" sz="3100" dirty="0"/>
          </a:p>
        </p:txBody>
      </p:sp>
      <p:sp>
        <p:nvSpPr>
          <p:cNvPr id="4" name="Shape 2"/>
          <p:cNvSpPr/>
          <p:nvPr/>
        </p:nvSpPr>
        <p:spPr>
          <a:xfrm>
            <a:off x="640080" y="1600200"/>
            <a:ext cx="2514600" cy="25146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1623060" y="1810512"/>
            <a:ext cx="548640" cy="548640"/>
          </a:xfrm>
          <a:prstGeom prst="ellipse">
            <a:avLst/>
          </a:prstGeom>
          <a:solidFill>
            <a:srgbClr val="1F5673"/>
          </a:solidFill>
          <a:ln w="12700">
            <a:solidFill>
              <a:srgbClr val="1F5673"/>
            </a:solidFill>
            <a:prstDash val="solid"/>
          </a:ln>
        </p:spPr>
      </p:sp>
      <p:sp>
        <p:nvSpPr>
          <p:cNvPr id="6" name="Text 4"/>
          <p:cNvSpPr txBox="1"/>
          <p:nvPr/>
        </p:nvSpPr>
        <p:spPr>
          <a:xfrm>
            <a:off x="1623060" y="181051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822960" y="2468880"/>
            <a:ext cx="2148840" cy="292608"/>
          </a:xfrm>
          <a:prstGeom prst="rect">
            <a:avLst/>
          </a:prstGeom>
          <a:noFill/>
          <a:ln/>
        </p:spPr>
        <p:txBody>
          <a:bodyPr wrap="square" lIns="0" tIns="0" rIns="0" bIns="0" rtlCol="0" anchor="ctr"/>
          <a:lstStyle/>
          <a:p>
            <a:pPr algn="ctr" indent="0" marL="0">
              <a:buNone/>
            </a:pPr>
            <a:r>
              <a:rPr lang="en-US" sz="1450" b="1" dirty="0">
                <a:solidFill>
                  <a:srgbClr val="141C26"/>
                </a:solidFill>
                <a:latin typeface="Calibri" pitchFamily="34" charset="0"/>
                <a:ea typeface="Calibri" pitchFamily="34" charset="-122"/>
                <a:cs typeface="Calibri" pitchFamily="34" charset="-120"/>
              </a:rPr>
              <a:t>Unlock Jenkins</a:t>
            </a:r>
            <a:endParaRPr lang="en-US" sz="1450" dirty="0"/>
          </a:p>
        </p:txBody>
      </p:sp>
      <p:sp>
        <p:nvSpPr>
          <p:cNvPr id="8" name="Text 6"/>
          <p:cNvSpPr txBox="1"/>
          <p:nvPr/>
        </p:nvSpPr>
        <p:spPr>
          <a:xfrm>
            <a:off x="841248" y="2798064"/>
            <a:ext cx="2112264" cy="1188720"/>
          </a:xfrm>
          <a:prstGeom prst="rect">
            <a:avLst/>
          </a:prstGeom>
          <a:noFill/>
          <a:ln/>
        </p:spPr>
        <p:txBody>
          <a:bodyPr wrap="square" lIns="0" tIns="0" rIns="0" bIns="0" rtlCol="0" anchor="ctr"/>
          <a:lstStyle/>
          <a:p>
            <a:pPr algn="ctr" indent="0" marL="0">
              <a:lnSpc>
                <a:spcPct val="105000"/>
              </a:lnSpc>
              <a:buNone/>
            </a:pPr>
            <a:r>
              <a:rPr lang="en-US" sz="1150" dirty="0">
                <a:solidFill>
                  <a:srgbClr val="28313B"/>
                </a:solidFill>
                <a:latin typeface="Calibri" pitchFamily="34" charset="0"/>
                <a:ea typeface="Calibri" pitchFamily="34" charset="-122"/>
                <a:cs typeface="Calibri" pitchFamily="34" charset="-120"/>
              </a:rPr>
              <a:t>Paste the initial admin password from /var/jenkins_home/secrets/initialAdminPassword, or from the container log.</a:t>
            </a:r>
            <a:endParaRPr lang="en-US" sz="1150" dirty="0"/>
          </a:p>
        </p:txBody>
      </p:sp>
      <p:sp>
        <p:nvSpPr>
          <p:cNvPr id="9" name="Shape 7"/>
          <p:cNvSpPr/>
          <p:nvPr/>
        </p:nvSpPr>
        <p:spPr>
          <a:xfrm>
            <a:off x="3172968" y="1965960"/>
            <a:ext cx="182880" cy="237744"/>
          </a:xfrm>
          <a:prstGeom prst="rightArrow">
            <a:avLst/>
          </a:prstGeom>
          <a:solidFill>
            <a:srgbClr val="6FB3D2"/>
          </a:solidFill>
          <a:ln w="12700">
            <a:solidFill>
              <a:srgbClr val="6FB3D2"/>
            </a:solidFill>
            <a:prstDash val="solid"/>
          </a:ln>
        </p:spPr>
      </p:sp>
      <p:sp>
        <p:nvSpPr>
          <p:cNvPr id="10" name="Shape 8"/>
          <p:cNvSpPr/>
          <p:nvPr/>
        </p:nvSpPr>
        <p:spPr>
          <a:xfrm>
            <a:off x="3456432" y="1600200"/>
            <a:ext cx="2514600" cy="25146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439412" y="1810512"/>
            <a:ext cx="548640" cy="548640"/>
          </a:xfrm>
          <a:prstGeom prst="ellipse">
            <a:avLst/>
          </a:prstGeom>
          <a:solidFill>
            <a:srgbClr val="1F5673"/>
          </a:solidFill>
          <a:ln w="12700">
            <a:solidFill>
              <a:srgbClr val="1F5673"/>
            </a:solidFill>
            <a:prstDash val="solid"/>
          </a:ln>
        </p:spPr>
      </p:sp>
      <p:sp>
        <p:nvSpPr>
          <p:cNvPr id="12" name="Text 10"/>
          <p:cNvSpPr txBox="1"/>
          <p:nvPr/>
        </p:nvSpPr>
        <p:spPr>
          <a:xfrm>
            <a:off x="4439412" y="181051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13" name="Text 11"/>
          <p:cNvSpPr txBox="1"/>
          <p:nvPr/>
        </p:nvSpPr>
        <p:spPr>
          <a:xfrm>
            <a:off x="3639312" y="2468880"/>
            <a:ext cx="2148840" cy="292608"/>
          </a:xfrm>
          <a:prstGeom prst="rect">
            <a:avLst/>
          </a:prstGeom>
          <a:noFill/>
          <a:ln/>
        </p:spPr>
        <p:txBody>
          <a:bodyPr wrap="square" lIns="0" tIns="0" rIns="0" bIns="0" rtlCol="0" anchor="ctr"/>
          <a:lstStyle/>
          <a:p>
            <a:pPr algn="ctr" indent="0" marL="0">
              <a:buNone/>
            </a:pPr>
            <a:r>
              <a:rPr lang="en-US" sz="1450" b="1" dirty="0">
                <a:solidFill>
                  <a:srgbClr val="141C26"/>
                </a:solidFill>
                <a:latin typeface="Calibri" pitchFamily="34" charset="0"/>
                <a:ea typeface="Calibri" pitchFamily="34" charset="-122"/>
                <a:cs typeface="Calibri" pitchFamily="34" charset="-120"/>
              </a:rPr>
              <a:t>Install plugins</a:t>
            </a:r>
            <a:endParaRPr lang="en-US" sz="1450" dirty="0"/>
          </a:p>
        </p:txBody>
      </p:sp>
      <p:sp>
        <p:nvSpPr>
          <p:cNvPr id="14" name="Text 12"/>
          <p:cNvSpPr txBox="1"/>
          <p:nvPr/>
        </p:nvSpPr>
        <p:spPr>
          <a:xfrm>
            <a:off x="3657600" y="2798064"/>
            <a:ext cx="2112264" cy="1188720"/>
          </a:xfrm>
          <a:prstGeom prst="rect">
            <a:avLst/>
          </a:prstGeom>
          <a:noFill/>
          <a:ln/>
        </p:spPr>
        <p:txBody>
          <a:bodyPr wrap="square" lIns="0" tIns="0" rIns="0" bIns="0" rtlCol="0" anchor="ctr"/>
          <a:lstStyle/>
          <a:p>
            <a:pPr algn="ctr" indent="0" marL="0">
              <a:lnSpc>
                <a:spcPct val="105000"/>
              </a:lnSpc>
              <a:buNone/>
            </a:pPr>
            <a:r>
              <a:rPr lang="en-US" sz="1150" dirty="0">
                <a:solidFill>
                  <a:srgbClr val="28313B"/>
                </a:solidFill>
                <a:latin typeface="Calibri" pitchFamily="34" charset="0"/>
                <a:ea typeface="Calibri" pitchFamily="34" charset="-122"/>
                <a:cs typeface="Calibri" pitchFamily="34" charset="-120"/>
              </a:rPr>
              <a:t>Choose "Install suggested plugins" for a sensible default set — Git, Pipeline, Credentials and more.</a:t>
            </a:r>
            <a:endParaRPr lang="en-US" sz="1150" dirty="0"/>
          </a:p>
        </p:txBody>
      </p:sp>
      <p:sp>
        <p:nvSpPr>
          <p:cNvPr id="15" name="Shape 13"/>
          <p:cNvSpPr/>
          <p:nvPr/>
        </p:nvSpPr>
        <p:spPr>
          <a:xfrm>
            <a:off x="5989320" y="1965960"/>
            <a:ext cx="182880" cy="237744"/>
          </a:xfrm>
          <a:prstGeom prst="rightArrow">
            <a:avLst/>
          </a:prstGeom>
          <a:solidFill>
            <a:srgbClr val="6FB3D2"/>
          </a:solidFill>
          <a:ln w="12700">
            <a:solidFill>
              <a:srgbClr val="6FB3D2"/>
            </a:solidFill>
            <a:prstDash val="solid"/>
          </a:ln>
        </p:spPr>
      </p:sp>
      <p:sp>
        <p:nvSpPr>
          <p:cNvPr id="16" name="Shape 14"/>
          <p:cNvSpPr/>
          <p:nvPr/>
        </p:nvSpPr>
        <p:spPr>
          <a:xfrm>
            <a:off x="6272784" y="1600200"/>
            <a:ext cx="2514600" cy="25146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7255764" y="1810512"/>
            <a:ext cx="548640" cy="548640"/>
          </a:xfrm>
          <a:prstGeom prst="ellipse">
            <a:avLst/>
          </a:prstGeom>
          <a:solidFill>
            <a:srgbClr val="1F5673"/>
          </a:solidFill>
          <a:ln w="12700">
            <a:solidFill>
              <a:srgbClr val="1F5673"/>
            </a:solidFill>
            <a:prstDash val="solid"/>
          </a:ln>
        </p:spPr>
      </p:sp>
      <p:sp>
        <p:nvSpPr>
          <p:cNvPr id="18" name="Text 16"/>
          <p:cNvSpPr txBox="1"/>
          <p:nvPr/>
        </p:nvSpPr>
        <p:spPr>
          <a:xfrm>
            <a:off x="7255764" y="181051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9" name="Text 17"/>
          <p:cNvSpPr txBox="1"/>
          <p:nvPr/>
        </p:nvSpPr>
        <p:spPr>
          <a:xfrm>
            <a:off x="6455664" y="2468880"/>
            <a:ext cx="2148840" cy="292608"/>
          </a:xfrm>
          <a:prstGeom prst="rect">
            <a:avLst/>
          </a:prstGeom>
          <a:noFill/>
          <a:ln/>
        </p:spPr>
        <p:txBody>
          <a:bodyPr wrap="square" lIns="0" tIns="0" rIns="0" bIns="0" rtlCol="0" anchor="ctr"/>
          <a:lstStyle/>
          <a:p>
            <a:pPr algn="ctr" indent="0" marL="0">
              <a:buNone/>
            </a:pPr>
            <a:r>
              <a:rPr lang="en-US" sz="1450" b="1" dirty="0">
                <a:solidFill>
                  <a:srgbClr val="141C26"/>
                </a:solidFill>
                <a:latin typeface="Calibri" pitchFamily="34" charset="0"/>
                <a:ea typeface="Calibri" pitchFamily="34" charset="-122"/>
                <a:cs typeface="Calibri" pitchFamily="34" charset="-120"/>
              </a:rPr>
              <a:t>Create the admin user</a:t>
            </a:r>
            <a:endParaRPr lang="en-US" sz="1450" dirty="0"/>
          </a:p>
        </p:txBody>
      </p:sp>
      <p:sp>
        <p:nvSpPr>
          <p:cNvPr id="20" name="Text 18"/>
          <p:cNvSpPr txBox="1"/>
          <p:nvPr/>
        </p:nvSpPr>
        <p:spPr>
          <a:xfrm>
            <a:off x="6473952" y="2798064"/>
            <a:ext cx="2112264" cy="1188720"/>
          </a:xfrm>
          <a:prstGeom prst="rect">
            <a:avLst/>
          </a:prstGeom>
          <a:noFill/>
          <a:ln/>
        </p:spPr>
        <p:txBody>
          <a:bodyPr wrap="square" lIns="0" tIns="0" rIns="0" bIns="0" rtlCol="0" anchor="ctr"/>
          <a:lstStyle/>
          <a:p>
            <a:pPr algn="ctr" indent="0" marL="0">
              <a:lnSpc>
                <a:spcPct val="105000"/>
              </a:lnSpc>
              <a:buNone/>
            </a:pPr>
            <a:r>
              <a:rPr lang="en-US" sz="1150" dirty="0">
                <a:solidFill>
                  <a:srgbClr val="28313B"/>
                </a:solidFill>
                <a:latin typeface="Calibri" pitchFamily="34" charset="0"/>
                <a:ea typeface="Calibri" pitchFamily="34" charset="-122"/>
                <a:cs typeface="Calibri" pitchFamily="34" charset="-120"/>
              </a:rPr>
              <a:t>Replace the temporary admin account with a real one. Do not skip this and keep using the initial password.</a:t>
            </a:r>
            <a:endParaRPr lang="en-US" sz="1150" dirty="0"/>
          </a:p>
        </p:txBody>
      </p:sp>
      <p:sp>
        <p:nvSpPr>
          <p:cNvPr id="21" name="Shape 19"/>
          <p:cNvSpPr/>
          <p:nvPr/>
        </p:nvSpPr>
        <p:spPr>
          <a:xfrm>
            <a:off x="8805672" y="1965960"/>
            <a:ext cx="182880" cy="237744"/>
          </a:xfrm>
          <a:prstGeom prst="rightArrow">
            <a:avLst/>
          </a:prstGeom>
          <a:solidFill>
            <a:srgbClr val="6FB3D2"/>
          </a:solidFill>
          <a:ln w="12700">
            <a:solidFill>
              <a:srgbClr val="6FB3D2"/>
            </a:solidFill>
            <a:prstDash val="solid"/>
          </a:ln>
        </p:spPr>
      </p:sp>
      <p:sp>
        <p:nvSpPr>
          <p:cNvPr id="22" name="Shape 20"/>
          <p:cNvSpPr/>
          <p:nvPr/>
        </p:nvSpPr>
        <p:spPr>
          <a:xfrm>
            <a:off x="9089136" y="1600200"/>
            <a:ext cx="2514600" cy="25146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3" name="Shape 21"/>
          <p:cNvSpPr/>
          <p:nvPr/>
        </p:nvSpPr>
        <p:spPr>
          <a:xfrm>
            <a:off x="10072116" y="1810512"/>
            <a:ext cx="548640" cy="548640"/>
          </a:xfrm>
          <a:prstGeom prst="ellipse">
            <a:avLst/>
          </a:prstGeom>
          <a:solidFill>
            <a:srgbClr val="1F5673"/>
          </a:solidFill>
          <a:ln w="12700">
            <a:solidFill>
              <a:srgbClr val="1F5673"/>
            </a:solidFill>
            <a:prstDash val="solid"/>
          </a:ln>
        </p:spPr>
      </p:sp>
      <p:sp>
        <p:nvSpPr>
          <p:cNvPr id="24" name="Text 22"/>
          <p:cNvSpPr txBox="1"/>
          <p:nvPr/>
        </p:nvSpPr>
        <p:spPr>
          <a:xfrm>
            <a:off x="10072116" y="181051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25" name="Text 23"/>
          <p:cNvSpPr txBox="1"/>
          <p:nvPr/>
        </p:nvSpPr>
        <p:spPr>
          <a:xfrm>
            <a:off x="9272016" y="2468880"/>
            <a:ext cx="2148840" cy="292608"/>
          </a:xfrm>
          <a:prstGeom prst="rect">
            <a:avLst/>
          </a:prstGeom>
          <a:noFill/>
          <a:ln/>
        </p:spPr>
        <p:txBody>
          <a:bodyPr wrap="square" lIns="0" tIns="0" rIns="0" bIns="0" rtlCol="0" anchor="ctr"/>
          <a:lstStyle/>
          <a:p>
            <a:pPr algn="ctr" indent="0" marL="0">
              <a:buNone/>
            </a:pPr>
            <a:r>
              <a:rPr lang="en-US" sz="1450" b="1" dirty="0">
                <a:solidFill>
                  <a:srgbClr val="141C26"/>
                </a:solidFill>
                <a:latin typeface="Calibri" pitchFamily="34" charset="0"/>
                <a:ea typeface="Calibri" pitchFamily="34" charset="-122"/>
                <a:cs typeface="Calibri" pitchFamily="34" charset="-120"/>
              </a:rPr>
              <a:t>Set the Jenkins URL</a:t>
            </a:r>
            <a:endParaRPr lang="en-US" sz="1450" dirty="0"/>
          </a:p>
        </p:txBody>
      </p:sp>
      <p:sp>
        <p:nvSpPr>
          <p:cNvPr id="26" name="Text 24"/>
          <p:cNvSpPr txBox="1"/>
          <p:nvPr/>
        </p:nvSpPr>
        <p:spPr>
          <a:xfrm>
            <a:off x="9290304" y="2798064"/>
            <a:ext cx="2112264" cy="1188720"/>
          </a:xfrm>
          <a:prstGeom prst="rect">
            <a:avLst/>
          </a:prstGeom>
          <a:noFill/>
          <a:ln/>
        </p:spPr>
        <p:txBody>
          <a:bodyPr wrap="square" lIns="0" tIns="0" rIns="0" bIns="0" rtlCol="0" anchor="ctr"/>
          <a:lstStyle/>
          <a:p>
            <a:pPr algn="ct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base URL Jenkins uses in emails, webhooks and agent connections. Getting it wrong breaks notifications later.</a:t>
            </a:r>
            <a:endParaRPr lang="en-US" sz="1150" dirty="0"/>
          </a:p>
        </p:txBody>
      </p:sp>
      <p:sp>
        <p:nvSpPr>
          <p:cNvPr id="27" name="Shape 25"/>
          <p:cNvSpPr/>
          <p:nvPr/>
        </p:nvSpPr>
        <p:spPr>
          <a:xfrm>
            <a:off x="640080" y="4343400"/>
            <a:ext cx="5669280" cy="1737360"/>
          </a:xfrm>
          <a:prstGeom prst="roundRect">
            <a:avLst>
              <a:gd name="adj" fmla="val 2632"/>
            </a:avLst>
          </a:prstGeom>
          <a:solidFill>
            <a:srgbClr val="141C26"/>
          </a:solidFill>
          <a:ln w="12700">
            <a:solidFill>
              <a:srgbClr val="2C3E50"/>
            </a:solidFill>
            <a:prstDash val="solid"/>
          </a:ln>
        </p:spPr>
      </p:sp>
      <p:sp>
        <p:nvSpPr>
          <p:cNvPr id="28" name="Text 26"/>
          <p:cNvSpPr txBox="1"/>
          <p:nvPr/>
        </p:nvSpPr>
        <p:spPr>
          <a:xfrm>
            <a:off x="896112" y="454456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FINDING THE INITIAL PASSWORD</a:t>
            </a:r>
            <a:endParaRPr lang="en-US" sz="1250" dirty="0"/>
          </a:p>
        </p:txBody>
      </p:sp>
      <p:sp>
        <p:nvSpPr>
          <p:cNvPr id="29" name="Text 27"/>
          <p:cNvSpPr txBox="1"/>
          <p:nvPr/>
        </p:nvSpPr>
        <p:spPr>
          <a:xfrm>
            <a:off x="896112" y="4946904"/>
            <a:ext cx="5157216" cy="969264"/>
          </a:xfrm>
          <a:prstGeom prst="rect">
            <a:avLst/>
          </a:prstGeom>
          <a:noFill/>
          <a:ln/>
        </p:spPr>
        <p:txBody>
          <a:bodyPr wrap="square" lIns="0" tIns="0" rIns="0" bIns="0" rtlCol="0" anchor="t"/>
          <a:lstStyle/>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sudo cat /var/lib/jenkins/secrets/initialAdminPassword</a:t>
            </a:r>
            <a:endParaRPr lang="en-US" sz="1100" dirty="0"/>
          </a:p>
          <a:p>
            <a:pPr indent="0" marL="0">
              <a:lnSpc>
                <a:spcPct val="118000"/>
              </a:lnSpc>
              <a:buNone/>
            </a:pP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or, for the container:</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docker exec jenkins cat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/var/jenkins_home/secrets/initialAdminPassword</a:t>
            </a:r>
            <a:endParaRPr lang="en-US" sz="1100" dirty="0"/>
          </a:p>
        </p:txBody>
      </p:sp>
      <p:sp>
        <p:nvSpPr>
          <p:cNvPr id="30" name="Shape 28"/>
          <p:cNvSpPr/>
          <p:nvPr/>
        </p:nvSpPr>
        <p:spPr>
          <a:xfrm>
            <a:off x="6675120" y="4343400"/>
            <a:ext cx="4873752" cy="1737360"/>
          </a:xfrm>
          <a:prstGeom prst="roundRect">
            <a:avLst>
              <a:gd name="adj" fmla="val 3158"/>
            </a:avLst>
          </a:prstGeom>
          <a:solidFill>
            <a:srgbClr val="EAF1F6"/>
          </a:solidFill>
          <a:ln w="12700">
            <a:solidFill>
              <a:srgbClr val="1F5673"/>
            </a:solidFill>
            <a:prstDash val="solid"/>
          </a:ln>
        </p:spPr>
      </p:sp>
      <p:sp>
        <p:nvSpPr>
          <p:cNvPr id="31" name="Text 29"/>
          <p:cNvSpPr txBox="1"/>
          <p:nvPr/>
        </p:nvSpPr>
        <p:spPr>
          <a:xfrm>
            <a:off x="6949440" y="4507992"/>
            <a:ext cx="4325112" cy="274320"/>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JENKINS_HOME is everything</a:t>
            </a:r>
            <a:endParaRPr lang="en-US" sz="1400" dirty="0"/>
          </a:p>
        </p:txBody>
      </p:sp>
      <p:sp>
        <p:nvSpPr>
          <p:cNvPr id="32" name="Text 30"/>
          <p:cNvSpPr txBox="1"/>
          <p:nvPr/>
        </p:nvSpPr>
        <p:spPr>
          <a:xfrm>
            <a:off x="6949440" y="4846320"/>
            <a:ext cx="4325112" cy="1097280"/>
          </a:xfrm>
          <a:prstGeom prst="rect">
            <a:avLst/>
          </a:prstGeom>
          <a:noFill/>
          <a:ln/>
        </p:spPr>
        <p:txBody>
          <a:bodyPr wrap="square" lIns="0" tIns="0" rIns="0" bIns="0" rtlCol="0" anchor="ctr"/>
          <a:lstStyle/>
          <a:p>
            <a:pPr indent="0" marL="0">
              <a:lnSpc>
                <a:spcPct val="105000"/>
              </a:lnSpc>
              <a:buNone/>
            </a:pPr>
            <a:r>
              <a:rPr lang="en-US" sz="1250" dirty="0">
                <a:solidFill>
                  <a:srgbClr val="28313B"/>
                </a:solidFill>
                <a:latin typeface="Calibri" pitchFamily="34" charset="0"/>
                <a:ea typeface="Calibri" pitchFamily="34" charset="-122"/>
                <a:cs typeface="Calibri" pitchFamily="34" charset="-120"/>
              </a:rPr>
              <a:t>Jobs, build history, plugins, credentials and configuration all live in one directory — /var/lib/jenkins or /var/jenkins_home. Back up that directory and you have backed up Jenkins.</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CONFIGURATION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The Manage Jenkins screen</a:t>
            </a:r>
            <a:endParaRPr lang="en-US" sz="3100" dirty="0"/>
          </a:p>
        </p:txBody>
      </p:sp>
      <p:sp>
        <p:nvSpPr>
          <p:cNvPr id="4" name="Shape 2"/>
          <p:cNvSpPr/>
          <p:nvPr/>
        </p:nvSpPr>
        <p:spPr>
          <a:xfrm>
            <a:off x="640080" y="160020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37944"/>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386584"/>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System</a:t>
            </a:r>
            <a:endParaRPr lang="en-US" sz="1450" dirty="0"/>
          </a:p>
        </p:txBody>
      </p:sp>
      <p:sp>
        <p:nvSpPr>
          <p:cNvPr id="8" name="Text 6"/>
          <p:cNvSpPr txBox="1"/>
          <p:nvPr/>
        </p:nvSpPr>
        <p:spPr>
          <a:xfrm>
            <a:off x="877824" y="273405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Global settings: Jenkins URL, executors on the controller, SMTP for email, global environment variables.</a:t>
            </a:r>
            <a:endParaRPr lang="en-US" sz="1150" dirty="0"/>
          </a:p>
        </p:txBody>
      </p:sp>
      <p:sp>
        <p:nvSpPr>
          <p:cNvPr id="9" name="Shape 7"/>
          <p:cNvSpPr/>
          <p:nvPr/>
        </p:nvSpPr>
        <p:spPr>
          <a:xfrm>
            <a:off x="3456432" y="160020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3694176" y="1837944"/>
            <a:ext cx="420624" cy="420624"/>
          </a:xfrm>
          <a:prstGeom prst="ellipse">
            <a:avLst/>
          </a:prstGeom>
          <a:solidFill>
            <a:srgbClr val="1F5673"/>
          </a:solidFill>
          <a:ln w="12700">
            <a:solidFill>
              <a:srgbClr val="1F5673"/>
            </a:solidFill>
            <a:prstDash val="solid"/>
          </a:ln>
        </p:spPr>
      </p:sp>
      <p:sp>
        <p:nvSpPr>
          <p:cNvPr id="11" name="Text 9"/>
          <p:cNvSpPr txBox="1"/>
          <p:nvPr/>
        </p:nvSpPr>
        <p:spPr>
          <a:xfrm>
            <a:off x="3694176"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694176" y="2386584"/>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Tools</a:t>
            </a:r>
            <a:endParaRPr lang="en-US" sz="1450" dirty="0"/>
          </a:p>
        </p:txBody>
      </p:sp>
      <p:sp>
        <p:nvSpPr>
          <p:cNvPr id="13" name="Text 11"/>
          <p:cNvSpPr txBox="1"/>
          <p:nvPr/>
        </p:nvSpPr>
        <p:spPr>
          <a:xfrm>
            <a:off x="3694176" y="273405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Where JDK, Maven, Gradle and Git live — or let Jenkins install them automatically per build.</a:t>
            </a:r>
            <a:endParaRPr lang="en-US" sz="1150" dirty="0"/>
          </a:p>
        </p:txBody>
      </p:sp>
      <p:sp>
        <p:nvSpPr>
          <p:cNvPr id="14" name="Shape 12"/>
          <p:cNvSpPr/>
          <p:nvPr/>
        </p:nvSpPr>
        <p:spPr>
          <a:xfrm>
            <a:off x="6272784" y="160020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6510528" y="1837944"/>
            <a:ext cx="420624" cy="420624"/>
          </a:xfrm>
          <a:prstGeom prst="ellipse">
            <a:avLst/>
          </a:prstGeom>
          <a:solidFill>
            <a:srgbClr val="1F5673"/>
          </a:solidFill>
          <a:ln w="12700">
            <a:solidFill>
              <a:srgbClr val="1F5673"/>
            </a:solidFill>
            <a:prstDash val="solid"/>
          </a:ln>
        </p:spPr>
      </p:sp>
      <p:sp>
        <p:nvSpPr>
          <p:cNvPr id="16" name="Text 14"/>
          <p:cNvSpPr txBox="1"/>
          <p:nvPr/>
        </p:nvSpPr>
        <p:spPr>
          <a:xfrm>
            <a:off x="6510528"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10528" y="2386584"/>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Plugins</a:t>
            </a:r>
            <a:endParaRPr lang="en-US" sz="1450" dirty="0"/>
          </a:p>
        </p:txBody>
      </p:sp>
      <p:sp>
        <p:nvSpPr>
          <p:cNvPr id="18" name="Text 16"/>
          <p:cNvSpPr txBox="1"/>
          <p:nvPr/>
        </p:nvSpPr>
        <p:spPr>
          <a:xfrm>
            <a:off x="6510528" y="273405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Install, update and remove plugins. Also where you check for security advisories.</a:t>
            </a:r>
            <a:endParaRPr lang="en-US" sz="1150" dirty="0"/>
          </a:p>
        </p:txBody>
      </p:sp>
      <p:sp>
        <p:nvSpPr>
          <p:cNvPr id="19" name="Shape 17"/>
          <p:cNvSpPr/>
          <p:nvPr/>
        </p:nvSpPr>
        <p:spPr>
          <a:xfrm>
            <a:off x="9089136" y="160020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9326880" y="1837944"/>
            <a:ext cx="420624" cy="420624"/>
          </a:xfrm>
          <a:prstGeom prst="ellipse">
            <a:avLst/>
          </a:prstGeom>
          <a:solidFill>
            <a:srgbClr val="1F5673"/>
          </a:solidFill>
          <a:ln w="12700">
            <a:solidFill>
              <a:srgbClr val="1F5673"/>
            </a:solidFill>
            <a:prstDash val="solid"/>
          </a:ln>
        </p:spPr>
      </p:sp>
      <p:sp>
        <p:nvSpPr>
          <p:cNvPr id="21" name="Text 19"/>
          <p:cNvSpPr txBox="1"/>
          <p:nvPr/>
        </p:nvSpPr>
        <p:spPr>
          <a:xfrm>
            <a:off x="9326880"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326880" y="2386584"/>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Nodes</a:t>
            </a:r>
            <a:endParaRPr lang="en-US" sz="1450" dirty="0"/>
          </a:p>
        </p:txBody>
      </p:sp>
      <p:sp>
        <p:nvSpPr>
          <p:cNvPr id="23" name="Text 21"/>
          <p:cNvSpPr txBox="1"/>
          <p:nvPr/>
        </p:nvSpPr>
        <p:spPr>
          <a:xfrm>
            <a:off x="9326880" y="273405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Agent machines: add, configure, take offline, monitor disk space and response time.</a:t>
            </a:r>
            <a:endParaRPr lang="en-US" sz="1150" dirty="0"/>
          </a:p>
        </p:txBody>
      </p:sp>
      <p:sp>
        <p:nvSpPr>
          <p:cNvPr id="24" name="Shape 22"/>
          <p:cNvSpPr/>
          <p:nvPr/>
        </p:nvSpPr>
        <p:spPr>
          <a:xfrm>
            <a:off x="640080" y="3813048"/>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877824" y="4050792"/>
            <a:ext cx="420624" cy="420624"/>
          </a:xfrm>
          <a:prstGeom prst="ellipse">
            <a:avLst/>
          </a:prstGeom>
          <a:solidFill>
            <a:srgbClr val="1F5673"/>
          </a:solidFill>
          <a:ln w="12700">
            <a:solidFill>
              <a:srgbClr val="1F5673"/>
            </a:solidFill>
            <a:prstDash val="solid"/>
          </a:ln>
        </p:spPr>
      </p:sp>
      <p:sp>
        <p:nvSpPr>
          <p:cNvPr id="26" name="Text 24"/>
          <p:cNvSpPr txBox="1"/>
          <p:nvPr/>
        </p:nvSpPr>
        <p:spPr>
          <a:xfrm>
            <a:off x="877824" y="4050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877824" y="4599432"/>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Credentials</a:t>
            </a:r>
            <a:endParaRPr lang="en-US" sz="1450" dirty="0"/>
          </a:p>
        </p:txBody>
      </p:sp>
      <p:sp>
        <p:nvSpPr>
          <p:cNvPr id="28" name="Text 26"/>
          <p:cNvSpPr txBox="1"/>
          <p:nvPr/>
        </p:nvSpPr>
        <p:spPr>
          <a:xfrm>
            <a:off x="877824" y="4946904"/>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Secrets used by jobs: SSH keys, tokens, usernames and passwords, certificates.</a:t>
            </a:r>
            <a:endParaRPr lang="en-US" sz="1150" dirty="0"/>
          </a:p>
        </p:txBody>
      </p:sp>
      <p:sp>
        <p:nvSpPr>
          <p:cNvPr id="29" name="Shape 27"/>
          <p:cNvSpPr/>
          <p:nvPr/>
        </p:nvSpPr>
        <p:spPr>
          <a:xfrm>
            <a:off x="3456432" y="3813048"/>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0" name="Shape 28"/>
          <p:cNvSpPr/>
          <p:nvPr/>
        </p:nvSpPr>
        <p:spPr>
          <a:xfrm>
            <a:off x="3694176" y="4050792"/>
            <a:ext cx="420624" cy="420624"/>
          </a:xfrm>
          <a:prstGeom prst="ellipse">
            <a:avLst/>
          </a:prstGeom>
          <a:solidFill>
            <a:srgbClr val="1F5673"/>
          </a:solidFill>
          <a:ln w="12700">
            <a:solidFill>
              <a:srgbClr val="1F5673"/>
            </a:solidFill>
            <a:prstDash val="solid"/>
          </a:ln>
        </p:spPr>
      </p:sp>
      <p:sp>
        <p:nvSpPr>
          <p:cNvPr id="31" name="Text 29"/>
          <p:cNvSpPr txBox="1"/>
          <p:nvPr/>
        </p:nvSpPr>
        <p:spPr>
          <a:xfrm>
            <a:off x="3694176" y="4050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3694176" y="4599432"/>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Security</a:t>
            </a:r>
            <a:endParaRPr lang="en-US" sz="1450" dirty="0"/>
          </a:p>
        </p:txBody>
      </p:sp>
      <p:sp>
        <p:nvSpPr>
          <p:cNvPr id="33" name="Text 31"/>
          <p:cNvSpPr txBox="1"/>
          <p:nvPr/>
        </p:nvSpPr>
        <p:spPr>
          <a:xfrm>
            <a:off x="3694176" y="4946904"/>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Authentication realm and authorisation strategy — who can log in, and what they can do.</a:t>
            </a:r>
            <a:endParaRPr lang="en-US" sz="1150" dirty="0"/>
          </a:p>
        </p:txBody>
      </p:sp>
      <p:sp>
        <p:nvSpPr>
          <p:cNvPr id="34" name="Shape 32"/>
          <p:cNvSpPr/>
          <p:nvPr/>
        </p:nvSpPr>
        <p:spPr>
          <a:xfrm>
            <a:off x="6272784" y="3813048"/>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5" name="Shape 33"/>
          <p:cNvSpPr/>
          <p:nvPr/>
        </p:nvSpPr>
        <p:spPr>
          <a:xfrm>
            <a:off x="6510528" y="4050792"/>
            <a:ext cx="420624" cy="420624"/>
          </a:xfrm>
          <a:prstGeom prst="ellipse">
            <a:avLst/>
          </a:prstGeom>
          <a:solidFill>
            <a:srgbClr val="1F5673"/>
          </a:solidFill>
          <a:ln w="12700">
            <a:solidFill>
              <a:srgbClr val="1F5673"/>
            </a:solidFill>
            <a:prstDash val="solid"/>
          </a:ln>
        </p:spPr>
      </p:sp>
      <p:sp>
        <p:nvSpPr>
          <p:cNvPr id="36" name="Text 34"/>
          <p:cNvSpPr txBox="1"/>
          <p:nvPr/>
        </p:nvSpPr>
        <p:spPr>
          <a:xfrm>
            <a:off x="6510528" y="4050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37" name="Text 35"/>
          <p:cNvSpPr txBox="1"/>
          <p:nvPr/>
        </p:nvSpPr>
        <p:spPr>
          <a:xfrm>
            <a:off x="6510528" y="4599432"/>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Users</a:t>
            </a:r>
            <a:endParaRPr lang="en-US" sz="1450" dirty="0"/>
          </a:p>
        </p:txBody>
      </p:sp>
      <p:sp>
        <p:nvSpPr>
          <p:cNvPr id="38" name="Text 36"/>
          <p:cNvSpPr txBox="1"/>
          <p:nvPr/>
        </p:nvSpPr>
        <p:spPr>
          <a:xfrm>
            <a:off x="6510528" y="4946904"/>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Local accounts when Jenkins manages its own user database.</a:t>
            </a:r>
            <a:endParaRPr lang="en-US" sz="1150" dirty="0"/>
          </a:p>
        </p:txBody>
      </p:sp>
      <p:sp>
        <p:nvSpPr>
          <p:cNvPr id="39" name="Shape 37"/>
          <p:cNvSpPr/>
          <p:nvPr/>
        </p:nvSpPr>
        <p:spPr>
          <a:xfrm>
            <a:off x="9089136" y="3813048"/>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40" name="Shape 38"/>
          <p:cNvSpPr/>
          <p:nvPr/>
        </p:nvSpPr>
        <p:spPr>
          <a:xfrm>
            <a:off x="9326880" y="4050792"/>
            <a:ext cx="420624" cy="420624"/>
          </a:xfrm>
          <a:prstGeom prst="ellipse">
            <a:avLst/>
          </a:prstGeom>
          <a:solidFill>
            <a:srgbClr val="1F5673"/>
          </a:solidFill>
          <a:ln w="12700">
            <a:solidFill>
              <a:srgbClr val="1F5673"/>
            </a:solidFill>
            <a:prstDash val="solid"/>
          </a:ln>
        </p:spPr>
      </p:sp>
      <p:sp>
        <p:nvSpPr>
          <p:cNvPr id="41" name="Text 39"/>
          <p:cNvSpPr txBox="1"/>
          <p:nvPr/>
        </p:nvSpPr>
        <p:spPr>
          <a:xfrm>
            <a:off x="9326880" y="40507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42" name="Text 40"/>
          <p:cNvSpPr txBox="1"/>
          <p:nvPr/>
        </p:nvSpPr>
        <p:spPr>
          <a:xfrm>
            <a:off x="9326880" y="4599432"/>
            <a:ext cx="203911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System Information</a:t>
            </a:r>
            <a:endParaRPr lang="en-US" sz="1450" dirty="0"/>
          </a:p>
        </p:txBody>
      </p:sp>
      <p:sp>
        <p:nvSpPr>
          <p:cNvPr id="43" name="Text 41"/>
          <p:cNvSpPr txBox="1"/>
          <p:nvPr/>
        </p:nvSpPr>
        <p:spPr>
          <a:xfrm>
            <a:off x="9326880" y="4946904"/>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Versions, environment, loaded plugins — the first place to look when diagnosing oddities.</a:t>
            </a:r>
            <a:endParaRPr lang="en-US" sz="1150" dirty="0"/>
          </a:p>
        </p:txBody>
      </p:sp>
      <p:sp>
        <p:nvSpPr>
          <p:cNvPr id="44" name="Text 42"/>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Everything on this screen writes XML into JENKINS_HOME — which is why configuration as code can replace most of it.</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CONFIGURATION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Global tool configuration</a:t>
            </a:r>
            <a:endParaRPr lang="en-US" sz="3100" dirty="0"/>
          </a:p>
        </p:txBody>
      </p:sp>
      <p:sp>
        <p:nvSpPr>
          <p:cNvPr id="4" name="Text 2"/>
          <p:cNvSpPr txBox="1"/>
          <p:nvPr/>
        </p:nvSpPr>
        <p:spPr>
          <a:xfrm>
            <a:off x="640080" y="1426464"/>
            <a:ext cx="10908792" cy="329184"/>
          </a:xfrm>
          <a:prstGeom prst="rect">
            <a:avLst/>
          </a:prstGeom>
          <a:noFill/>
          <a:ln/>
        </p:spPr>
        <p:txBody>
          <a:bodyPr wrap="square" lIns="0" tIns="0" rIns="0" bIns="0" rtlCol="0" anchor="ctr"/>
          <a:lstStyle/>
          <a:p>
            <a:pPr indent="0" marL="0">
              <a:buNone/>
            </a:pPr>
            <a:r>
              <a:rPr lang="en-US" sz="1400" dirty="0">
                <a:solidFill>
                  <a:srgbClr val="28313B"/>
                </a:solidFill>
                <a:latin typeface="Calibri" pitchFamily="34" charset="0"/>
                <a:ea typeface="Calibri" pitchFamily="34" charset="-122"/>
                <a:cs typeface="Calibri" pitchFamily="34" charset="-120"/>
              </a:rPr>
              <a:t>Jenkins needs to know where the JDK, Maven and Git binaries are — or it can download and manage them for you.</a:t>
            </a:r>
            <a:endParaRPr lang="en-US" sz="1400" dirty="0"/>
          </a:p>
        </p:txBody>
      </p:sp>
      <p:sp>
        <p:nvSpPr>
          <p:cNvPr id="5" name="Shape 3"/>
          <p:cNvSpPr/>
          <p:nvPr/>
        </p:nvSpPr>
        <p:spPr>
          <a:xfrm>
            <a:off x="640080"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6" name="Shape 4"/>
          <p:cNvSpPr/>
          <p:nvPr/>
        </p:nvSpPr>
        <p:spPr>
          <a:xfrm>
            <a:off x="877824" y="2066544"/>
            <a:ext cx="420624" cy="420624"/>
          </a:xfrm>
          <a:prstGeom prst="ellipse">
            <a:avLst/>
          </a:prstGeom>
          <a:solidFill>
            <a:srgbClr val="1F5673"/>
          </a:solidFill>
          <a:ln w="12700">
            <a:solidFill>
              <a:srgbClr val="1F5673"/>
            </a:solidFill>
            <a:prstDash val="solid"/>
          </a:ln>
        </p:spPr>
      </p:sp>
      <p:sp>
        <p:nvSpPr>
          <p:cNvPr id="7" name="Text 5"/>
          <p:cNvSpPr txBox="1"/>
          <p:nvPr/>
        </p:nvSpPr>
        <p:spPr>
          <a:xfrm>
            <a:off x="877824"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615184"/>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alibri" pitchFamily="34" charset="0"/>
                <a:ea typeface="Calibri" pitchFamily="34" charset="-122"/>
                <a:cs typeface="Calibri" pitchFamily="34" charset="-120"/>
              </a:rPr>
              <a:t>JDK</a:t>
            </a:r>
            <a:endParaRPr lang="en-US" sz="1500" dirty="0"/>
          </a:p>
        </p:txBody>
      </p:sp>
      <p:sp>
        <p:nvSpPr>
          <p:cNvPr id="9" name="Text 7"/>
          <p:cNvSpPr txBox="1"/>
          <p:nvPr/>
        </p:nvSpPr>
        <p:spPr>
          <a:xfrm>
            <a:off x="877824" y="2962656"/>
            <a:ext cx="2944368" cy="484632"/>
          </a:xfrm>
          <a:prstGeom prst="rect">
            <a:avLst/>
          </a:prstGeom>
          <a:noFill/>
          <a:ln/>
        </p:spPr>
        <p:txBody>
          <a:bodyPr wrap="square" lIns="0" tIns="0" rIns="0" bIns="0" rtlCol="0" anchor="t"/>
          <a:lstStyle/>
          <a:p>
            <a:pPr indent="0" marL="0">
              <a:lnSpc>
                <a:spcPct val="105000"/>
              </a:lnSpc>
              <a:buNone/>
            </a:pPr>
            <a:r>
              <a:rPr lang="en-US" sz="1250" dirty="0">
                <a:solidFill>
                  <a:srgbClr val="28313B"/>
                </a:solidFill>
                <a:latin typeface="Calibri" pitchFamily="34" charset="0"/>
                <a:ea typeface="Calibri" pitchFamily="34" charset="-122"/>
                <a:cs typeface="Calibri" pitchFamily="34" charset="-120"/>
              </a:rPr>
              <a:t>Name it something meaningful such as jdk17. Pipelines and freestyle jobs reference it by that name.</a:t>
            </a:r>
            <a:endParaRPr lang="en-US" sz="1250" dirty="0"/>
          </a:p>
        </p:txBody>
      </p:sp>
      <p:sp>
        <p:nvSpPr>
          <p:cNvPr id="10" name="Shape 8"/>
          <p:cNvSpPr/>
          <p:nvPr/>
        </p:nvSpPr>
        <p:spPr>
          <a:xfrm>
            <a:off x="4384548"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622292" y="2066544"/>
            <a:ext cx="420624" cy="420624"/>
          </a:xfrm>
          <a:prstGeom prst="ellipse">
            <a:avLst/>
          </a:prstGeom>
          <a:solidFill>
            <a:srgbClr val="1F5673"/>
          </a:solidFill>
          <a:ln w="12700">
            <a:solidFill>
              <a:srgbClr val="1F5673"/>
            </a:solidFill>
            <a:prstDash val="solid"/>
          </a:ln>
        </p:spPr>
      </p:sp>
      <p:sp>
        <p:nvSpPr>
          <p:cNvPr id="12" name="Text 10"/>
          <p:cNvSpPr txBox="1"/>
          <p:nvPr/>
        </p:nvSpPr>
        <p:spPr>
          <a:xfrm>
            <a:off x="4622292"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622292" y="2615184"/>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alibri" pitchFamily="34" charset="0"/>
                <a:ea typeface="Calibri" pitchFamily="34" charset="-122"/>
                <a:cs typeface="Calibri" pitchFamily="34" charset="-120"/>
              </a:rPr>
              <a:t>Maven</a:t>
            </a:r>
            <a:endParaRPr lang="en-US" sz="1500" dirty="0"/>
          </a:p>
        </p:txBody>
      </p:sp>
      <p:sp>
        <p:nvSpPr>
          <p:cNvPr id="14" name="Text 12"/>
          <p:cNvSpPr txBox="1"/>
          <p:nvPr/>
        </p:nvSpPr>
        <p:spPr>
          <a:xfrm>
            <a:off x="4622292" y="2962656"/>
            <a:ext cx="2944368" cy="484632"/>
          </a:xfrm>
          <a:prstGeom prst="rect">
            <a:avLst/>
          </a:prstGeom>
          <a:noFill/>
          <a:ln/>
        </p:spPr>
        <p:txBody>
          <a:bodyPr wrap="square" lIns="0" tIns="0" rIns="0" bIns="0" rtlCol="0" anchor="t"/>
          <a:lstStyle/>
          <a:p>
            <a:pPr indent="0" marL="0">
              <a:lnSpc>
                <a:spcPct val="105000"/>
              </a:lnSpc>
              <a:buNone/>
            </a:pPr>
            <a:r>
              <a:rPr lang="en-US" sz="1250" dirty="0">
                <a:solidFill>
                  <a:srgbClr val="28313B"/>
                </a:solidFill>
                <a:latin typeface="Calibri" pitchFamily="34" charset="0"/>
                <a:ea typeface="Calibri" pitchFamily="34" charset="-122"/>
                <a:cs typeface="Calibri" pitchFamily="34" charset="-120"/>
              </a:rPr>
              <a:t>Add an installation called maven3. Jenkins can install it automatically on first use on each agent.</a:t>
            </a:r>
            <a:endParaRPr lang="en-US" sz="1250" dirty="0"/>
          </a:p>
        </p:txBody>
      </p:sp>
      <p:sp>
        <p:nvSpPr>
          <p:cNvPr id="15" name="Shape 13"/>
          <p:cNvSpPr/>
          <p:nvPr/>
        </p:nvSpPr>
        <p:spPr>
          <a:xfrm>
            <a:off x="8129016"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6" name="Shape 14"/>
          <p:cNvSpPr/>
          <p:nvPr/>
        </p:nvSpPr>
        <p:spPr>
          <a:xfrm>
            <a:off x="8366760" y="2066544"/>
            <a:ext cx="420624" cy="420624"/>
          </a:xfrm>
          <a:prstGeom prst="ellipse">
            <a:avLst/>
          </a:prstGeom>
          <a:solidFill>
            <a:srgbClr val="1F5673"/>
          </a:solidFill>
          <a:ln w="12700">
            <a:solidFill>
              <a:srgbClr val="1F5673"/>
            </a:solidFill>
            <a:prstDash val="solid"/>
          </a:ln>
        </p:spPr>
      </p:sp>
      <p:sp>
        <p:nvSpPr>
          <p:cNvPr id="17" name="Text 15"/>
          <p:cNvSpPr txBox="1"/>
          <p:nvPr/>
        </p:nvSpPr>
        <p:spPr>
          <a:xfrm>
            <a:off x="8366760"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66760" y="2615184"/>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alibri" pitchFamily="34" charset="0"/>
                <a:ea typeface="Calibri" pitchFamily="34" charset="-122"/>
                <a:cs typeface="Calibri" pitchFamily="34" charset="-120"/>
              </a:rPr>
              <a:t>Git</a:t>
            </a:r>
            <a:endParaRPr lang="en-US" sz="1500" dirty="0"/>
          </a:p>
        </p:txBody>
      </p:sp>
      <p:sp>
        <p:nvSpPr>
          <p:cNvPr id="19" name="Text 17"/>
          <p:cNvSpPr txBox="1"/>
          <p:nvPr/>
        </p:nvSpPr>
        <p:spPr>
          <a:xfrm>
            <a:off x="8366760" y="2962656"/>
            <a:ext cx="2944368" cy="484632"/>
          </a:xfrm>
          <a:prstGeom prst="rect">
            <a:avLst/>
          </a:prstGeom>
          <a:noFill/>
          <a:ln/>
        </p:spPr>
        <p:txBody>
          <a:bodyPr wrap="square" lIns="0" tIns="0" rIns="0" bIns="0" rtlCol="0" anchor="t"/>
          <a:lstStyle/>
          <a:p>
            <a:pPr indent="0" marL="0">
              <a:lnSpc>
                <a:spcPct val="105000"/>
              </a:lnSpc>
              <a:buNone/>
            </a:pPr>
            <a:r>
              <a:rPr lang="en-US" sz="1250" dirty="0">
                <a:solidFill>
                  <a:srgbClr val="28313B"/>
                </a:solidFill>
                <a:latin typeface="Calibri" pitchFamily="34" charset="0"/>
                <a:ea typeface="Calibri" pitchFamily="34" charset="-122"/>
                <a:cs typeface="Calibri" pitchFamily="34" charset="-120"/>
              </a:rPr>
              <a:t>Usually just the system git binary. Confirm the path if builds fail with "git not found".</a:t>
            </a:r>
            <a:endParaRPr lang="en-US" sz="1250" dirty="0"/>
          </a:p>
        </p:txBody>
      </p:sp>
      <p:sp>
        <p:nvSpPr>
          <p:cNvPr id="20" name="Shape 18"/>
          <p:cNvSpPr/>
          <p:nvPr/>
        </p:nvSpPr>
        <p:spPr>
          <a:xfrm>
            <a:off x="640080" y="3657600"/>
            <a:ext cx="5669280" cy="2377440"/>
          </a:xfrm>
          <a:prstGeom prst="roundRect">
            <a:avLst>
              <a:gd name="adj" fmla="val 1923"/>
            </a:avLst>
          </a:prstGeom>
          <a:solidFill>
            <a:srgbClr val="141C26"/>
          </a:solidFill>
          <a:ln w="12700">
            <a:solidFill>
              <a:srgbClr val="2C3E50"/>
            </a:solidFill>
            <a:prstDash val="solid"/>
          </a:ln>
        </p:spPr>
      </p:sp>
      <p:sp>
        <p:nvSpPr>
          <p:cNvPr id="21" name="Text 19"/>
          <p:cNvSpPr txBox="1"/>
          <p:nvPr/>
        </p:nvSpPr>
        <p:spPr>
          <a:xfrm>
            <a:off x="896112" y="385876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REFERRING TO A CONFIGURED TOOL IN A PIPELINE</a:t>
            </a:r>
            <a:endParaRPr lang="en-US" sz="1250" dirty="0"/>
          </a:p>
        </p:txBody>
      </p:sp>
      <p:sp>
        <p:nvSpPr>
          <p:cNvPr id="22" name="Text 20"/>
          <p:cNvSpPr txBox="1"/>
          <p:nvPr/>
        </p:nvSpPr>
        <p:spPr>
          <a:xfrm>
            <a:off x="896112" y="4261104"/>
            <a:ext cx="5157216" cy="1609344"/>
          </a:xfrm>
          <a:prstGeom prst="rect">
            <a:avLst/>
          </a:prstGeom>
          <a:noFill/>
          <a:ln/>
        </p:spPr>
        <p:txBody>
          <a:bodyPr wrap="square" lIns="0" tIns="0" rIns="0" bIns="0" rtlCol="0" anchor="t"/>
          <a:lstStyle/>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pipeline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agent any</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tools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maven 'maven3'</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jdk   'jdk17'</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stages { ...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a:t>
            </a:r>
            <a:endParaRPr lang="en-US" sz="1150" dirty="0"/>
          </a:p>
        </p:txBody>
      </p:sp>
      <p:sp>
        <p:nvSpPr>
          <p:cNvPr id="23" name="Shape 21"/>
          <p:cNvSpPr/>
          <p:nvPr/>
        </p:nvSpPr>
        <p:spPr>
          <a:xfrm>
            <a:off x="6675120" y="3657600"/>
            <a:ext cx="4873752" cy="2377440"/>
          </a:xfrm>
          <a:prstGeom prst="roundRect">
            <a:avLst>
              <a:gd name="adj" fmla="val 2308"/>
            </a:avLst>
          </a:prstGeom>
          <a:solidFill>
            <a:srgbClr val="F1F4F7"/>
          </a:solidFill>
          <a:ln w="12700">
            <a:solidFill>
              <a:srgbClr val="DBE2EA"/>
            </a:solidFill>
            <a:prstDash val="solid"/>
          </a:ln>
        </p:spPr>
      </p:sp>
      <p:sp>
        <p:nvSpPr>
          <p:cNvPr id="24" name="Text 22"/>
          <p:cNvSpPr txBox="1"/>
          <p:nvPr/>
        </p:nvSpPr>
        <p:spPr>
          <a:xfrm>
            <a:off x="6949440" y="3840480"/>
            <a:ext cx="4325112" cy="292608"/>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Automatic installers</a:t>
            </a:r>
            <a:endParaRPr lang="en-US" sz="1450" dirty="0"/>
          </a:p>
        </p:txBody>
      </p:sp>
      <p:sp>
        <p:nvSpPr>
          <p:cNvPr id="25" name="Text 23"/>
          <p:cNvSpPr txBox="1"/>
          <p:nvPr/>
        </p:nvSpPr>
        <p:spPr>
          <a:xfrm>
            <a:off x="6949440" y="4206240"/>
            <a:ext cx="4325112" cy="1691640"/>
          </a:xfrm>
          <a:prstGeom prst="rect">
            <a:avLst/>
          </a:prstGeom>
          <a:noFill/>
          <a:ln/>
        </p:spPr>
        <p:txBody>
          <a:bodyPr wrap="square" lIns="0" tIns="0" rIns="0" bIns="0" rtlCol="0" anchor="ctr"/>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Ticking "Install automatically" makes Jenkins download the tool onto whichever agent runs the build. It is convenient for a lab and for heterogeneous agents, but it needs internet access and adds time to the first build on each machine.</a:t>
            </a:r>
            <a:endParaRPr lang="en-US" sz="1200" dirty="0"/>
          </a:p>
          <a:p>
            <a:pPr indent="0" marL="0">
              <a:lnSpc>
                <a:spcPct val="105000"/>
              </a:lnSpc>
              <a:buNone/>
            </a:pPr>
            <a:endParaRPr lang="en-US" sz="1200" dirty="0"/>
          </a:p>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In locked-down environments, install tools on the agent image instead and point Jenkins at the path.</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PLUGINS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How Jenkins becomes useful</a:t>
            </a:r>
            <a:endParaRPr lang="en-US" sz="3100" dirty="0"/>
          </a:p>
        </p:txBody>
      </p:sp>
      <p:sp>
        <p:nvSpPr>
          <p:cNvPr id="4" name="Text 2"/>
          <p:cNvSpPr txBox="1"/>
          <p:nvPr/>
        </p:nvSpPr>
        <p:spPr>
          <a:xfrm>
            <a:off x="640080" y="1408176"/>
            <a:ext cx="10908792" cy="329184"/>
          </a:xfrm>
          <a:prstGeom prst="rect">
            <a:avLst/>
          </a:prstGeom>
          <a:noFill/>
          <a:ln/>
        </p:spPr>
        <p:txBody>
          <a:bodyPr wrap="square" lIns="0" tIns="0" rIns="0" bIns="0" rtlCol="0" anchor="ctr"/>
          <a:lstStyle/>
          <a:p>
            <a:pPr indent="0" marL="0">
              <a:buNone/>
            </a:pPr>
            <a:r>
              <a:rPr lang="en-US" sz="1400" dirty="0">
                <a:solidFill>
                  <a:srgbClr val="28313B"/>
                </a:solidFill>
                <a:latin typeface="Calibri" pitchFamily="34" charset="0"/>
                <a:ea typeface="Calibri" pitchFamily="34" charset="-122"/>
                <a:cs typeface="Calibri" pitchFamily="34" charset="-120"/>
              </a:rPr>
              <a:t>Core Jenkins can schedule a job and run a shell command. Everything else — Git integration, pipelines, deployment, reporting — arrives as a plugin.</a:t>
            </a:r>
            <a:endParaRPr lang="en-US" sz="1400" dirty="0"/>
          </a:p>
        </p:txBody>
      </p:sp>
      <p:sp>
        <p:nvSpPr>
          <p:cNvPr id="5" name="Shape 3"/>
          <p:cNvSpPr/>
          <p:nvPr/>
        </p:nvSpPr>
        <p:spPr>
          <a:xfrm>
            <a:off x="640080" y="1810512"/>
            <a:ext cx="5669280" cy="420624"/>
          </a:xfrm>
          <a:prstGeom prst="roundRect">
            <a:avLst>
              <a:gd name="adj" fmla="val 8696"/>
            </a:avLst>
          </a:prstGeom>
          <a:solidFill>
            <a:srgbClr val="F1F4F7"/>
          </a:solidFill>
          <a:ln w="12700">
            <a:solidFill>
              <a:srgbClr val="DBE2EA"/>
            </a:solidFill>
            <a:prstDash val="solid"/>
          </a:ln>
        </p:spPr>
      </p:sp>
      <p:sp>
        <p:nvSpPr>
          <p:cNvPr id="6" name="Text 4"/>
          <p:cNvSpPr txBox="1"/>
          <p:nvPr/>
        </p:nvSpPr>
        <p:spPr>
          <a:xfrm>
            <a:off x="822960" y="1810512"/>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Git</a:t>
            </a:r>
            <a:endParaRPr lang="en-US" sz="1150" dirty="0"/>
          </a:p>
        </p:txBody>
      </p:sp>
      <p:sp>
        <p:nvSpPr>
          <p:cNvPr id="7" name="Text 5"/>
          <p:cNvSpPr txBox="1"/>
          <p:nvPr/>
        </p:nvSpPr>
        <p:spPr>
          <a:xfrm>
            <a:off x="3200400" y="1810512"/>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Clone repositories and poll for changes</a:t>
            </a:r>
            <a:endParaRPr lang="en-US" sz="1150" dirty="0"/>
          </a:p>
        </p:txBody>
      </p:sp>
      <p:sp>
        <p:nvSpPr>
          <p:cNvPr id="8" name="Shape 6"/>
          <p:cNvSpPr/>
          <p:nvPr/>
        </p:nvSpPr>
        <p:spPr>
          <a:xfrm>
            <a:off x="640080" y="2286000"/>
            <a:ext cx="5669280" cy="420624"/>
          </a:xfrm>
          <a:prstGeom prst="roundRect">
            <a:avLst>
              <a:gd name="adj" fmla="val 8696"/>
            </a:avLst>
          </a:prstGeom>
          <a:solidFill>
            <a:srgbClr val="FFFFFF"/>
          </a:solidFill>
          <a:ln w="12700">
            <a:solidFill>
              <a:srgbClr val="DBE2EA"/>
            </a:solidFill>
            <a:prstDash val="solid"/>
          </a:ln>
        </p:spPr>
      </p:sp>
      <p:sp>
        <p:nvSpPr>
          <p:cNvPr id="9" name="Text 7"/>
          <p:cNvSpPr txBox="1"/>
          <p:nvPr/>
        </p:nvSpPr>
        <p:spPr>
          <a:xfrm>
            <a:off x="822960" y="2286000"/>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Pipeline</a:t>
            </a:r>
            <a:endParaRPr lang="en-US" sz="1150" dirty="0"/>
          </a:p>
        </p:txBody>
      </p:sp>
      <p:sp>
        <p:nvSpPr>
          <p:cNvPr id="10" name="Text 8"/>
          <p:cNvSpPr txBox="1"/>
          <p:nvPr/>
        </p:nvSpPr>
        <p:spPr>
          <a:xfrm>
            <a:off x="3200400" y="2286000"/>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Jenkinsfile support — the suite of pipeline plugins</a:t>
            </a:r>
            <a:endParaRPr lang="en-US" sz="1150" dirty="0"/>
          </a:p>
        </p:txBody>
      </p:sp>
      <p:sp>
        <p:nvSpPr>
          <p:cNvPr id="11" name="Shape 9"/>
          <p:cNvSpPr/>
          <p:nvPr/>
        </p:nvSpPr>
        <p:spPr>
          <a:xfrm>
            <a:off x="640080" y="2761488"/>
            <a:ext cx="5669280" cy="420624"/>
          </a:xfrm>
          <a:prstGeom prst="roundRect">
            <a:avLst>
              <a:gd name="adj" fmla="val 8696"/>
            </a:avLst>
          </a:prstGeom>
          <a:solidFill>
            <a:srgbClr val="F1F4F7"/>
          </a:solidFill>
          <a:ln w="12700">
            <a:solidFill>
              <a:srgbClr val="DBE2EA"/>
            </a:solidFill>
            <a:prstDash val="solid"/>
          </a:ln>
        </p:spPr>
      </p:sp>
      <p:sp>
        <p:nvSpPr>
          <p:cNvPr id="12" name="Text 10"/>
          <p:cNvSpPr txBox="1"/>
          <p:nvPr/>
        </p:nvSpPr>
        <p:spPr>
          <a:xfrm>
            <a:off x="822960" y="2761488"/>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Credentials Binding</a:t>
            </a:r>
            <a:endParaRPr lang="en-US" sz="1150" dirty="0"/>
          </a:p>
        </p:txBody>
      </p:sp>
      <p:sp>
        <p:nvSpPr>
          <p:cNvPr id="13" name="Text 11"/>
          <p:cNvSpPr txBox="1"/>
          <p:nvPr/>
        </p:nvSpPr>
        <p:spPr>
          <a:xfrm>
            <a:off x="3200400" y="2761488"/>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Inject secrets into builds safely</a:t>
            </a:r>
            <a:endParaRPr lang="en-US" sz="1150" dirty="0"/>
          </a:p>
        </p:txBody>
      </p:sp>
      <p:sp>
        <p:nvSpPr>
          <p:cNvPr id="14" name="Shape 12"/>
          <p:cNvSpPr/>
          <p:nvPr/>
        </p:nvSpPr>
        <p:spPr>
          <a:xfrm>
            <a:off x="640080" y="3236976"/>
            <a:ext cx="5669280" cy="420624"/>
          </a:xfrm>
          <a:prstGeom prst="roundRect">
            <a:avLst>
              <a:gd name="adj" fmla="val 8696"/>
            </a:avLst>
          </a:prstGeom>
          <a:solidFill>
            <a:srgbClr val="FFFFFF"/>
          </a:solidFill>
          <a:ln w="12700">
            <a:solidFill>
              <a:srgbClr val="DBE2EA"/>
            </a:solidFill>
            <a:prstDash val="solid"/>
          </a:ln>
        </p:spPr>
      </p:sp>
      <p:sp>
        <p:nvSpPr>
          <p:cNvPr id="15" name="Text 13"/>
          <p:cNvSpPr txBox="1"/>
          <p:nvPr/>
        </p:nvSpPr>
        <p:spPr>
          <a:xfrm>
            <a:off x="822960" y="3236976"/>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Maven Integration</a:t>
            </a:r>
            <a:endParaRPr lang="en-US" sz="1150" dirty="0"/>
          </a:p>
        </p:txBody>
      </p:sp>
      <p:sp>
        <p:nvSpPr>
          <p:cNvPr id="16" name="Text 14"/>
          <p:cNvSpPr txBox="1"/>
          <p:nvPr/>
        </p:nvSpPr>
        <p:spPr>
          <a:xfrm>
            <a:off x="3200400" y="3236976"/>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Build steps and reporting for Maven</a:t>
            </a:r>
            <a:endParaRPr lang="en-US" sz="1150" dirty="0"/>
          </a:p>
        </p:txBody>
      </p:sp>
      <p:sp>
        <p:nvSpPr>
          <p:cNvPr id="17" name="Shape 15"/>
          <p:cNvSpPr/>
          <p:nvPr/>
        </p:nvSpPr>
        <p:spPr>
          <a:xfrm>
            <a:off x="640080" y="3712464"/>
            <a:ext cx="5669280" cy="420624"/>
          </a:xfrm>
          <a:prstGeom prst="roundRect">
            <a:avLst>
              <a:gd name="adj" fmla="val 8696"/>
            </a:avLst>
          </a:prstGeom>
          <a:solidFill>
            <a:srgbClr val="F1F4F7"/>
          </a:solidFill>
          <a:ln w="12700">
            <a:solidFill>
              <a:srgbClr val="DBE2EA"/>
            </a:solidFill>
            <a:prstDash val="solid"/>
          </a:ln>
        </p:spPr>
      </p:sp>
      <p:sp>
        <p:nvSpPr>
          <p:cNvPr id="18" name="Text 16"/>
          <p:cNvSpPr txBox="1"/>
          <p:nvPr/>
        </p:nvSpPr>
        <p:spPr>
          <a:xfrm>
            <a:off x="822960" y="3712464"/>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Email Extension</a:t>
            </a:r>
            <a:endParaRPr lang="en-US" sz="1150" dirty="0"/>
          </a:p>
        </p:txBody>
      </p:sp>
      <p:sp>
        <p:nvSpPr>
          <p:cNvPr id="19" name="Text 17"/>
          <p:cNvSpPr txBox="1"/>
          <p:nvPr/>
        </p:nvSpPr>
        <p:spPr>
          <a:xfrm>
            <a:off x="3200400" y="3712464"/>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Rich, configurable email notifications</a:t>
            </a:r>
            <a:endParaRPr lang="en-US" sz="1150" dirty="0"/>
          </a:p>
        </p:txBody>
      </p:sp>
      <p:sp>
        <p:nvSpPr>
          <p:cNvPr id="20" name="Shape 18"/>
          <p:cNvSpPr/>
          <p:nvPr/>
        </p:nvSpPr>
        <p:spPr>
          <a:xfrm>
            <a:off x="640080" y="4187952"/>
            <a:ext cx="5669280" cy="420624"/>
          </a:xfrm>
          <a:prstGeom prst="roundRect">
            <a:avLst>
              <a:gd name="adj" fmla="val 8696"/>
            </a:avLst>
          </a:prstGeom>
          <a:solidFill>
            <a:srgbClr val="FFFFFF"/>
          </a:solidFill>
          <a:ln w="12700">
            <a:solidFill>
              <a:srgbClr val="DBE2EA"/>
            </a:solidFill>
            <a:prstDash val="solid"/>
          </a:ln>
        </p:spPr>
      </p:sp>
      <p:sp>
        <p:nvSpPr>
          <p:cNvPr id="21" name="Text 19"/>
          <p:cNvSpPr txBox="1"/>
          <p:nvPr/>
        </p:nvSpPr>
        <p:spPr>
          <a:xfrm>
            <a:off x="822960" y="4187952"/>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Deploy to container</a:t>
            </a:r>
            <a:endParaRPr lang="en-US" sz="1150" dirty="0"/>
          </a:p>
        </p:txBody>
      </p:sp>
      <p:sp>
        <p:nvSpPr>
          <p:cNvPr id="22" name="Text 20"/>
          <p:cNvSpPr txBox="1"/>
          <p:nvPr/>
        </p:nvSpPr>
        <p:spPr>
          <a:xfrm>
            <a:off x="3200400" y="4187952"/>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Push a WAR to Tomcat and similar servers</a:t>
            </a:r>
            <a:endParaRPr lang="en-US" sz="1150" dirty="0"/>
          </a:p>
        </p:txBody>
      </p:sp>
      <p:sp>
        <p:nvSpPr>
          <p:cNvPr id="23" name="Shape 21"/>
          <p:cNvSpPr/>
          <p:nvPr/>
        </p:nvSpPr>
        <p:spPr>
          <a:xfrm>
            <a:off x="640080" y="4663440"/>
            <a:ext cx="5669280" cy="420624"/>
          </a:xfrm>
          <a:prstGeom prst="roundRect">
            <a:avLst>
              <a:gd name="adj" fmla="val 8696"/>
            </a:avLst>
          </a:prstGeom>
          <a:solidFill>
            <a:srgbClr val="F1F4F7"/>
          </a:solidFill>
          <a:ln w="12700">
            <a:solidFill>
              <a:srgbClr val="DBE2EA"/>
            </a:solidFill>
            <a:prstDash val="solid"/>
          </a:ln>
        </p:spPr>
      </p:sp>
      <p:sp>
        <p:nvSpPr>
          <p:cNvPr id="24" name="Text 22"/>
          <p:cNvSpPr txBox="1"/>
          <p:nvPr/>
        </p:nvSpPr>
        <p:spPr>
          <a:xfrm>
            <a:off x="822960" y="4663440"/>
            <a:ext cx="2286000" cy="420624"/>
          </a:xfrm>
          <a:prstGeom prst="rect">
            <a:avLst/>
          </a:prstGeom>
          <a:noFill/>
          <a:ln/>
        </p:spPr>
        <p:txBody>
          <a:bodyPr wrap="square" lIns="0" tIns="0" rIns="0" bIns="0" rtlCol="0" anchor="ctr"/>
          <a:lstStyle/>
          <a:p>
            <a:pPr indent="0" marL="0">
              <a:buNone/>
            </a:pPr>
            <a:r>
              <a:rPr lang="en-US" sz="1150" b="1" dirty="0">
                <a:solidFill>
                  <a:srgbClr val="1F5673"/>
                </a:solidFill>
                <a:latin typeface="Courier New" pitchFamily="34" charset="0"/>
                <a:ea typeface="Courier New" pitchFamily="34" charset="-122"/>
                <a:cs typeface="Courier New" pitchFamily="34" charset="-120"/>
              </a:rPr>
              <a:t>Blue Ocean</a:t>
            </a:r>
            <a:endParaRPr lang="en-US" sz="1150" dirty="0"/>
          </a:p>
        </p:txBody>
      </p:sp>
      <p:sp>
        <p:nvSpPr>
          <p:cNvPr id="25" name="Text 23"/>
          <p:cNvSpPr txBox="1"/>
          <p:nvPr/>
        </p:nvSpPr>
        <p:spPr>
          <a:xfrm>
            <a:off x="3200400" y="4663440"/>
            <a:ext cx="2926080" cy="420624"/>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A visual pipeline editor and viewer</a:t>
            </a:r>
            <a:endParaRPr lang="en-US" sz="1150" dirty="0"/>
          </a:p>
        </p:txBody>
      </p:sp>
      <p:sp>
        <p:nvSpPr>
          <p:cNvPr id="26" name="Shape 24"/>
          <p:cNvSpPr/>
          <p:nvPr/>
        </p:nvSpPr>
        <p:spPr>
          <a:xfrm>
            <a:off x="6675120" y="1810512"/>
            <a:ext cx="4873752" cy="932688"/>
          </a:xfrm>
          <a:prstGeom prst="roundRect">
            <a:avLst>
              <a:gd name="adj" fmla="val 4902"/>
            </a:avLst>
          </a:prstGeom>
          <a:solidFill>
            <a:srgbClr val="F1F4F7"/>
          </a:solidFill>
          <a:ln w="12700">
            <a:solidFill>
              <a:srgbClr val="DBE2EA"/>
            </a:solidFill>
            <a:prstDash val="solid"/>
          </a:ln>
        </p:spPr>
      </p:sp>
      <p:sp>
        <p:nvSpPr>
          <p:cNvPr id="27" name="Text 25"/>
          <p:cNvSpPr txBox="1"/>
          <p:nvPr/>
        </p:nvSpPr>
        <p:spPr>
          <a:xfrm>
            <a:off x="6931152" y="1883664"/>
            <a:ext cx="4389120" cy="274320"/>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Installing</a:t>
            </a:r>
            <a:endParaRPr lang="en-US" sz="1350" dirty="0"/>
          </a:p>
        </p:txBody>
      </p:sp>
      <p:sp>
        <p:nvSpPr>
          <p:cNvPr id="28" name="Text 26"/>
          <p:cNvSpPr txBox="1"/>
          <p:nvPr/>
        </p:nvSpPr>
        <p:spPr>
          <a:xfrm>
            <a:off x="6931152" y="2157984"/>
            <a:ext cx="4389120" cy="530352"/>
          </a:xfrm>
          <a:prstGeom prst="rect">
            <a:avLst/>
          </a:prstGeom>
          <a:noFill/>
          <a:ln/>
        </p:spPr>
        <p:txBody>
          <a:bodyPr wrap="square" lIns="0" tIns="0" rIns="0" bIns="0" rtlCol="0" anchor="ctr"/>
          <a:lstStyle/>
          <a:p>
            <a:pPr indent="0" marL="0">
              <a:lnSpc>
                <a:spcPct val="104000"/>
              </a:lnSpc>
              <a:buNone/>
            </a:pPr>
            <a:r>
              <a:rPr lang="en-US" sz="1150" dirty="0">
                <a:solidFill>
                  <a:srgbClr val="28313B"/>
                </a:solidFill>
                <a:latin typeface="Calibri" pitchFamily="34" charset="0"/>
                <a:ea typeface="Calibri" pitchFamily="34" charset="-122"/>
                <a:cs typeface="Calibri" pitchFamily="34" charset="-120"/>
              </a:rPr>
              <a:t>Manage Jenkins → Plugins → Available. Search, tick, install, and restart if prompted.</a:t>
            </a:r>
            <a:endParaRPr lang="en-US" sz="1150" dirty="0"/>
          </a:p>
        </p:txBody>
      </p:sp>
      <p:sp>
        <p:nvSpPr>
          <p:cNvPr id="29" name="Shape 27"/>
          <p:cNvSpPr/>
          <p:nvPr/>
        </p:nvSpPr>
        <p:spPr>
          <a:xfrm>
            <a:off x="6675120" y="2834640"/>
            <a:ext cx="4873752" cy="932688"/>
          </a:xfrm>
          <a:prstGeom prst="roundRect">
            <a:avLst>
              <a:gd name="adj" fmla="val 4902"/>
            </a:avLst>
          </a:prstGeom>
          <a:solidFill>
            <a:srgbClr val="FFFFFF"/>
          </a:solidFill>
          <a:ln w="12700">
            <a:solidFill>
              <a:srgbClr val="DBE2EA"/>
            </a:solidFill>
            <a:prstDash val="solid"/>
          </a:ln>
        </p:spPr>
      </p:sp>
      <p:sp>
        <p:nvSpPr>
          <p:cNvPr id="30" name="Text 28"/>
          <p:cNvSpPr txBox="1"/>
          <p:nvPr/>
        </p:nvSpPr>
        <p:spPr>
          <a:xfrm>
            <a:off x="6931152" y="2907792"/>
            <a:ext cx="4389120" cy="274320"/>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Updating</a:t>
            </a:r>
            <a:endParaRPr lang="en-US" sz="1350" dirty="0"/>
          </a:p>
        </p:txBody>
      </p:sp>
      <p:sp>
        <p:nvSpPr>
          <p:cNvPr id="31" name="Text 29"/>
          <p:cNvSpPr txBox="1"/>
          <p:nvPr/>
        </p:nvSpPr>
        <p:spPr>
          <a:xfrm>
            <a:off x="6931152" y="3182112"/>
            <a:ext cx="4389120" cy="530352"/>
          </a:xfrm>
          <a:prstGeom prst="rect">
            <a:avLst/>
          </a:prstGeom>
          <a:noFill/>
          <a:ln/>
        </p:spPr>
        <p:txBody>
          <a:bodyPr wrap="square" lIns="0" tIns="0" rIns="0" bIns="0" rtlCol="0" anchor="ctr"/>
          <a:lstStyle/>
          <a:p>
            <a:pPr indent="0" marL="0">
              <a:lnSpc>
                <a:spcPct val="104000"/>
              </a:lnSpc>
              <a:buNone/>
            </a:pPr>
            <a:r>
              <a:rPr lang="en-US" sz="1150" dirty="0">
                <a:solidFill>
                  <a:srgbClr val="28313B"/>
                </a:solidFill>
                <a:latin typeface="Calibri" pitchFamily="34" charset="0"/>
                <a:ea typeface="Calibri" pitchFamily="34" charset="-122"/>
                <a:cs typeface="Calibri" pitchFamily="34" charset="-120"/>
              </a:rPr>
              <a:t>Check the Updates tab regularly — plugin vulnerabilities are announced there and matter.</a:t>
            </a:r>
            <a:endParaRPr lang="en-US" sz="1150" dirty="0"/>
          </a:p>
        </p:txBody>
      </p:sp>
      <p:sp>
        <p:nvSpPr>
          <p:cNvPr id="32" name="Shape 30"/>
          <p:cNvSpPr/>
          <p:nvPr/>
        </p:nvSpPr>
        <p:spPr>
          <a:xfrm>
            <a:off x="6675120" y="3858768"/>
            <a:ext cx="4873752" cy="932688"/>
          </a:xfrm>
          <a:prstGeom prst="roundRect">
            <a:avLst>
              <a:gd name="adj" fmla="val 4902"/>
            </a:avLst>
          </a:prstGeom>
          <a:solidFill>
            <a:srgbClr val="F1F4F7"/>
          </a:solidFill>
          <a:ln w="12700">
            <a:solidFill>
              <a:srgbClr val="DBE2EA"/>
            </a:solidFill>
            <a:prstDash val="solid"/>
          </a:ln>
        </p:spPr>
      </p:sp>
      <p:sp>
        <p:nvSpPr>
          <p:cNvPr id="33" name="Text 31"/>
          <p:cNvSpPr txBox="1"/>
          <p:nvPr/>
        </p:nvSpPr>
        <p:spPr>
          <a:xfrm>
            <a:off x="6931152" y="3931920"/>
            <a:ext cx="4389120" cy="274320"/>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Dependencies</a:t>
            </a:r>
            <a:endParaRPr lang="en-US" sz="1350" dirty="0"/>
          </a:p>
        </p:txBody>
      </p:sp>
      <p:sp>
        <p:nvSpPr>
          <p:cNvPr id="34" name="Text 32"/>
          <p:cNvSpPr txBox="1"/>
          <p:nvPr/>
        </p:nvSpPr>
        <p:spPr>
          <a:xfrm>
            <a:off x="6931152" y="4206240"/>
            <a:ext cx="4389120" cy="530352"/>
          </a:xfrm>
          <a:prstGeom prst="rect">
            <a:avLst/>
          </a:prstGeom>
          <a:noFill/>
          <a:ln/>
        </p:spPr>
        <p:txBody>
          <a:bodyPr wrap="square" lIns="0" tIns="0" rIns="0" bIns="0" rtlCol="0" anchor="ctr"/>
          <a:lstStyle/>
          <a:p>
            <a:pPr indent="0" marL="0">
              <a:lnSpc>
                <a:spcPct val="104000"/>
              </a:lnSpc>
              <a:buNone/>
            </a:pPr>
            <a:r>
              <a:rPr lang="en-US" sz="1150" dirty="0">
                <a:solidFill>
                  <a:srgbClr val="28313B"/>
                </a:solidFill>
                <a:latin typeface="Calibri" pitchFamily="34" charset="0"/>
                <a:ea typeface="Calibri" pitchFamily="34" charset="-122"/>
                <a:cs typeface="Calibri" pitchFamily="34" charset="-120"/>
              </a:rPr>
              <a:t>Plugins depend on each other and on a minimum Jenkins version; Jenkins resolves this for you.</a:t>
            </a:r>
            <a:endParaRPr lang="en-US" sz="1150" dirty="0"/>
          </a:p>
        </p:txBody>
      </p:sp>
      <p:sp>
        <p:nvSpPr>
          <p:cNvPr id="35" name="Shape 33"/>
          <p:cNvSpPr/>
          <p:nvPr/>
        </p:nvSpPr>
        <p:spPr>
          <a:xfrm>
            <a:off x="6675120" y="4882896"/>
            <a:ext cx="4873752" cy="932688"/>
          </a:xfrm>
          <a:prstGeom prst="roundRect">
            <a:avLst>
              <a:gd name="adj" fmla="val 4902"/>
            </a:avLst>
          </a:prstGeom>
          <a:solidFill>
            <a:srgbClr val="FFFFFF"/>
          </a:solidFill>
          <a:ln w="12700">
            <a:solidFill>
              <a:srgbClr val="DBE2EA"/>
            </a:solidFill>
            <a:prstDash val="solid"/>
          </a:ln>
        </p:spPr>
      </p:sp>
      <p:sp>
        <p:nvSpPr>
          <p:cNvPr id="36" name="Text 34"/>
          <p:cNvSpPr txBox="1"/>
          <p:nvPr/>
        </p:nvSpPr>
        <p:spPr>
          <a:xfrm>
            <a:off x="6931152" y="4956048"/>
            <a:ext cx="4389120" cy="274320"/>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Restraint</a:t>
            </a:r>
            <a:endParaRPr lang="en-US" sz="1350" dirty="0"/>
          </a:p>
        </p:txBody>
      </p:sp>
      <p:sp>
        <p:nvSpPr>
          <p:cNvPr id="37" name="Text 35"/>
          <p:cNvSpPr txBox="1"/>
          <p:nvPr/>
        </p:nvSpPr>
        <p:spPr>
          <a:xfrm>
            <a:off x="6931152" y="5230368"/>
            <a:ext cx="4389120" cy="530352"/>
          </a:xfrm>
          <a:prstGeom prst="rect">
            <a:avLst/>
          </a:prstGeom>
          <a:noFill/>
          <a:ln/>
        </p:spPr>
        <p:txBody>
          <a:bodyPr wrap="square" lIns="0" tIns="0" rIns="0" bIns="0" rtlCol="0" anchor="ctr"/>
          <a:lstStyle/>
          <a:p>
            <a:pPr indent="0" marL="0">
              <a:lnSpc>
                <a:spcPct val="104000"/>
              </a:lnSpc>
              <a:buNone/>
            </a:pPr>
            <a:r>
              <a:rPr lang="en-US" sz="1150" dirty="0">
                <a:solidFill>
                  <a:srgbClr val="28313B"/>
                </a:solidFill>
                <a:latin typeface="Calibri" pitchFamily="34" charset="0"/>
                <a:ea typeface="Calibri" pitchFamily="34" charset="-122"/>
                <a:cs typeface="Calibri" pitchFamily="34" charset="-120"/>
              </a:rPr>
              <a:t>Every plugin is code running with full access to your server. Install what you need and remove what you stopped using.</a:t>
            </a:r>
            <a:endParaRPr lang="en-US" sz="1150" dirty="0"/>
          </a:p>
        </p:txBody>
      </p:sp>
      <p:sp>
        <p:nvSpPr>
          <p:cNvPr id="38" name="Shape 36"/>
          <p:cNvSpPr/>
          <p:nvPr/>
        </p:nvSpPr>
        <p:spPr>
          <a:xfrm>
            <a:off x="640080" y="5120640"/>
            <a:ext cx="5669280" cy="914400"/>
          </a:xfrm>
          <a:prstGeom prst="roundRect">
            <a:avLst>
              <a:gd name="adj" fmla="val 6000"/>
            </a:avLst>
          </a:prstGeom>
          <a:solidFill>
            <a:srgbClr val="F8EEEC"/>
          </a:solidFill>
          <a:ln w="12700">
            <a:solidFill>
              <a:srgbClr val="A8392C"/>
            </a:solidFill>
            <a:prstDash val="solid"/>
          </a:ln>
        </p:spPr>
      </p:sp>
      <p:sp>
        <p:nvSpPr>
          <p:cNvPr id="39" name="Text 37"/>
          <p:cNvSpPr txBox="1"/>
          <p:nvPr/>
        </p:nvSpPr>
        <p:spPr>
          <a:xfrm>
            <a:off x="914400" y="5120640"/>
            <a:ext cx="5120640" cy="914400"/>
          </a:xfrm>
          <a:prstGeom prst="rect">
            <a:avLst/>
          </a:prstGeom>
          <a:noFill/>
          <a:ln/>
        </p:spPr>
        <p:txBody>
          <a:bodyPr wrap="square" lIns="0" tIns="0" rIns="0" bIns="0" rtlCol="0" anchor="ctr"/>
          <a:lstStyle/>
          <a:p>
            <a:pPr indent="0" marL="0">
              <a:buNone/>
            </a:pPr>
            <a:r>
              <a:rPr lang="en-US" sz="1250" dirty="0">
                <a:solidFill>
                  <a:srgbClr val="6E2419"/>
                </a:solidFill>
                <a:latin typeface="Calibri" pitchFamily="34" charset="0"/>
                <a:ea typeface="Calibri" pitchFamily="34" charset="-122"/>
                <a:cs typeface="Calibri" pitchFamily="34" charset="-120"/>
              </a:rPr>
              <a:t>Plugin updates are the most common cause of a Jenkins instance breaking. Update deliberately, one batch at a time, with a backup of JENKINS_HOME taken first.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SECURITY</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Credentials — never hardcode a secret</a:t>
            </a:r>
            <a:endParaRPr lang="en-US" sz="3100" dirty="0"/>
          </a:p>
        </p:txBody>
      </p:sp>
      <p:sp>
        <p:nvSpPr>
          <p:cNvPr id="4" name="Shape 2"/>
          <p:cNvSpPr/>
          <p:nvPr/>
        </p:nvSpPr>
        <p:spPr>
          <a:xfrm>
            <a:off x="640080" y="1572768"/>
            <a:ext cx="2514600" cy="1737360"/>
          </a:xfrm>
          <a:prstGeom prst="roundRect">
            <a:avLst>
              <a:gd name="adj" fmla="val 3158"/>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10512"/>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359152"/>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Username with password</a:t>
            </a:r>
            <a:endParaRPr lang="en-US" sz="1350" dirty="0"/>
          </a:p>
        </p:txBody>
      </p:sp>
      <p:sp>
        <p:nvSpPr>
          <p:cNvPr id="8" name="Text 6"/>
          <p:cNvSpPr txBox="1"/>
          <p:nvPr/>
        </p:nvSpPr>
        <p:spPr>
          <a:xfrm>
            <a:off x="877824" y="2706624"/>
            <a:ext cx="2039112" cy="53035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Repository logins, Tomcat manager accounts, database users.</a:t>
            </a:r>
            <a:endParaRPr lang="en-US" sz="1150" dirty="0"/>
          </a:p>
        </p:txBody>
      </p:sp>
      <p:sp>
        <p:nvSpPr>
          <p:cNvPr id="9" name="Shape 7"/>
          <p:cNvSpPr/>
          <p:nvPr/>
        </p:nvSpPr>
        <p:spPr>
          <a:xfrm>
            <a:off x="3456432" y="1572768"/>
            <a:ext cx="2514600" cy="1737360"/>
          </a:xfrm>
          <a:prstGeom prst="roundRect">
            <a:avLst>
              <a:gd name="adj" fmla="val 3158"/>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3694176" y="1810512"/>
            <a:ext cx="420624" cy="420624"/>
          </a:xfrm>
          <a:prstGeom prst="ellipse">
            <a:avLst/>
          </a:prstGeom>
          <a:solidFill>
            <a:srgbClr val="1F5673"/>
          </a:solidFill>
          <a:ln w="12700">
            <a:solidFill>
              <a:srgbClr val="1F5673"/>
            </a:solidFill>
            <a:prstDash val="solid"/>
          </a:ln>
        </p:spPr>
      </p:sp>
      <p:sp>
        <p:nvSpPr>
          <p:cNvPr id="11" name="Text 9"/>
          <p:cNvSpPr txBox="1"/>
          <p:nvPr/>
        </p:nvSpPr>
        <p:spPr>
          <a:xfrm>
            <a:off x="3694176"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3694176" y="2359152"/>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SSH username with private key</a:t>
            </a:r>
            <a:endParaRPr lang="en-US" sz="1350" dirty="0"/>
          </a:p>
        </p:txBody>
      </p:sp>
      <p:sp>
        <p:nvSpPr>
          <p:cNvPr id="13" name="Text 11"/>
          <p:cNvSpPr txBox="1"/>
          <p:nvPr/>
        </p:nvSpPr>
        <p:spPr>
          <a:xfrm>
            <a:off x="3694176" y="2706624"/>
            <a:ext cx="2039112" cy="53035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Git over SSH, and connecting to agent machines.</a:t>
            </a:r>
            <a:endParaRPr lang="en-US" sz="1150" dirty="0"/>
          </a:p>
        </p:txBody>
      </p:sp>
      <p:sp>
        <p:nvSpPr>
          <p:cNvPr id="14" name="Shape 12"/>
          <p:cNvSpPr/>
          <p:nvPr/>
        </p:nvSpPr>
        <p:spPr>
          <a:xfrm>
            <a:off x="6272784" y="1572768"/>
            <a:ext cx="2514600" cy="1737360"/>
          </a:xfrm>
          <a:prstGeom prst="roundRect">
            <a:avLst>
              <a:gd name="adj" fmla="val 3158"/>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6510528" y="1810512"/>
            <a:ext cx="420624" cy="420624"/>
          </a:xfrm>
          <a:prstGeom prst="ellipse">
            <a:avLst/>
          </a:prstGeom>
          <a:solidFill>
            <a:srgbClr val="1F5673"/>
          </a:solidFill>
          <a:ln w="12700">
            <a:solidFill>
              <a:srgbClr val="1F5673"/>
            </a:solidFill>
            <a:prstDash val="solid"/>
          </a:ln>
        </p:spPr>
      </p:sp>
      <p:sp>
        <p:nvSpPr>
          <p:cNvPr id="16" name="Text 14"/>
          <p:cNvSpPr txBox="1"/>
          <p:nvPr/>
        </p:nvSpPr>
        <p:spPr>
          <a:xfrm>
            <a:off x="6510528"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6510528" y="2359152"/>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Secret text</a:t>
            </a:r>
            <a:endParaRPr lang="en-US" sz="1350" dirty="0"/>
          </a:p>
        </p:txBody>
      </p:sp>
      <p:sp>
        <p:nvSpPr>
          <p:cNvPr id="18" name="Text 16"/>
          <p:cNvSpPr txBox="1"/>
          <p:nvPr/>
        </p:nvSpPr>
        <p:spPr>
          <a:xfrm>
            <a:off x="6510528" y="2706624"/>
            <a:ext cx="2039112" cy="53035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API tokens, webhook secrets, cloud access keys.</a:t>
            </a:r>
            <a:endParaRPr lang="en-US" sz="1150" dirty="0"/>
          </a:p>
        </p:txBody>
      </p:sp>
      <p:sp>
        <p:nvSpPr>
          <p:cNvPr id="19" name="Shape 17"/>
          <p:cNvSpPr/>
          <p:nvPr/>
        </p:nvSpPr>
        <p:spPr>
          <a:xfrm>
            <a:off x="9089136" y="1572768"/>
            <a:ext cx="2514600" cy="1737360"/>
          </a:xfrm>
          <a:prstGeom prst="roundRect">
            <a:avLst>
              <a:gd name="adj" fmla="val 3158"/>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9326880" y="1810512"/>
            <a:ext cx="420624" cy="420624"/>
          </a:xfrm>
          <a:prstGeom prst="ellipse">
            <a:avLst/>
          </a:prstGeom>
          <a:solidFill>
            <a:srgbClr val="1F5673"/>
          </a:solidFill>
          <a:ln w="12700">
            <a:solidFill>
              <a:srgbClr val="1F5673"/>
            </a:solidFill>
            <a:prstDash val="solid"/>
          </a:ln>
        </p:spPr>
      </p:sp>
      <p:sp>
        <p:nvSpPr>
          <p:cNvPr id="21" name="Text 19"/>
          <p:cNvSpPr txBox="1"/>
          <p:nvPr/>
        </p:nvSpPr>
        <p:spPr>
          <a:xfrm>
            <a:off x="9326880"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9326880" y="2359152"/>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Secret file</a:t>
            </a:r>
            <a:endParaRPr lang="en-US" sz="1350" dirty="0"/>
          </a:p>
        </p:txBody>
      </p:sp>
      <p:sp>
        <p:nvSpPr>
          <p:cNvPr id="23" name="Text 21"/>
          <p:cNvSpPr txBox="1"/>
          <p:nvPr/>
        </p:nvSpPr>
        <p:spPr>
          <a:xfrm>
            <a:off x="9326880" y="2706624"/>
            <a:ext cx="2039112" cy="53035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Certificates, kubeconfig files, keystores.</a:t>
            </a:r>
            <a:endParaRPr lang="en-US" sz="1150" dirty="0"/>
          </a:p>
        </p:txBody>
      </p:sp>
      <p:sp>
        <p:nvSpPr>
          <p:cNvPr id="24" name="Shape 22"/>
          <p:cNvSpPr/>
          <p:nvPr/>
        </p:nvSpPr>
        <p:spPr>
          <a:xfrm>
            <a:off x="640080" y="3474720"/>
            <a:ext cx="6035040" cy="2560320"/>
          </a:xfrm>
          <a:prstGeom prst="roundRect">
            <a:avLst>
              <a:gd name="adj" fmla="val 1786"/>
            </a:avLst>
          </a:prstGeom>
          <a:solidFill>
            <a:srgbClr val="141C26"/>
          </a:solidFill>
          <a:ln w="12700">
            <a:solidFill>
              <a:srgbClr val="2C3E50"/>
            </a:solidFill>
            <a:prstDash val="solid"/>
          </a:ln>
        </p:spPr>
      </p:sp>
      <p:sp>
        <p:nvSpPr>
          <p:cNvPr id="25" name="Text 23"/>
          <p:cNvSpPr txBox="1"/>
          <p:nvPr/>
        </p:nvSpPr>
        <p:spPr>
          <a:xfrm>
            <a:off x="896112" y="3675888"/>
            <a:ext cx="552297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USING A CREDENTIAL IN A PIPELINE</a:t>
            </a:r>
            <a:endParaRPr lang="en-US" sz="1250" dirty="0"/>
          </a:p>
        </p:txBody>
      </p:sp>
      <p:sp>
        <p:nvSpPr>
          <p:cNvPr id="26" name="Text 24"/>
          <p:cNvSpPr txBox="1"/>
          <p:nvPr/>
        </p:nvSpPr>
        <p:spPr>
          <a:xfrm>
            <a:off x="896112" y="4078224"/>
            <a:ext cx="5522976" cy="1792224"/>
          </a:xfrm>
          <a:prstGeom prst="rect">
            <a:avLst/>
          </a:prstGeom>
          <a:noFill/>
          <a:ln/>
        </p:spPr>
        <p:txBody>
          <a:bodyPr wrap="square" lIns="0" tIns="0" rIns="0" bIns="0" rtlCol="0" anchor="t"/>
          <a:lstStyle/>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withCredentials([usernamePassword(</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credentialsId: 'tomcat-deployer',</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usernameVariable: 'USER',</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passwordVariable: 'PASS')])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sh 'curl -u $USER:$PASS --upload-file app.war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18000"/>
              </a:lnSpc>
              <a:buNone/>
            </a:pP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Jenkins masks the values in the console output</a:t>
            </a:r>
            <a:endParaRPr lang="en-US" sz="1100" dirty="0"/>
          </a:p>
        </p:txBody>
      </p:sp>
      <p:sp>
        <p:nvSpPr>
          <p:cNvPr id="27" name="Shape 25"/>
          <p:cNvSpPr/>
          <p:nvPr/>
        </p:nvSpPr>
        <p:spPr>
          <a:xfrm>
            <a:off x="6995160" y="3474720"/>
            <a:ext cx="4553712" cy="804672"/>
          </a:xfrm>
          <a:prstGeom prst="roundRect">
            <a:avLst>
              <a:gd name="adj" fmla="val 5682"/>
            </a:avLst>
          </a:prstGeom>
          <a:solidFill>
            <a:srgbClr val="F1F4F7"/>
          </a:solidFill>
          <a:ln w="12700">
            <a:solidFill>
              <a:srgbClr val="DBE2EA"/>
            </a:solidFill>
            <a:prstDash val="solid"/>
          </a:ln>
        </p:spPr>
      </p:sp>
      <p:sp>
        <p:nvSpPr>
          <p:cNvPr id="28" name="Text 26"/>
          <p:cNvSpPr txBox="1"/>
          <p:nvPr/>
        </p:nvSpPr>
        <p:spPr>
          <a:xfrm>
            <a:off x="7242048" y="3529584"/>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Scope matters</a:t>
            </a:r>
            <a:endParaRPr lang="en-US" sz="1300" dirty="0"/>
          </a:p>
        </p:txBody>
      </p:sp>
      <p:sp>
        <p:nvSpPr>
          <p:cNvPr id="29" name="Text 27"/>
          <p:cNvSpPr txBox="1"/>
          <p:nvPr/>
        </p:nvSpPr>
        <p:spPr>
          <a:xfrm>
            <a:off x="7242048" y="3785616"/>
            <a:ext cx="411480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System credentials are for Jenkins itself; global credentials are available to jobs. Folder scope limits them to one team.</a:t>
            </a:r>
            <a:endParaRPr lang="en-US" sz="1100" dirty="0"/>
          </a:p>
        </p:txBody>
      </p:sp>
      <p:sp>
        <p:nvSpPr>
          <p:cNvPr id="30" name="Shape 28"/>
          <p:cNvSpPr/>
          <p:nvPr/>
        </p:nvSpPr>
        <p:spPr>
          <a:xfrm>
            <a:off x="6995160" y="4370832"/>
            <a:ext cx="4553712" cy="804672"/>
          </a:xfrm>
          <a:prstGeom prst="roundRect">
            <a:avLst>
              <a:gd name="adj" fmla="val 5682"/>
            </a:avLst>
          </a:prstGeom>
          <a:solidFill>
            <a:srgbClr val="FFFFFF"/>
          </a:solidFill>
          <a:ln w="12700">
            <a:solidFill>
              <a:srgbClr val="DBE2EA"/>
            </a:solidFill>
            <a:prstDash val="solid"/>
          </a:ln>
        </p:spPr>
      </p:sp>
      <p:sp>
        <p:nvSpPr>
          <p:cNvPr id="31" name="Text 29"/>
          <p:cNvSpPr txBox="1"/>
          <p:nvPr/>
        </p:nvSpPr>
        <p:spPr>
          <a:xfrm>
            <a:off x="7242048" y="4425696"/>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Reference by ID</a:t>
            </a:r>
            <a:endParaRPr lang="en-US" sz="1300" dirty="0"/>
          </a:p>
        </p:txBody>
      </p:sp>
      <p:sp>
        <p:nvSpPr>
          <p:cNvPr id="32" name="Text 30"/>
          <p:cNvSpPr txBox="1"/>
          <p:nvPr/>
        </p:nvSpPr>
        <p:spPr>
          <a:xfrm>
            <a:off x="7242048" y="4681728"/>
            <a:ext cx="411480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Jobs use the credential ID, never the value — rotating a secret touches one place.</a:t>
            </a:r>
            <a:endParaRPr lang="en-US" sz="1100" dirty="0"/>
          </a:p>
        </p:txBody>
      </p:sp>
      <p:sp>
        <p:nvSpPr>
          <p:cNvPr id="33" name="Shape 31"/>
          <p:cNvSpPr/>
          <p:nvPr/>
        </p:nvSpPr>
        <p:spPr>
          <a:xfrm>
            <a:off x="6995160" y="5266944"/>
            <a:ext cx="4553712" cy="804672"/>
          </a:xfrm>
          <a:prstGeom prst="roundRect">
            <a:avLst>
              <a:gd name="adj" fmla="val 5682"/>
            </a:avLst>
          </a:prstGeom>
          <a:solidFill>
            <a:srgbClr val="F1F4F7"/>
          </a:solidFill>
          <a:ln w="12700">
            <a:solidFill>
              <a:srgbClr val="DBE2EA"/>
            </a:solidFill>
            <a:prstDash val="solid"/>
          </a:ln>
        </p:spPr>
      </p:sp>
      <p:sp>
        <p:nvSpPr>
          <p:cNvPr id="34" name="Text 32"/>
          <p:cNvSpPr txBox="1"/>
          <p:nvPr/>
        </p:nvSpPr>
        <p:spPr>
          <a:xfrm>
            <a:off x="7242048" y="5321808"/>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Masking is not secrecy</a:t>
            </a:r>
            <a:endParaRPr lang="en-US" sz="1300" dirty="0"/>
          </a:p>
        </p:txBody>
      </p:sp>
      <p:sp>
        <p:nvSpPr>
          <p:cNvPr id="35" name="Text 33"/>
          <p:cNvSpPr txBox="1"/>
          <p:nvPr/>
        </p:nvSpPr>
        <p:spPr>
          <a:xfrm>
            <a:off x="7242048" y="5577840"/>
            <a:ext cx="411480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Jenkins hides values in logs, but anyone who can edit a job can print them. Restrict who can configure jobs.</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JOBS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Freestyle jobs — the graphical way</a:t>
            </a:r>
            <a:endParaRPr lang="en-US" sz="3100" dirty="0"/>
          </a:p>
        </p:txBody>
      </p:sp>
      <p:sp>
        <p:nvSpPr>
          <p:cNvPr id="4" name="Text 2"/>
          <p:cNvSpPr txBox="1"/>
          <p:nvPr/>
        </p:nvSpPr>
        <p:spPr>
          <a:xfrm>
            <a:off x="640080" y="1408176"/>
            <a:ext cx="10908792" cy="329184"/>
          </a:xfrm>
          <a:prstGeom prst="rect">
            <a:avLst/>
          </a:prstGeom>
          <a:noFill/>
          <a:ln/>
        </p:spPr>
        <p:txBody>
          <a:bodyPr wrap="square" lIns="0" tIns="0" rIns="0" bIns="0" rtlCol="0" anchor="ctr"/>
          <a:lstStyle/>
          <a:p>
            <a:pPr indent="0" marL="0">
              <a:buNone/>
            </a:pPr>
            <a:r>
              <a:rPr lang="en-US" sz="1400" dirty="0">
                <a:solidFill>
                  <a:srgbClr val="28313B"/>
                </a:solidFill>
                <a:latin typeface="Calibri" pitchFamily="34" charset="0"/>
                <a:ea typeface="Calibri" pitchFamily="34" charset="-122"/>
                <a:cs typeface="Calibri" pitchFamily="34" charset="-120"/>
              </a:rPr>
              <a:t>A freestyle job is configured entirely through the web interface: pick a repository, choose a trigger, add build steps, add post-build actions.</a:t>
            </a:r>
            <a:endParaRPr lang="en-US" sz="1400" dirty="0"/>
          </a:p>
        </p:txBody>
      </p:sp>
      <p:sp>
        <p:nvSpPr>
          <p:cNvPr id="5" name="Shape 3"/>
          <p:cNvSpPr/>
          <p:nvPr/>
        </p:nvSpPr>
        <p:spPr>
          <a:xfrm>
            <a:off x="640080"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6" name="Shape 4"/>
          <p:cNvSpPr/>
          <p:nvPr/>
        </p:nvSpPr>
        <p:spPr>
          <a:xfrm>
            <a:off x="877824" y="2066544"/>
            <a:ext cx="420624" cy="420624"/>
          </a:xfrm>
          <a:prstGeom prst="ellipse">
            <a:avLst/>
          </a:prstGeom>
          <a:solidFill>
            <a:srgbClr val="1F5673"/>
          </a:solidFill>
          <a:ln w="12700">
            <a:solidFill>
              <a:srgbClr val="1F5673"/>
            </a:solidFill>
            <a:prstDash val="solid"/>
          </a:ln>
        </p:spPr>
      </p:sp>
      <p:sp>
        <p:nvSpPr>
          <p:cNvPr id="7" name="Text 5"/>
          <p:cNvSpPr txBox="1"/>
          <p:nvPr/>
        </p:nvSpPr>
        <p:spPr>
          <a:xfrm>
            <a:off x="877824"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77824" y="261518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General</a:t>
            </a:r>
            <a:endParaRPr lang="en-US" sz="1400" dirty="0"/>
          </a:p>
        </p:txBody>
      </p:sp>
      <p:sp>
        <p:nvSpPr>
          <p:cNvPr id="9" name="Text 7"/>
          <p:cNvSpPr txBox="1"/>
          <p:nvPr/>
        </p:nvSpPr>
        <p:spPr>
          <a:xfrm>
            <a:off x="877824" y="296265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Name, description, discard old builds, parameters, restrict where the job may run.</a:t>
            </a:r>
            <a:endParaRPr lang="en-US" sz="1150" dirty="0"/>
          </a:p>
        </p:txBody>
      </p:sp>
      <p:sp>
        <p:nvSpPr>
          <p:cNvPr id="10" name="Shape 8"/>
          <p:cNvSpPr/>
          <p:nvPr/>
        </p:nvSpPr>
        <p:spPr>
          <a:xfrm>
            <a:off x="4384548"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622292" y="2066544"/>
            <a:ext cx="420624" cy="420624"/>
          </a:xfrm>
          <a:prstGeom prst="ellipse">
            <a:avLst/>
          </a:prstGeom>
          <a:solidFill>
            <a:srgbClr val="1F5673"/>
          </a:solidFill>
          <a:ln w="12700">
            <a:solidFill>
              <a:srgbClr val="1F5673"/>
            </a:solidFill>
            <a:prstDash val="solid"/>
          </a:ln>
        </p:spPr>
      </p:sp>
      <p:sp>
        <p:nvSpPr>
          <p:cNvPr id="12" name="Text 10"/>
          <p:cNvSpPr txBox="1"/>
          <p:nvPr/>
        </p:nvSpPr>
        <p:spPr>
          <a:xfrm>
            <a:off x="4622292"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4622292" y="261518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Source Code Management</a:t>
            </a:r>
            <a:endParaRPr lang="en-US" sz="1400" dirty="0"/>
          </a:p>
        </p:txBody>
      </p:sp>
      <p:sp>
        <p:nvSpPr>
          <p:cNvPr id="14" name="Text 12"/>
          <p:cNvSpPr txBox="1"/>
          <p:nvPr/>
        </p:nvSpPr>
        <p:spPr>
          <a:xfrm>
            <a:off x="4622292" y="296265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Git or Subversion URL, credentials, and which branch to build.</a:t>
            </a:r>
            <a:endParaRPr lang="en-US" sz="1150" dirty="0"/>
          </a:p>
        </p:txBody>
      </p:sp>
      <p:sp>
        <p:nvSpPr>
          <p:cNvPr id="15" name="Shape 13"/>
          <p:cNvSpPr/>
          <p:nvPr/>
        </p:nvSpPr>
        <p:spPr>
          <a:xfrm>
            <a:off x="8129016" y="182880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6" name="Shape 14"/>
          <p:cNvSpPr/>
          <p:nvPr/>
        </p:nvSpPr>
        <p:spPr>
          <a:xfrm>
            <a:off x="8366760" y="2066544"/>
            <a:ext cx="420624" cy="420624"/>
          </a:xfrm>
          <a:prstGeom prst="ellipse">
            <a:avLst/>
          </a:prstGeom>
          <a:solidFill>
            <a:srgbClr val="1F5673"/>
          </a:solidFill>
          <a:ln w="12700">
            <a:solidFill>
              <a:srgbClr val="1F5673"/>
            </a:solidFill>
            <a:prstDash val="solid"/>
          </a:ln>
        </p:spPr>
      </p:sp>
      <p:sp>
        <p:nvSpPr>
          <p:cNvPr id="17" name="Text 15"/>
          <p:cNvSpPr txBox="1"/>
          <p:nvPr/>
        </p:nvSpPr>
        <p:spPr>
          <a:xfrm>
            <a:off x="8366760" y="20665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8366760" y="261518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Build Triggers</a:t>
            </a:r>
            <a:endParaRPr lang="en-US" sz="1400" dirty="0"/>
          </a:p>
        </p:txBody>
      </p:sp>
      <p:sp>
        <p:nvSpPr>
          <p:cNvPr id="19" name="Text 17"/>
          <p:cNvSpPr txBox="1"/>
          <p:nvPr/>
        </p:nvSpPr>
        <p:spPr>
          <a:xfrm>
            <a:off x="8366760" y="296265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Poll SCM, build periodically, trigger from another job, or accept a webhook.</a:t>
            </a:r>
            <a:endParaRPr lang="en-US" sz="1150" dirty="0"/>
          </a:p>
        </p:txBody>
      </p:sp>
      <p:sp>
        <p:nvSpPr>
          <p:cNvPr id="20" name="Shape 18"/>
          <p:cNvSpPr/>
          <p:nvPr/>
        </p:nvSpPr>
        <p:spPr>
          <a:xfrm>
            <a:off x="640080" y="370332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1" name="Shape 19"/>
          <p:cNvSpPr/>
          <p:nvPr/>
        </p:nvSpPr>
        <p:spPr>
          <a:xfrm>
            <a:off x="877824" y="3941064"/>
            <a:ext cx="420624" cy="420624"/>
          </a:xfrm>
          <a:prstGeom prst="ellipse">
            <a:avLst/>
          </a:prstGeom>
          <a:solidFill>
            <a:srgbClr val="1F5673"/>
          </a:solidFill>
          <a:ln w="12700">
            <a:solidFill>
              <a:srgbClr val="1F5673"/>
            </a:solidFill>
            <a:prstDash val="solid"/>
          </a:ln>
        </p:spPr>
      </p:sp>
      <p:sp>
        <p:nvSpPr>
          <p:cNvPr id="22" name="Text 20"/>
          <p:cNvSpPr txBox="1"/>
          <p:nvPr/>
        </p:nvSpPr>
        <p:spPr>
          <a:xfrm>
            <a:off x="877824" y="39410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877824" y="448970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Build Environment</a:t>
            </a:r>
            <a:endParaRPr lang="en-US" sz="1400" dirty="0"/>
          </a:p>
        </p:txBody>
      </p:sp>
      <p:sp>
        <p:nvSpPr>
          <p:cNvPr id="24" name="Text 22"/>
          <p:cNvSpPr txBox="1"/>
          <p:nvPr/>
        </p:nvSpPr>
        <p:spPr>
          <a:xfrm>
            <a:off x="877824" y="483717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Delete the workspace before building, bind credentials, set a timeout.</a:t>
            </a:r>
            <a:endParaRPr lang="en-US" sz="1150" dirty="0"/>
          </a:p>
        </p:txBody>
      </p:sp>
      <p:sp>
        <p:nvSpPr>
          <p:cNvPr id="25" name="Shape 23"/>
          <p:cNvSpPr/>
          <p:nvPr/>
        </p:nvSpPr>
        <p:spPr>
          <a:xfrm>
            <a:off x="4384548" y="370332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6" name="Shape 24"/>
          <p:cNvSpPr/>
          <p:nvPr/>
        </p:nvSpPr>
        <p:spPr>
          <a:xfrm>
            <a:off x="4622292" y="3941064"/>
            <a:ext cx="420624" cy="420624"/>
          </a:xfrm>
          <a:prstGeom prst="ellipse">
            <a:avLst/>
          </a:prstGeom>
          <a:solidFill>
            <a:srgbClr val="1F5673"/>
          </a:solidFill>
          <a:ln w="12700">
            <a:solidFill>
              <a:srgbClr val="1F5673"/>
            </a:solidFill>
            <a:prstDash val="solid"/>
          </a:ln>
        </p:spPr>
      </p:sp>
      <p:sp>
        <p:nvSpPr>
          <p:cNvPr id="27" name="Text 25"/>
          <p:cNvSpPr txBox="1"/>
          <p:nvPr/>
        </p:nvSpPr>
        <p:spPr>
          <a:xfrm>
            <a:off x="4622292" y="39410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4622292" y="448970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Build Steps</a:t>
            </a:r>
            <a:endParaRPr lang="en-US" sz="1400" dirty="0"/>
          </a:p>
        </p:txBody>
      </p:sp>
      <p:sp>
        <p:nvSpPr>
          <p:cNvPr id="29" name="Text 27"/>
          <p:cNvSpPr txBox="1"/>
          <p:nvPr/>
        </p:nvSpPr>
        <p:spPr>
          <a:xfrm>
            <a:off x="4622292" y="483717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Invoke Maven, run a shell script, execute a Windows batch command.</a:t>
            </a:r>
            <a:endParaRPr lang="en-US" sz="1150" dirty="0"/>
          </a:p>
        </p:txBody>
      </p:sp>
      <p:sp>
        <p:nvSpPr>
          <p:cNvPr id="30" name="Shape 28"/>
          <p:cNvSpPr/>
          <p:nvPr/>
        </p:nvSpPr>
        <p:spPr>
          <a:xfrm>
            <a:off x="8129016" y="3703320"/>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1" name="Shape 29"/>
          <p:cNvSpPr/>
          <p:nvPr/>
        </p:nvSpPr>
        <p:spPr>
          <a:xfrm>
            <a:off x="8366760" y="3941064"/>
            <a:ext cx="420624" cy="420624"/>
          </a:xfrm>
          <a:prstGeom prst="ellipse">
            <a:avLst/>
          </a:prstGeom>
          <a:solidFill>
            <a:srgbClr val="1F5673"/>
          </a:solidFill>
          <a:ln w="12700">
            <a:solidFill>
              <a:srgbClr val="1F5673"/>
            </a:solidFill>
            <a:prstDash val="solid"/>
          </a:ln>
        </p:spPr>
      </p:sp>
      <p:sp>
        <p:nvSpPr>
          <p:cNvPr id="32" name="Text 30"/>
          <p:cNvSpPr txBox="1"/>
          <p:nvPr/>
        </p:nvSpPr>
        <p:spPr>
          <a:xfrm>
            <a:off x="8366760" y="39410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8366760" y="4489704"/>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Post-build Actions</a:t>
            </a:r>
            <a:endParaRPr lang="en-US" sz="1400" dirty="0"/>
          </a:p>
        </p:txBody>
      </p:sp>
      <p:sp>
        <p:nvSpPr>
          <p:cNvPr id="34" name="Text 32"/>
          <p:cNvSpPr txBox="1"/>
          <p:nvPr/>
        </p:nvSpPr>
        <p:spPr>
          <a:xfrm>
            <a:off x="8366760" y="4837176"/>
            <a:ext cx="2944368" cy="4846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Archive artifacts, publish test results, send email, trigger downstream jobs.</a:t>
            </a:r>
            <a:endParaRPr lang="en-US" sz="1150" dirty="0"/>
          </a:p>
        </p:txBody>
      </p:sp>
      <p:sp>
        <p:nvSpPr>
          <p:cNvPr id="35" name="Shape 33"/>
          <p:cNvSpPr/>
          <p:nvPr/>
        </p:nvSpPr>
        <p:spPr>
          <a:xfrm>
            <a:off x="640080" y="5623560"/>
            <a:ext cx="10908792" cy="594360"/>
          </a:xfrm>
          <a:prstGeom prst="roundRect">
            <a:avLst>
              <a:gd name="adj" fmla="val 9231"/>
            </a:avLst>
          </a:prstGeom>
          <a:solidFill>
            <a:srgbClr val="EAF1F6"/>
          </a:solidFill>
          <a:ln w="12700">
            <a:solidFill>
              <a:srgbClr val="1F5673"/>
            </a:solidFill>
            <a:prstDash val="solid"/>
          </a:ln>
        </p:spPr>
      </p:sp>
      <p:sp>
        <p:nvSpPr>
          <p:cNvPr id="36" name="Text 34"/>
          <p:cNvSpPr txBox="1"/>
          <p:nvPr/>
        </p:nvSpPr>
        <p:spPr>
          <a:xfrm>
            <a:off x="1005840" y="5623560"/>
            <a:ext cx="10177272" cy="59436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New item → Freestyle project → configure the six sections above → Save → Build Now → read the console output.</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JOBS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Where freestyle jobs run out of road</a:t>
            </a:r>
            <a:endParaRPr lang="en-US" sz="3100" dirty="0"/>
          </a:p>
        </p:txBody>
      </p:sp>
      <p:sp>
        <p:nvSpPr>
          <p:cNvPr id="4" name="Shape 2"/>
          <p:cNvSpPr/>
          <p:nvPr/>
        </p:nvSpPr>
        <p:spPr>
          <a:xfrm>
            <a:off x="640080"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65376"/>
            <a:ext cx="420624" cy="420624"/>
          </a:xfrm>
          <a:prstGeom prst="ellipse">
            <a:avLst/>
          </a:prstGeom>
          <a:solidFill>
            <a:srgbClr val="A8392C"/>
          </a:solidFill>
          <a:ln w="12700">
            <a:solidFill>
              <a:srgbClr val="A8392C"/>
            </a:solidFill>
            <a:prstDash val="solid"/>
          </a:ln>
        </p:spPr>
      </p:sp>
      <p:sp>
        <p:nvSpPr>
          <p:cNvPr id="6" name="Text 4"/>
          <p:cNvSpPr txBox="1"/>
          <p:nvPr/>
        </p:nvSpPr>
        <p:spPr>
          <a:xfrm>
            <a:off x="877824"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7" name="Text 5"/>
          <p:cNvSpPr txBox="1"/>
          <p:nvPr/>
        </p:nvSpPr>
        <p:spPr>
          <a:xfrm>
            <a:off x="877824" y="241401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Configuration is not versioned</a:t>
            </a:r>
            <a:endParaRPr lang="en-US" sz="1400" dirty="0"/>
          </a:p>
        </p:txBody>
      </p:sp>
      <p:sp>
        <p:nvSpPr>
          <p:cNvPr id="8" name="Text 6"/>
          <p:cNvSpPr txBox="1"/>
          <p:nvPr/>
        </p:nvSpPr>
        <p:spPr>
          <a:xfrm>
            <a:off x="877824"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job lives in Jenkins, not in your repository. There is no diff, no review, and no history of who changed what.</a:t>
            </a:r>
            <a:endParaRPr lang="en-US" sz="1150" dirty="0"/>
          </a:p>
        </p:txBody>
      </p:sp>
      <p:sp>
        <p:nvSpPr>
          <p:cNvPr id="9" name="Shape 7"/>
          <p:cNvSpPr/>
          <p:nvPr/>
        </p:nvSpPr>
        <p:spPr>
          <a:xfrm>
            <a:off x="4384548"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65376"/>
            <a:ext cx="420624" cy="420624"/>
          </a:xfrm>
          <a:prstGeom prst="ellipse">
            <a:avLst/>
          </a:prstGeom>
          <a:solidFill>
            <a:srgbClr val="A8392C"/>
          </a:solidFill>
          <a:ln w="12700">
            <a:solidFill>
              <a:srgbClr val="A8392C"/>
            </a:solidFill>
            <a:prstDash val="solid"/>
          </a:ln>
        </p:spPr>
      </p:sp>
      <p:sp>
        <p:nvSpPr>
          <p:cNvPr id="11" name="Text 9"/>
          <p:cNvSpPr txBox="1"/>
          <p:nvPr/>
        </p:nvSpPr>
        <p:spPr>
          <a:xfrm>
            <a:off x="4622292"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2" name="Text 10"/>
          <p:cNvSpPr txBox="1"/>
          <p:nvPr/>
        </p:nvSpPr>
        <p:spPr>
          <a:xfrm>
            <a:off x="4622292" y="241401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Hard to review or replicate</a:t>
            </a:r>
            <a:endParaRPr lang="en-US" sz="1400" dirty="0"/>
          </a:p>
        </p:txBody>
      </p:sp>
      <p:sp>
        <p:nvSpPr>
          <p:cNvPr id="13" name="Text 11"/>
          <p:cNvSpPr txBox="1"/>
          <p:nvPr/>
        </p:nvSpPr>
        <p:spPr>
          <a:xfrm>
            <a:off x="4622292"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Recreating a job on another Jenkins means clicking through dozens of fields and hoping you matched them.</a:t>
            </a:r>
            <a:endParaRPr lang="en-US" sz="1150" dirty="0"/>
          </a:p>
        </p:txBody>
      </p:sp>
      <p:sp>
        <p:nvSpPr>
          <p:cNvPr id="14" name="Shape 12"/>
          <p:cNvSpPr/>
          <p:nvPr/>
        </p:nvSpPr>
        <p:spPr>
          <a:xfrm>
            <a:off x="8129016"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65376"/>
            <a:ext cx="420624" cy="420624"/>
          </a:xfrm>
          <a:prstGeom prst="ellipse">
            <a:avLst/>
          </a:prstGeom>
          <a:solidFill>
            <a:srgbClr val="A8392C"/>
          </a:solidFill>
          <a:ln w="12700">
            <a:solidFill>
              <a:srgbClr val="A8392C"/>
            </a:solidFill>
            <a:prstDash val="solid"/>
          </a:ln>
        </p:spPr>
      </p:sp>
      <p:sp>
        <p:nvSpPr>
          <p:cNvPr id="16" name="Text 14"/>
          <p:cNvSpPr txBox="1"/>
          <p:nvPr/>
        </p:nvSpPr>
        <p:spPr>
          <a:xfrm>
            <a:off x="8366760"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17" name="Text 15"/>
          <p:cNvSpPr txBox="1"/>
          <p:nvPr/>
        </p:nvSpPr>
        <p:spPr>
          <a:xfrm>
            <a:off x="8366760" y="241401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Poor at multi-stage work</a:t>
            </a:r>
            <a:endParaRPr lang="en-US" sz="1400" dirty="0"/>
          </a:p>
        </p:txBody>
      </p:sp>
      <p:sp>
        <p:nvSpPr>
          <p:cNvPr id="18" name="Text 16"/>
          <p:cNvSpPr txBox="1"/>
          <p:nvPr/>
        </p:nvSpPr>
        <p:spPr>
          <a:xfrm>
            <a:off x="8366760"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Build, test, deploy and approve are awkward to express, and a chain of linked jobs is fragile.</a:t>
            </a:r>
            <a:endParaRPr lang="en-US" sz="1150" dirty="0"/>
          </a:p>
        </p:txBody>
      </p:sp>
      <p:sp>
        <p:nvSpPr>
          <p:cNvPr id="19" name="Shape 17"/>
          <p:cNvSpPr/>
          <p:nvPr/>
        </p:nvSpPr>
        <p:spPr>
          <a:xfrm>
            <a:off x="640080"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877824" y="3968496"/>
            <a:ext cx="420624" cy="420624"/>
          </a:xfrm>
          <a:prstGeom prst="ellipse">
            <a:avLst/>
          </a:prstGeom>
          <a:solidFill>
            <a:srgbClr val="A8392C"/>
          </a:solidFill>
          <a:ln w="12700">
            <a:solidFill>
              <a:srgbClr val="A8392C"/>
            </a:solidFill>
            <a:prstDash val="solid"/>
          </a:ln>
        </p:spPr>
      </p:sp>
      <p:sp>
        <p:nvSpPr>
          <p:cNvPr id="21" name="Text 19"/>
          <p:cNvSpPr txBox="1"/>
          <p:nvPr/>
        </p:nvSpPr>
        <p:spPr>
          <a:xfrm>
            <a:off x="877824"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2" name="Text 20"/>
          <p:cNvSpPr txBox="1"/>
          <p:nvPr/>
        </p:nvSpPr>
        <p:spPr>
          <a:xfrm>
            <a:off x="877824" y="451713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No easy parallelism</a:t>
            </a:r>
            <a:endParaRPr lang="en-US" sz="1400" dirty="0"/>
          </a:p>
        </p:txBody>
      </p:sp>
      <p:sp>
        <p:nvSpPr>
          <p:cNvPr id="23" name="Text 21"/>
          <p:cNvSpPr txBox="1"/>
          <p:nvPr/>
        </p:nvSpPr>
        <p:spPr>
          <a:xfrm>
            <a:off x="877824"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Running test suites side by side or on different platforms needs plugins and workarounds.</a:t>
            </a:r>
            <a:endParaRPr lang="en-US" sz="1150" dirty="0"/>
          </a:p>
        </p:txBody>
      </p:sp>
      <p:sp>
        <p:nvSpPr>
          <p:cNvPr id="24" name="Shape 22"/>
          <p:cNvSpPr/>
          <p:nvPr/>
        </p:nvSpPr>
        <p:spPr>
          <a:xfrm>
            <a:off x="4384548"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4622292" y="3968496"/>
            <a:ext cx="420624" cy="420624"/>
          </a:xfrm>
          <a:prstGeom prst="ellipse">
            <a:avLst/>
          </a:prstGeom>
          <a:solidFill>
            <a:srgbClr val="A8392C"/>
          </a:solidFill>
          <a:ln w="12700">
            <a:solidFill>
              <a:srgbClr val="A8392C"/>
            </a:solidFill>
            <a:prstDash val="solid"/>
          </a:ln>
        </p:spPr>
      </p:sp>
      <p:sp>
        <p:nvSpPr>
          <p:cNvPr id="26" name="Text 24"/>
          <p:cNvSpPr txBox="1"/>
          <p:nvPr/>
        </p:nvSpPr>
        <p:spPr>
          <a:xfrm>
            <a:off x="4622292"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27" name="Text 25"/>
          <p:cNvSpPr txBox="1"/>
          <p:nvPr/>
        </p:nvSpPr>
        <p:spPr>
          <a:xfrm>
            <a:off x="4622292" y="451713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Cannot survive a restart</a:t>
            </a:r>
            <a:endParaRPr lang="en-US" sz="1400" dirty="0"/>
          </a:p>
        </p:txBody>
      </p:sp>
      <p:sp>
        <p:nvSpPr>
          <p:cNvPr id="28" name="Text 26"/>
          <p:cNvSpPr txBox="1"/>
          <p:nvPr/>
        </p:nvSpPr>
        <p:spPr>
          <a:xfrm>
            <a:off x="4622292"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long-running freestyle build does not resume if the controller restarts mid-build.</a:t>
            </a:r>
            <a:endParaRPr lang="en-US" sz="1150" dirty="0"/>
          </a:p>
        </p:txBody>
      </p:sp>
      <p:sp>
        <p:nvSpPr>
          <p:cNvPr id="29" name="Shape 27"/>
          <p:cNvSpPr/>
          <p:nvPr/>
        </p:nvSpPr>
        <p:spPr>
          <a:xfrm>
            <a:off x="8129016"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0" name="Shape 28"/>
          <p:cNvSpPr/>
          <p:nvPr/>
        </p:nvSpPr>
        <p:spPr>
          <a:xfrm>
            <a:off x="8366760" y="3968496"/>
            <a:ext cx="420624" cy="420624"/>
          </a:xfrm>
          <a:prstGeom prst="ellipse">
            <a:avLst/>
          </a:prstGeom>
          <a:solidFill>
            <a:srgbClr val="A8392C"/>
          </a:solidFill>
          <a:ln w="12700">
            <a:solidFill>
              <a:srgbClr val="A8392C"/>
            </a:solidFill>
            <a:prstDash val="solid"/>
          </a:ln>
        </p:spPr>
      </p:sp>
      <p:sp>
        <p:nvSpPr>
          <p:cNvPr id="31" name="Text 29"/>
          <p:cNvSpPr txBox="1"/>
          <p:nvPr/>
        </p:nvSpPr>
        <p:spPr>
          <a:xfrm>
            <a:off x="8366760"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t>
            </a:r>
            <a:endParaRPr lang="en-US" sz="1300" dirty="0"/>
          </a:p>
        </p:txBody>
      </p:sp>
      <p:sp>
        <p:nvSpPr>
          <p:cNvPr id="32" name="Text 30"/>
          <p:cNvSpPr txBox="1"/>
          <p:nvPr/>
        </p:nvSpPr>
        <p:spPr>
          <a:xfrm>
            <a:off x="8366760" y="4517136"/>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Does not scale with teams</a:t>
            </a:r>
            <a:endParaRPr lang="en-US" sz="1400" dirty="0"/>
          </a:p>
        </p:txBody>
      </p:sp>
      <p:sp>
        <p:nvSpPr>
          <p:cNvPr id="33" name="Text 31"/>
          <p:cNvSpPr txBox="1"/>
          <p:nvPr/>
        </p:nvSpPr>
        <p:spPr>
          <a:xfrm>
            <a:off x="8366760"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Fifty similar jobs means fifty places to change when a standard changes.</a:t>
            </a:r>
            <a:endParaRPr lang="en-US" sz="1150" dirty="0"/>
          </a:p>
        </p:txBody>
      </p:sp>
      <p:sp>
        <p:nvSpPr>
          <p:cNvPr id="34" name="Shape 32"/>
          <p:cNvSpPr/>
          <p:nvPr/>
        </p:nvSpPr>
        <p:spPr>
          <a:xfrm>
            <a:off x="640080" y="5760720"/>
            <a:ext cx="10908792" cy="548640"/>
          </a:xfrm>
          <a:prstGeom prst="roundRect">
            <a:avLst>
              <a:gd name="adj" fmla="val 10000"/>
            </a:avLst>
          </a:prstGeom>
          <a:solidFill>
            <a:srgbClr val="141C26"/>
          </a:solidFill>
          <a:ln w="12700">
            <a:solidFill>
              <a:srgbClr val="141C26"/>
            </a:solidFill>
            <a:prstDash val="solid"/>
          </a:ln>
        </p:spPr>
      </p:sp>
      <p:sp>
        <p:nvSpPr>
          <p:cNvPr id="35" name="Text 33"/>
          <p:cNvSpPr txBox="1"/>
          <p:nvPr/>
        </p:nvSpPr>
        <p:spPr>
          <a:xfrm>
            <a:off x="1005840" y="5760720"/>
            <a:ext cx="10177272"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Freestyle is still the right choice for a simple, one-off job. For anything a team depends on, use a pipeline.</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JOBS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Pipelines — the build as code</a:t>
            </a:r>
            <a:endParaRPr lang="en-US" sz="3100" dirty="0"/>
          </a:p>
        </p:txBody>
      </p:sp>
      <p:sp>
        <p:nvSpPr>
          <p:cNvPr id="4" name="Shape 2"/>
          <p:cNvSpPr/>
          <p:nvPr/>
        </p:nvSpPr>
        <p:spPr>
          <a:xfrm>
            <a:off x="640080" y="1481328"/>
            <a:ext cx="6035040" cy="3291840"/>
          </a:xfrm>
          <a:prstGeom prst="roundRect">
            <a:avLst>
              <a:gd name="adj" fmla="val 1389"/>
            </a:avLst>
          </a:prstGeom>
          <a:solidFill>
            <a:srgbClr val="141C26"/>
          </a:solidFill>
          <a:ln w="12700">
            <a:solidFill>
              <a:srgbClr val="2C3E50"/>
            </a:solidFill>
            <a:prstDash val="solid"/>
          </a:ln>
        </p:spPr>
      </p:sp>
      <p:sp>
        <p:nvSpPr>
          <p:cNvPr id="5" name="Text 3"/>
          <p:cNvSpPr txBox="1"/>
          <p:nvPr/>
        </p:nvSpPr>
        <p:spPr>
          <a:xfrm>
            <a:off x="896112" y="1682496"/>
            <a:ext cx="552297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Jenkinsfile, COMMITTED TO YOUR REPOSITORY</a:t>
            </a:r>
            <a:endParaRPr lang="en-US" sz="1250" dirty="0"/>
          </a:p>
        </p:txBody>
      </p:sp>
      <p:sp>
        <p:nvSpPr>
          <p:cNvPr id="6" name="Text 4"/>
          <p:cNvSpPr txBox="1"/>
          <p:nvPr/>
        </p:nvSpPr>
        <p:spPr>
          <a:xfrm>
            <a:off x="896112" y="2084832"/>
            <a:ext cx="5522976" cy="2523744"/>
          </a:xfrm>
          <a:prstGeom prst="rect">
            <a:avLst/>
          </a:prstGeom>
          <a:noFill/>
          <a:ln/>
        </p:spPr>
        <p:txBody>
          <a:bodyPr wrap="square" lIns="0" tIns="0" rIns="0" bIns="0" rtlCol="0" anchor="t"/>
          <a:lstStyle/>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pipeline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agent any</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stages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stage('Build')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steps { sh 'mvn -B clean package'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stage('Test')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steps { sh 'mvn test'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a:t>
            </a:r>
            <a:endParaRPr lang="en-US" sz="1150" dirty="0"/>
          </a:p>
        </p:txBody>
      </p:sp>
      <p:sp>
        <p:nvSpPr>
          <p:cNvPr id="7" name="Shape 5"/>
          <p:cNvSpPr/>
          <p:nvPr/>
        </p:nvSpPr>
        <p:spPr>
          <a:xfrm>
            <a:off x="6995160" y="1481328"/>
            <a:ext cx="4553712" cy="777240"/>
          </a:xfrm>
          <a:prstGeom prst="roundRect">
            <a:avLst>
              <a:gd name="adj" fmla="val 5882"/>
            </a:avLst>
          </a:prstGeom>
          <a:solidFill>
            <a:srgbClr val="F1F4F7"/>
          </a:solidFill>
          <a:ln w="12700">
            <a:solidFill>
              <a:srgbClr val="DBE2EA"/>
            </a:solidFill>
            <a:prstDash val="solid"/>
          </a:ln>
        </p:spPr>
      </p:sp>
      <p:sp>
        <p:nvSpPr>
          <p:cNvPr id="8" name="Text 6"/>
          <p:cNvSpPr txBox="1"/>
          <p:nvPr/>
        </p:nvSpPr>
        <p:spPr>
          <a:xfrm>
            <a:off x="7242048" y="1536192"/>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Versioned with the code</a:t>
            </a:r>
            <a:endParaRPr lang="en-US" sz="1300" dirty="0"/>
          </a:p>
        </p:txBody>
      </p:sp>
      <p:sp>
        <p:nvSpPr>
          <p:cNvPr id="9" name="Text 7"/>
          <p:cNvSpPr txBox="1"/>
          <p:nvPr/>
        </p:nvSpPr>
        <p:spPr>
          <a:xfrm>
            <a:off x="7242048" y="1792224"/>
            <a:ext cx="4114800" cy="420624"/>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The pipeline changes in the same commit as the change that needs it, and goes through code review.</a:t>
            </a:r>
            <a:endParaRPr lang="en-US" sz="1100" dirty="0"/>
          </a:p>
        </p:txBody>
      </p:sp>
      <p:sp>
        <p:nvSpPr>
          <p:cNvPr id="10" name="Shape 8"/>
          <p:cNvSpPr/>
          <p:nvPr/>
        </p:nvSpPr>
        <p:spPr>
          <a:xfrm>
            <a:off x="6995160" y="2340864"/>
            <a:ext cx="4553712" cy="777240"/>
          </a:xfrm>
          <a:prstGeom prst="roundRect">
            <a:avLst>
              <a:gd name="adj" fmla="val 5882"/>
            </a:avLst>
          </a:prstGeom>
          <a:solidFill>
            <a:srgbClr val="FFFFFF"/>
          </a:solidFill>
          <a:ln w="12700">
            <a:solidFill>
              <a:srgbClr val="DBE2EA"/>
            </a:solidFill>
            <a:prstDash val="solid"/>
          </a:ln>
        </p:spPr>
      </p:sp>
      <p:sp>
        <p:nvSpPr>
          <p:cNvPr id="11" name="Text 9"/>
          <p:cNvSpPr txBox="1"/>
          <p:nvPr/>
        </p:nvSpPr>
        <p:spPr>
          <a:xfrm>
            <a:off x="7242048" y="2395728"/>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Reviewable and reusable</a:t>
            </a:r>
            <a:endParaRPr lang="en-US" sz="1300" dirty="0"/>
          </a:p>
        </p:txBody>
      </p:sp>
      <p:sp>
        <p:nvSpPr>
          <p:cNvPr id="12" name="Text 10"/>
          <p:cNvSpPr txBox="1"/>
          <p:nvPr/>
        </p:nvSpPr>
        <p:spPr>
          <a:xfrm>
            <a:off x="7242048" y="2651760"/>
            <a:ext cx="4114800" cy="420624"/>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A Jenkinsfile is text — diff it, copy it, template it, share it through a shared library.</a:t>
            </a:r>
            <a:endParaRPr lang="en-US" sz="1100" dirty="0"/>
          </a:p>
        </p:txBody>
      </p:sp>
      <p:sp>
        <p:nvSpPr>
          <p:cNvPr id="13" name="Shape 11"/>
          <p:cNvSpPr/>
          <p:nvPr/>
        </p:nvSpPr>
        <p:spPr>
          <a:xfrm>
            <a:off x="6995160" y="3200400"/>
            <a:ext cx="4553712" cy="777240"/>
          </a:xfrm>
          <a:prstGeom prst="roundRect">
            <a:avLst>
              <a:gd name="adj" fmla="val 5882"/>
            </a:avLst>
          </a:prstGeom>
          <a:solidFill>
            <a:srgbClr val="F1F4F7"/>
          </a:solidFill>
          <a:ln w="12700">
            <a:solidFill>
              <a:srgbClr val="DBE2EA"/>
            </a:solidFill>
            <a:prstDash val="solid"/>
          </a:ln>
        </p:spPr>
      </p:sp>
      <p:sp>
        <p:nvSpPr>
          <p:cNvPr id="14" name="Text 12"/>
          <p:cNvSpPr txBox="1"/>
          <p:nvPr/>
        </p:nvSpPr>
        <p:spPr>
          <a:xfrm>
            <a:off x="7242048" y="3255264"/>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Survives restarts</a:t>
            </a:r>
            <a:endParaRPr lang="en-US" sz="1300" dirty="0"/>
          </a:p>
        </p:txBody>
      </p:sp>
      <p:sp>
        <p:nvSpPr>
          <p:cNvPr id="15" name="Text 13"/>
          <p:cNvSpPr txBox="1"/>
          <p:nvPr/>
        </p:nvSpPr>
        <p:spPr>
          <a:xfrm>
            <a:off x="7242048" y="3511296"/>
            <a:ext cx="4114800" cy="420624"/>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Pipeline builds are durable; they can resume after the controller restarts.</a:t>
            </a:r>
            <a:endParaRPr lang="en-US" sz="1100" dirty="0"/>
          </a:p>
        </p:txBody>
      </p:sp>
      <p:sp>
        <p:nvSpPr>
          <p:cNvPr id="16" name="Shape 14"/>
          <p:cNvSpPr/>
          <p:nvPr/>
        </p:nvSpPr>
        <p:spPr>
          <a:xfrm>
            <a:off x="6995160" y="4059936"/>
            <a:ext cx="4553712" cy="777240"/>
          </a:xfrm>
          <a:prstGeom prst="roundRect">
            <a:avLst>
              <a:gd name="adj" fmla="val 5882"/>
            </a:avLst>
          </a:prstGeom>
          <a:solidFill>
            <a:srgbClr val="FFFFFF"/>
          </a:solidFill>
          <a:ln w="12700">
            <a:solidFill>
              <a:srgbClr val="DBE2EA"/>
            </a:solidFill>
            <a:prstDash val="solid"/>
          </a:ln>
        </p:spPr>
      </p:sp>
      <p:sp>
        <p:nvSpPr>
          <p:cNvPr id="17" name="Text 15"/>
          <p:cNvSpPr txBox="1"/>
          <p:nvPr/>
        </p:nvSpPr>
        <p:spPr>
          <a:xfrm>
            <a:off x="7242048" y="4114800"/>
            <a:ext cx="411480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Expresses real workflows</a:t>
            </a:r>
            <a:endParaRPr lang="en-US" sz="1300" dirty="0"/>
          </a:p>
        </p:txBody>
      </p:sp>
      <p:sp>
        <p:nvSpPr>
          <p:cNvPr id="18" name="Text 16"/>
          <p:cNvSpPr txBox="1"/>
          <p:nvPr/>
        </p:nvSpPr>
        <p:spPr>
          <a:xfrm>
            <a:off x="7242048" y="4370832"/>
            <a:ext cx="4114800" cy="420624"/>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Stages, parallel branches, manual approval gates and cleanup all have first-class syntax.</a:t>
            </a:r>
            <a:endParaRPr lang="en-US" sz="1100" dirty="0"/>
          </a:p>
        </p:txBody>
      </p:sp>
      <p:sp>
        <p:nvSpPr>
          <p:cNvPr id="19" name="Shape 17"/>
          <p:cNvSpPr/>
          <p:nvPr/>
        </p:nvSpPr>
        <p:spPr>
          <a:xfrm>
            <a:off x="640080" y="4937760"/>
            <a:ext cx="10908792" cy="1097280"/>
          </a:xfrm>
          <a:prstGeom prst="roundRect">
            <a:avLst>
              <a:gd name="adj" fmla="val 5000"/>
            </a:avLst>
          </a:prstGeom>
          <a:solidFill>
            <a:srgbClr val="EAF1F6"/>
          </a:solidFill>
          <a:ln w="12700">
            <a:solidFill>
              <a:srgbClr val="1F5673"/>
            </a:solidFill>
            <a:prstDash val="solid"/>
          </a:ln>
        </p:spPr>
      </p:sp>
      <p:sp>
        <p:nvSpPr>
          <p:cNvPr id="20" name="Text 18"/>
          <p:cNvSpPr txBox="1"/>
          <p:nvPr/>
        </p:nvSpPr>
        <p:spPr>
          <a:xfrm>
            <a:off x="1005840" y="4937760"/>
            <a:ext cx="10177272" cy="1097280"/>
          </a:xfrm>
          <a:prstGeom prst="rect">
            <a:avLst/>
          </a:prstGeom>
          <a:noFill/>
          <a:ln/>
        </p:spPr>
        <p:txBody>
          <a:bodyPr wrap="square" lIns="0" tIns="0" rIns="0" bIns="0" rtlCol="0" anchor="ctr"/>
          <a:lstStyle/>
          <a:p>
            <a:pPr indent="0" marL="0">
              <a:buNone/>
            </a:pPr>
            <a:r>
              <a:rPr lang="en-US" sz="1350" dirty="0">
                <a:solidFill>
                  <a:srgbClr val="28313B"/>
                </a:solidFill>
                <a:latin typeface="Calibri" pitchFamily="34" charset="0"/>
                <a:ea typeface="Calibri" pitchFamily="34" charset="-122"/>
                <a:cs typeface="Calibri" pitchFamily="34" charset="-120"/>
              </a:rPr>
              <a:t>Creating one: New item → Pipeline → under Pipeline, choose "Pipeline script from SCM", give the repository URL and the path to the Jenkinsfile. Jenkins then reads the pipeline from your repository on every build.</a:t>
            </a:r>
            <a:endParaRPr lang="en-US" sz="13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COMPARISON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Freestyle vs pipeline</a:t>
            </a:r>
            <a:endParaRPr lang="en-US" sz="3100" dirty="0"/>
          </a:p>
        </p:txBody>
      </p:sp>
      <p:sp>
        <p:nvSpPr>
          <p:cNvPr id="4" name="Shape 2"/>
          <p:cNvSpPr/>
          <p:nvPr/>
        </p:nvSpPr>
        <p:spPr>
          <a:xfrm>
            <a:off x="4023360" y="1517904"/>
            <a:ext cx="3703320" cy="530352"/>
          </a:xfrm>
          <a:prstGeom prst="roundRect">
            <a:avLst>
              <a:gd name="adj" fmla="val 8621"/>
            </a:avLst>
          </a:prstGeom>
          <a:solidFill>
            <a:srgbClr val="2C3E50"/>
          </a:solidFill>
          <a:ln w="12700">
            <a:solidFill>
              <a:srgbClr val="2C3E50"/>
            </a:solidFill>
            <a:prstDash val="solid"/>
          </a:ln>
        </p:spPr>
      </p:sp>
      <p:sp>
        <p:nvSpPr>
          <p:cNvPr id="5" name="Text 3"/>
          <p:cNvSpPr txBox="1"/>
          <p:nvPr/>
        </p:nvSpPr>
        <p:spPr>
          <a:xfrm>
            <a:off x="4023360" y="1517904"/>
            <a:ext cx="37033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Freestyle</a:t>
            </a:r>
            <a:endParaRPr lang="en-US" sz="1400" dirty="0"/>
          </a:p>
        </p:txBody>
      </p:sp>
      <p:sp>
        <p:nvSpPr>
          <p:cNvPr id="6" name="Shape 4"/>
          <p:cNvSpPr/>
          <p:nvPr/>
        </p:nvSpPr>
        <p:spPr>
          <a:xfrm>
            <a:off x="7818120" y="1517904"/>
            <a:ext cx="3730752" cy="530352"/>
          </a:xfrm>
          <a:prstGeom prst="roundRect">
            <a:avLst>
              <a:gd name="adj" fmla="val 8621"/>
            </a:avLst>
          </a:prstGeom>
          <a:solidFill>
            <a:srgbClr val="1F5673"/>
          </a:solidFill>
          <a:ln w="12700">
            <a:solidFill>
              <a:srgbClr val="1F5673"/>
            </a:solidFill>
            <a:prstDash val="solid"/>
          </a:ln>
        </p:spPr>
      </p:sp>
      <p:sp>
        <p:nvSpPr>
          <p:cNvPr id="7" name="Text 5"/>
          <p:cNvSpPr txBox="1"/>
          <p:nvPr/>
        </p:nvSpPr>
        <p:spPr>
          <a:xfrm>
            <a:off x="7818120" y="1517904"/>
            <a:ext cx="37307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Pipeline</a:t>
            </a:r>
            <a:endParaRPr lang="en-US" sz="1400" dirty="0"/>
          </a:p>
        </p:txBody>
      </p:sp>
      <p:sp>
        <p:nvSpPr>
          <p:cNvPr id="8" name="Shape 6"/>
          <p:cNvSpPr/>
          <p:nvPr/>
        </p:nvSpPr>
        <p:spPr>
          <a:xfrm>
            <a:off x="640080" y="2157984"/>
            <a:ext cx="10908792" cy="493776"/>
          </a:xfrm>
          <a:prstGeom prst="roundRect">
            <a:avLst>
              <a:gd name="adj" fmla="val 7407"/>
            </a:avLst>
          </a:prstGeom>
          <a:solidFill>
            <a:srgbClr val="F1F4F7"/>
          </a:solidFill>
          <a:ln w="12700">
            <a:solidFill>
              <a:srgbClr val="DBE2EA"/>
            </a:solidFill>
            <a:prstDash val="solid"/>
          </a:ln>
        </p:spPr>
      </p:sp>
      <p:sp>
        <p:nvSpPr>
          <p:cNvPr id="9" name="Text 7"/>
          <p:cNvSpPr txBox="1"/>
          <p:nvPr/>
        </p:nvSpPr>
        <p:spPr>
          <a:xfrm>
            <a:off x="786384" y="215798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Defined in</a:t>
            </a:r>
            <a:endParaRPr lang="en-US" sz="1250" dirty="0"/>
          </a:p>
        </p:txBody>
      </p:sp>
      <p:sp>
        <p:nvSpPr>
          <p:cNvPr id="10" name="Text 8"/>
          <p:cNvSpPr txBox="1"/>
          <p:nvPr/>
        </p:nvSpPr>
        <p:spPr>
          <a:xfrm>
            <a:off x="4169664" y="215798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The Jenkins web interface</a:t>
            </a:r>
            <a:endParaRPr lang="en-US" sz="1150" dirty="0"/>
          </a:p>
        </p:txBody>
      </p:sp>
      <p:sp>
        <p:nvSpPr>
          <p:cNvPr id="11" name="Text 9"/>
          <p:cNvSpPr txBox="1"/>
          <p:nvPr/>
        </p:nvSpPr>
        <p:spPr>
          <a:xfrm>
            <a:off x="7964424" y="215798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 Jenkinsfile in your repository</a:t>
            </a:r>
            <a:endParaRPr lang="en-US" sz="1150" dirty="0"/>
          </a:p>
        </p:txBody>
      </p:sp>
      <p:sp>
        <p:nvSpPr>
          <p:cNvPr id="12" name="Shape 10"/>
          <p:cNvSpPr/>
          <p:nvPr/>
        </p:nvSpPr>
        <p:spPr>
          <a:xfrm>
            <a:off x="640080" y="2724912"/>
            <a:ext cx="10908792" cy="493776"/>
          </a:xfrm>
          <a:prstGeom prst="roundRect">
            <a:avLst>
              <a:gd name="adj" fmla="val 7407"/>
            </a:avLst>
          </a:prstGeom>
          <a:solidFill>
            <a:srgbClr val="FFFFFF"/>
          </a:solidFill>
          <a:ln w="12700">
            <a:solidFill>
              <a:srgbClr val="DBE2EA"/>
            </a:solidFill>
            <a:prstDash val="solid"/>
          </a:ln>
        </p:spPr>
      </p:sp>
      <p:sp>
        <p:nvSpPr>
          <p:cNvPr id="13" name="Text 11"/>
          <p:cNvSpPr txBox="1"/>
          <p:nvPr/>
        </p:nvSpPr>
        <p:spPr>
          <a:xfrm>
            <a:off x="786384" y="272491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Version controlled</a:t>
            </a:r>
            <a:endParaRPr lang="en-US" sz="1250" dirty="0"/>
          </a:p>
        </p:txBody>
      </p:sp>
      <p:sp>
        <p:nvSpPr>
          <p:cNvPr id="14" name="Text 12"/>
          <p:cNvSpPr txBox="1"/>
          <p:nvPr/>
        </p:nvSpPr>
        <p:spPr>
          <a:xfrm>
            <a:off x="4169664" y="272491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No</a:t>
            </a:r>
            <a:endParaRPr lang="en-US" sz="1150" dirty="0"/>
          </a:p>
        </p:txBody>
      </p:sp>
      <p:sp>
        <p:nvSpPr>
          <p:cNvPr id="15" name="Text 13"/>
          <p:cNvSpPr txBox="1"/>
          <p:nvPr/>
        </p:nvSpPr>
        <p:spPr>
          <a:xfrm>
            <a:off x="7964424" y="272491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Yes, with the application code</a:t>
            </a:r>
            <a:endParaRPr lang="en-US" sz="1150" dirty="0"/>
          </a:p>
        </p:txBody>
      </p:sp>
      <p:sp>
        <p:nvSpPr>
          <p:cNvPr id="16" name="Shape 14"/>
          <p:cNvSpPr/>
          <p:nvPr/>
        </p:nvSpPr>
        <p:spPr>
          <a:xfrm>
            <a:off x="640080" y="3291840"/>
            <a:ext cx="10908792" cy="493776"/>
          </a:xfrm>
          <a:prstGeom prst="roundRect">
            <a:avLst>
              <a:gd name="adj" fmla="val 7407"/>
            </a:avLst>
          </a:prstGeom>
          <a:solidFill>
            <a:srgbClr val="F1F4F7"/>
          </a:solidFill>
          <a:ln w="12700">
            <a:solidFill>
              <a:srgbClr val="DBE2EA"/>
            </a:solidFill>
            <a:prstDash val="solid"/>
          </a:ln>
        </p:spPr>
      </p:sp>
      <p:sp>
        <p:nvSpPr>
          <p:cNvPr id="17" name="Text 15"/>
          <p:cNvSpPr txBox="1"/>
          <p:nvPr/>
        </p:nvSpPr>
        <p:spPr>
          <a:xfrm>
            <a:off x="786384" y="3291840"/>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Code review</a:t>
            </a:r>
            <a:endParaRPr lang="en-US" sz="1250" dirty="0"/>
          </a:p>
        </p:txBody>
      </p:sp>
      <p:sp>
        <p:nvSpPr>
          <p:cNvPr id="18" name="Text 16"/>
          <p:cNvSpPr txBox="1"/>
          <p:nvPr/>
        </p:nvSpPr>
        <p:spPr>
          <a:xfrm>
            <a:off x="4169664" y="3291840"/>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Not possible</a:t>
            </a:r>
            <a:endParaRPr lang="en-US" sz="1150" dirty="0"/>
          </a:p>
        </p:txBody>
      </p:sp>
      <p:sp>
        <p:nvSpPr>
          <p:cNvPr id="19" name="Text 17"/>
          <p:cNvSpPr txBox="1"/>
          <p:nvPr/>
        </p:nvSpPr>
        <p:spPr>
          <a:xfrm>
            <a:off x="7964424" y="3291840"/>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Through a normal pull request</a:t>
            </a:r>
            <a:endParaRPr lang="en-US" sz="1150" dirty="0"/>
          </a:p>
        </p:txBody>
      </p:sp>
      <p:sp>
        <p:nvSpPr>
          <p:cNvPr id="20" name="Shape 18"/>
          <p:cNvSpPr/>
          <p:nvPr/>
        </p:nvSpPr>
        <p:spPr>
          <a:xfrm>
            <a:off x="640080" y="3858768"/>
            <a:ext cx="10908792" cy="493776"/>
          </a:xfrm>
          <a:prstGeom prst="roundRect">
            <a:avLst>
              <a:gd name="adj" fmla="val 7407"/>
            </a:avLst>
          </a:prstGeom>
          <a:solidFill>
            <a:srgbClr val="FFFFFF"/>
          </a:solidFill>
          <a:ln w="12700">
            <a:solidFill>
              <a:srgbClr val="DBE2EA"/>
            </a:solidFill>
            <a:prstDash val="solid"/>
          </a:ln>
        </p:spPr>
      </p:sp>
      <p:sp>
        <p:nvSpPr>
          <p:cNvPr id="21" name="Text 19"/>
          <p:cNvSpPr txBox="1"/>
          <p:nvPr/>
        </p:nvSpPr>
        <p:spPr>
          <a:xfrm>
            <a:off x="786384" y="3858768"/>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Multiple stages</a:t>
            </a:r>
            <a:endParaRPr lang="en-US" sz="1250" dirty="0"/>
          </a:p>
        </p:txBody>
      </p:sp>
      <p:sp>
        <p:nvSpPr>
          <p:cNvPr id="22" name="Text 20"/>
          <p:cNvSpPr txBox="1"/>
          <p:nvPr/>
        </p:nvSpPr>
        <p:spPr>
          <a:xfrm>
            <a:off x="4169664" y="3858768"/>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Awkward; needs chained jobs</a:t>
            </a:r>
            <a:endParaRPr lang="en-US" sz="1150" dirty="0"/>
          </a:p>
        </p:txBody>
      </p:sp>
      <p:sp>
        <p:nvSpPr>
          <p:cNvPr id="23" name="Text 21"/>
          <p:cNvSpPr txBox="1"/>
          <p:nvPr/>
        </p:nvSpPr>
        <p:spPr>
          <a:xfrm>
            <a:off x="7964424" y="3858768"/>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First-class syntax</a:t>
            </a:r>
            <a:endParaRPr lang="en-US" sz="1150" dirty="0"/>
          </a:p>
        </p:txBody>
      </p:sp>
      <p:sp>
        <p:nvSpPr>
          <p:cNvPr id="24" name="Shape 22"/>
          <p:cNvSpPr/>
          <p:nvPr/>
        </p:nvSpPr>
        <p:spPr>
          <a:xfrm>
            <a:off x="640080" y="4425696"/>
            <a:ext cx="10908792" cy="493776"/>
          </a:xfrm>
          <a:prstGeom prst="roundRect">
            <a:avLst>
              <a:gd name="adj" fmla="val 7407"/>
            </a:avLst>
          </a:prstGeom>
          <a:solidFill>
            <a:srgbClr val="F1F4F7"/>
          </a:solidFill>
          <a:ln w="12700">
            <a:solidFill>
              <a:srgbClr val="DBE2EA"/>
            </a:solidFill>
            <a:prstDash val="solid"/>
          </a:ln>
        </p:spPr>
      </p:sp>
      <p:sp>
        <p:nvSpPr>
          <p:cNvPr id="25" name="Text 23"/>
          <p:cNvSpPr txBox="1"/>
          <p:nvPr/>
        </p:nvSpPr>
        <p:spPr>
          <a:xfrm>
            <a:off x="786384" y="4425696"/>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Parallel execution</a:t>
            </a:r>
            <a:endParaRPr lang="en-US" sz="1250" dirty="0"/>
          </a:p>
        </p:txBody>
      </p:sp>
      <p:sp>
        <p:nvSpPr>
          <p:cNvPr id="26" name="Text 24"/>
          <p:cNvSpPr txBox="1"/>
          <p:nvPr/>
        </p:nvSpPr>
        <p:spPr>
          <a:xfrm>
            <a:off x="4169664" y="4425696"/>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Limited, plugin-dependent</a:t>
            </a:r>
            <a:endParaRPr lang="en-US" sz="1150" dirty="0"/>
          </a:p>
        </p:txBody>
      </p:sp>
      <p:sp>
        <p:nvSpPr>
          <p:cNvPr id="27" name="Text 25"/>
          <p:cNvSpPr txBox="1"/>
          <p:nvPr/>
        </p:nvSpPr>
        <p:spPr>
          <a:xfrm>
            <a:off x="7964424" y="4425696"/>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Built in</a:t>
            </a:r>
            <a:endParaRPr lang="en-US" sz="1150" dirty="0"/>
          </a:p>
        </p:txBody>
      </p:sp>
      <p:sp>
        <p:nvSpPr>
          <p:cNvPr id="28" name="Shape 26"/>
          <p:cNvSpPr/>
          <p:nvPr/>
        </p:nvSpPr>
        <p:spPr>
          <a:xfrm>
            <a:off x="640080" y="4992624"/>
            <a:ext cx="10908792" cy="493776"/>
          </a:xfrm>
          <a:prstGeom prst="roundRect">
            <a:avLst>
              <a:gd name="adj" fmla="val 7407"/>
            </a:avLst>
          </a:prstGeom>
          <a:solidFill>
            <a:srgbClr val="FFFFFF"/>
          </a:solidFill>
          <a:ln w="12700">
            <a:solidFill>
              <a:srgbClr val="DBE2EA"/>
            </a:solidFill>
            <a:prstDash val="solid"/>
          </a:ln>
        </p:spPr>
      </p:sp>
      <p:sp>
        <p:nvSpPr>
          <p:cNvPr id="29" name="Text 27"/>
          <p:cNvSpPr txBox="1"/>
          <p:nvPr/>
        </p:nvSpPr>
        <p:spPr>
          <a:xfrm>
            <a:off x="786384" y="499262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Survives a restart</a:t>
            </a:r>
            <a:endParaRPr lang="en-US" sz="1250" dirty="0"/>
          </a:p>
        </p:txBody>
      </p:sp>
      <p:sp>
        <p:nvSpPr>
          <p:cNvPr id="30" name="Text 28"/>
          <p:cNvSpPr txBox="1"/>
          <p:nvPr/>
        </p:nvSpPr>
        <p:spPr>
          <a:xfrm>
            <a:off x="4169664" y="499262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No</a:t>
            </a:r>
            <a:endParaRPr lang="en-US" sz="1150" dirty="0"/>
          </a:p>
        </p:txBody>
      </p:sp>
      <p:sp>
        <p:nvSpPr>
          <p:cNvPr id="31" name="Text 29"/>
          <p:cNvSpPr txBox="1"/>
          <p:nvPr/>
        </p:nvSpPr>
        <p:spPr>
          <a:xfrm>
            <a:off x="7964424" y="499262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Yes — pipelines are durable</a:t>
            </a:r>
            <a:endParaRPr lang="en-US" sz="1150" dirty="0"/>
          </a:p>
        </p:txBody>
      </p:sp>
      <p:sp>
        <p:nvSpPr>
          <p:cNvPr id="32" name="Shape 30"/>
          <p:cNvSpPr/>
          <p:nvPr/>
        </p:nvSpPr>
        <p:spPr>
          <a:xfrm>
            <a:off x="640080" y="5559552"/>
            <a:ext cx="10908792" cy="493776"/>
          </a:xfrm>
          <a:prstGeom prst="roundRect">
            <a:avLst>
              <a:gd name="adj" fmla="val 7407"/>
            </a:avLst>
          </a:prstGeom>
          <a:solidFill>
            <a:srgbClr val="F1F4F7"/>
          </a:solidFill>
          <a:ln w="12700">
            <a:solidFill>
              <a:srgbClr val="DBE2EA"/>
            </a:solidFill>
            <a:prstDash val="solid"/>
          </a:ln>
        </p:spPr>
      </p:sp>
      <p:sp>
        <p:nvSpPr>
          <p:cNvPr id="33" name="Text 31"/>
          <p:cNvSpPr txBox="1"/>
          <p:nvPr/>
        </p:nvSpPr>
        <p:spPr>
          <a:xfrm>
            <a:off x="786384" y="555955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Learning curve</a:t>
            </a:r>
            <a:endParaRPr lang="en-US" sz="1250" dirty="0"/>
          </a:p>
        </p:txBody>
      </p:sp>
      <p:sp>
        <p:nvSpPr>
          <p:cNvPr id="34" name="Text 32"/>
          <p:cNvSpPr txBox="1"/>
          <p:nvPr/>
        </p:nvSpPr>
        <p:spPr>
          <a:xfrm>
            <a:off x="4169664" y="555955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Low — click and fill in</a:t>
            </a:r>
            <a:endParaRPr lang="en-US" sz="1150" dirty="0"/>
          </a:p>
        </p:txBody>
      </p:sp>
      <p:sp>
        <p:nvSpPr>
          <p:cNvPr id="35" name="Text 33"/>
          <p:cNvSpPr txBox="1"/>
          <p:nvPr/>
        </p:nvSpPr>
        <p:spPr>
          <a:xfrm>
            <a:off x="7964424" y="555955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Moderate — Groovy-based syntax</a:t>
            </a:r>
            <a:endParaRPr lang="en-US" sz="1150" dirty="0"/>
          </a:p>
        </p:txBody>
      </p:sp>
      <p:sp>
        <p:nvSpPr>
          <p:cNvPr id="36" name="Shape 34"/>
          <p:cNvSpPr/>
          <p:nvPr/>
        </p:nvSpPr>
        <p:spPr>
          <a:xfrm>
            <a:off x="640080" y="6126480"/>
            <a:ext cx="10908792" cy="493776"/>
          </a:xfrm>
          <a:prstGeom prst="roundRect">
            <a:avLst>
              <a:gd name="adj" fmla="val 7407"/>
            </a:avLst>
          </a:prstGeom>
          <a:solidFill>
            <a:srgbClr val="FFFFFF"/>
          </a:solidFill>
          <a:ln w="12700">
            <a:solidFill>
              <a:srgbClr val="DBE2EA"/>
            </a:solidFill>
            <a:prstDash val="solid"/>
          </a:ln>
        </p:spPr>
      </p:sp>
      <p:sp>
        <p:nvSpPr>
          <p:cNvPr id="37" name="Text 35"/>
          <p:cNvSpPr txBox="1"/>
          <p:nvPr/>
        </p:nvSpPr>
        <p:spPr>
          <a:xfrm>
            <a:off x="786384" y="6126480"/>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Best for</a:t>
            </a:r>
            <a:endParaRPr lang="en-US" sz="1250" dirty="0"/>
          </a:p>
        </p:txBody>
      </p:sp>
      <p:sp>
        <p:nvSpPr>
          <p:cNvPr id="38" name="Text 36"/>
          <p:cNvSpPr txBox="1"/>
          <p:nvPr/>
        </p:nvSpPr>
        <p:spPr>
          <a:xfrm>
            <a:off x="4169664" y="6126480"/>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Small, one-off automation</a:t>
            </a:r>
            <a:endParaRPr lang="en-US" sz="1150" dirty="0"/>
          </a:p>
        </p:txBody>
      </p:sp>
      <p:sp>
        <p:nvSpPr>
          <p:cNvPr id="39" name="Text 37"/>
          <p:cNvSpPr txBox="1"/>
          <p:nvPr/>
        </p:nvSpPr>
        <p:spPr>
          <a:xfrm>
            <a:off x="7964424" y="6126480"/>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Anything a team depends on</a:t>
            </a:r>
            <a:endParaRPr lang="en-US" sz="1150" dirty="0"/>
          </a:p>
        </p:txBody>
      </p:sp>
      <p:sp>
        <p:nvSpPr>
          <p:cNvPr id="40" name="Text 38"/>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Jenkins supports both indefinitely; this course teaches freestyle for the concepts and pipelines for real work.</a:t>
            </a:r>
            <a:endParaRPr lang="en-US" sz="10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HANDS-ON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Lab 1 — first jobs</a:t>
            </a:r>
            <a:endParaRPr lang="en-US" sz="3100" dirty="0"/>
          </a:p>
        </p:txBody>
      </p:sp>
      <p:sp>
        <p:nvSpPr>
          <p:cNvPr id="4" name="Shape 2"/>
          <p:cNvSpPr/>
          <p:nvPr/>
        </p:nvSpPr>
        <p:spPr>
          <a:xfrm>
            <a:off x="640080"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645920"/>
            <a:ext cx="2514600" cy="640080"/>
          </a:xfrm>
          <a:prstGeom prst="roundRect">
            <a:avLst>
              <a:gd name="adj" fmla="val 8571"/>
            </a:avLst>
          </a:prstGeom>
          <a:solidFill>
            <a:srgbClr val="1F5673"/>
          </a:solidFill>
          <a:ln w="12700">
            <a:solidFill>
              <a:srgbClr val="1F5673"/>
            </a:solidFill>
            <a:prstDash val="solid"/>
          </a:ln>
        </p:spPr>
      </p:sp>
      <p:sp>
        <p:nvSpPr>
          <p:cNvPr id="6" name="Text 4"/>
          <p:cNvSpPr txBox="1"/>
          <p:nvPr/>
        </p:nvSpPr>
        <p:spPr>
          <a:xfrm>
            <a:off x="877824"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Configure</a:t>
            </a:r>
            <a:endParaRPr lang="en-US" sz="1450" dirty="0"/>
          </a:p>
        </p:txBody>
      </p:sp>
      <p:sp>
        <p:nvSpPr>
          <p:cNvPr id="7" name="Text 5"/>
          <p:cNvSpPr txBox="1"/>
          <p:nvPr/>
        </p:nvSpPr>
        <p:spPr>
          <a:xfrm>
            <a:off x="877824"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Complete the setup wizard</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Set the Jenkins URL correctly</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JDK and Maven under Tools</a:t>
            </a:r>
            <a:endParaRPr lang="en-US" sz="1200" dirty="0"/>
          </a:p>
        </p:txBody>
      </p:sp>
      <p:sp>
        <p:nvSpPr>
          <p:cNvPr id="8" name="Shape 6"/>
          <p:cNvSpPr/>
          <p:nvPr/>
        </p:nvSpPr>
        <p:spPr>
          <a:xfrm>
            <a:off x="3456432"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9" name="Shape 7"/>
          <p:cNvSpPr/>
          <p:nvPr/>
        </p:nvSpPr>
        <p:spPr>
          <a:xfrm>
            <a:off x="3456432" y="1645920"/>
            <a:ext cx="2514600" cy="640080"/>
          </a:xfrm>
          <a:prstGeom prst="roundRect">
            <a:avLst>
              <a:gd name="adj" fmla="val 8571"/>
            </a:avLst>
          </a:prstGeom>
          <a:solidFill>
            <a:srgbClr val="1F5673"/>
          </a:solidFill>
          <a:ln w="12700">
            <a:solidFill>
              <a:srgbClr val="1F5673"/>
            </a:solidFill>
            <a:prstDash val="solid"/>
          </a:ln>
        </p:spPr>
      </p:sp>
      <p:sp>
        <p:nvSpPr>
          <p:cNvPr id="10" name="Text 8"/>
          <p:cNvSpPr txBox="1"/>
          <p:nvPr/>
        </p:nvSpPr>
        <p:spPr>
          <a:xfrm>
            <a:off x="3694176"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Freestyle</a:t>
            </a:r>
            <a:endParaRPr lang="en-US" sz="1450" dirty="0"/>
          </a:p>
        </p:txBody>
      </p:sp>
      <p:sp>
        <p:nvSpPr>
          <p:cNvPr id="11" name="Text 9"/>
          <p:cNvSpPr txBox="1"/>
          <p:nvPr/>
        </p:nvSpPr>
        <p:spPr>
          <a:xfrm>
            <a:off x="3694176"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Create a freestyle job</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Point it at a Git repository</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Maven build step and run it</a:t>
            </a:r>
            <a:endParaRPr lang="en-US" sz="1200" dirty="0"/>
          </a:p>
        </p:txBody>
      </p:sp>
      <p:sp>
        <p:nvSpPr>
          <p:cNvPr id="12" name="Shape 10"/>
          <p:cNvSpPr/>
          <p:nvPr/>
        </p:nvSpPr>
        <p:spPr>
          <a:xfrm>
            <a:off x="6272784"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3" name="Shape 11"/>
          <p:cNvSpPr/>
          <p:nvPr/>
        </p:nvSpPr>
        <p:spPr>
          <a:xfrm>
            <a:off x="6272784" y="1645920"/>
            <a:ext cx="2514600" cy="640080"/>
          </a:xfrm>
          <a:prstGeom prst="roundRect">
            <a:avLst>
              <a:gd name="adj" fmla="val 8571"/>
            </a:avLst>
          </a:prstGeom>
          <a:solidFill>
            <a:srgbClr val="1F5673"/>
          </a:solidFill>
          <a:ln w="12700">
            <a:solidFill>
              <a:srgbClr val="1F5673"/>
            </a:solidFill>
            <a:prstDash val="solid"/>
          </a:ln>
        </p:spPr>
      </p:sp>
      <p:sp>
        <p:nvSpPr>
          <p:cNvPr id="14" name="Text 12"/>
          <p:cNvSpPr txBox="1"/>
          <p:nvPr/>
        </p:nvSpPr>
        <p:spPr>
          <a:xfrm>
            <a:off x="6510528"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Read</a:t>
            </a:r>
            <a:endParaRPr lang="en-US" sz="1450" dirty="0"/>
          </a:p>
        </p:txBody>
      </p:sp>
      <p:sp>
        <p:nvSpPr>
          <p:cNvPr id="15" name="Text 13"/>
          <p:cNvSpPr txBox="1"/>
          <p:nvPr/>
        </p:nvSpPr>
        <p:spPr>
          <a:xfrm>
            <a:off x="6510528"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Open the console output and read it</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Break the build deliberately</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Find the error line in the log</a:t>
            </a:r>
            <a:endParaRPr lang="en-US" sz="1200" dirty="0"/>
          </a:p>
        </p:txBody>
      </p:sp>
      <p:sp>
        <p:nvSpPr>
          <p:cNvPr id="16" name="Shape 14"/>
          <p:cNvSpPr/>
          <p:nvPr/>
        </p:nvSpPr>
        <p:spPr>
          <a:xfrm>
            <a:off x="9089136"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9089136" y="1645920"/>
            <a:ext cx="2514600" cy="640080"/>
          </a:xfrm>
          <a:prstGeom prst="roundRect">
            <a:avLst>
              <a:gd name="adj" fmla="val 8571"/>
            </a:avLst>
          </a:prstGeom>
          <a:solidFill>
            <a:srgbClr val="2C3E50"/>
          </a:solidFill>
          <a:ln w="12700">
            <a:solidFill>
              <a:srgbClr val="2C3E50"/>
            </a:solidFill>
            <a:prstDash val="solid"/>
          </a:ln>
        </p:spPr>
      </p:sp>
      <p:sp>
        <p:nvSpPr>
          <p:cNvPr id="18" name="Text 16"/>
          <p:cNvSpPr txBox="1"/>
          <p:nvPr/>
        </p:nvSpPr>
        <p:spPr>
          <a:xfrm>
            <a:off x="9326880"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Pipeline</a:t>
            </a:r>
            <a:endParaRPr lang="en-US" sz="1450" dirty="0"/>
          </a:p>
        </p:txBody>
      </p:sp>
      <p:sp>
        <p:nvSpPr>
          <p:cNvPr id="19" name="Text 17"/>
          <p:cNvSpPr txBox="1"/>
          <p:nvPr/>
        </p:nvSpPr>
        <p:spPr>
          <a:xfrm>
            <a:off x="9326880"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Jenkinsfile with two stages</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Create a Pipeline job from SCM</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Compare the stage view with the freestyle job</a:t>
            </a:r>
            <a:endParaRPr lang="en-US" sz="1200" dirty="0"/>
          </a:p>
        </p:txBody>
      </p:sp>
      <p:sp>
        <p:nvSpPr>
          <p:cNvPr id="20" name="Shape 18"/>
          <p:cNvSpPr/>
          <p:nvPr/>
        </p:nvSpPr>
        <p:spPr>
          <a:xfrm>
            <a:off x="640080" y="5074920"/>
            <a:ext cx="10908792" cy="1005840"/>
          </a:xfrm>
          <a:prstGeom prst="roundRect">
            <a:avLst>
              <a:gd name="adj" fmla="val 5455"/>
            </a:avLst>
          </a:prstGeom>
          <a:solidFill>
            <a:srgbClr val="141C26"/>
          </a:solidFill>
          <a:ln w="12700">
            <a:solidFill>
              <a:srgbClr val="141C26"/>
            </a:solidFill>
            <a:prstDash val="solid"/>
          </a:ln>
        </p:spPr>
      </p:sp>
      <p:sp>
        <p:nvSpPr>
          <p:cNvPr id="21" name="Text 19"/>
          <p:cNvSpPr txBox="1"/>
          <p:nvPr/>
        </p:nvSpPr>
        <p:spPr>
          <a:xfrm>
            <a:off x="1005840" y="5074920"/>
            <a:ext cx="10177272"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25 minutes. Reading the console output is the skill being practised — resist fixing the broken build until you can explain why it failed.</a:t>
            </a:r>
            <a:endParaRPr lang="en-US" sz="14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1C26"/>
        </a:solidFill>
      </p:bgPr>
    </p:bg>
    <p:spTree>
      <p:nvGrpSpPr>
        <p:cNvPr id="1" name=""/>
        <p:cNvGrpSpPr/>
        <p:nvPr/>
      </p:nvGrpSpPr>
      <p:grpSpPr>
        <a:xfrm>
          <a:off x="0" y="0"/>
          <a:ext cx="0" cy="0"/>
          <a:chOff x="0" y="0"/>
          <a:chExt cx="0" cy="0"/>
        </a:xfrm>
      </p:grpSpPr>
      <p:sp>
        <p:nvSpPr>
          <p:cNvPr id="2" name="Shape 0"/>
          <p:cNvSpPr/>
          <p:nvPr/>
        </p:nvSpPr>
        <p:spPr>
          <a:xfrm>
            <a:off x="8778240" y="-1737360"/>
            <a:ext cx="5852160" cy="5852160"/>
          </a:xfrm>
          <a:prstGeom prst="ellipse">
            <a:avLst/>
          </a:prstGeom>
          <a:solidFill>
            <a:srgbClr val="2C3E50"/>
          </a:solidFill>
          <a:ln w="12700">
            <a:solidFill>
              <a:srgbClr val="2C3E50"/>
            </a:solidFill>
            <a:prstDash val="solid"/>
          </a:ln>
        </p:spPr>
      </p:sp>
      <p:sp>
        <p:nvSpPr>
          <p:cNvPr id="3" name="Shape 1"/>
          <p:cNvSpPr/>
          <p:nvPr/>
        </p:nvSpPr>
        <p:spPr>
          <a:xfrm>
            <a:off x="10058400" y="3657600"/>
            <a:ext cx="3657600" cy="3657600"/>
          </a:xfrm>
          <a:prstGeom prst="ellipse">
            <a:avLst/>
          </a:prstGeom>
          <a:solidFill>
            <a:srgbClr val="1F5673"/>
          </a:solidFill>
          <a:ln w="12700">
            <a:solidFill>
              <a:srgbClr val="1F5673"/>
            </a:solidFill>
            <a:prstDash val="solid"/>
          </a:ln>
        </p:spPr>
      </p:sp>
      <p:sp>
        <p:nvSpPr>
          <p:cNvPr id="4" name="Text 2"/>
          <p:cNvSpPr txBox="1"/>
          <p:nvPr/>
        </p:nvSpPr>
        <p:spPr>
          <a:xfrm>
            <a:off x="640080" y="1691640"/>
            <a:ext cx="7680960" cy="274320"/>
          </a:xfrm>
          <a:prstGeom prst="rect">
            <a:avLst/>
          </a:prstGeom>
          <a:noFill/>
          <a:ln/>
        </p:spPr>
        <p:txBody>
          <a:bodyPr wrap="square" lIns="0" tIns="0" rIns="0" bIns="0" rtlCol="0" anchor="ctr"/>
          <a:lstStyle/>
          <a:p>
            <a:pPr indent="0" marL="0">
              <a:buNone/>
            </a:pPr>
            <a:r>
              <a:rPr lang="en-US" sz="1250" b="1" spc="300" kern="0" dirty="0">
                <a:solidFill>
                  <a:srgbClr val="6FB3D2"/>
                </a:solidFill>
                <a:latin typeface="Calibri" pitchFamily="34" charset="0"/>
                <a:ea typeface="Calibri" pitchFamily="34" charset="-122"/>
                <a:cs typeface="Calibri" pitchFamily="34" charset="-120"/>
              </a:rPr>
              <a:t>SESSION 02  ·  2 HOURS</a:t>
            </a:r>
            <a:endParaRPr lang="en-US" sz="1250" dirty="0"/>
          </a:p>
        </p:txBody>
      </p:sp>
      <p:sp>
        <p:nvSpPr>
          <p:cNvPr id="5" name="Text 3"/>
          <p:cNvSpPr txBox="1"/>
          <p:nvPr/>
        </p:nvSpPr>
        <p:spPr>
          <a:xfrm>
            <a:off x="640080" y="2057400"/>
            <a:ext cx="7863840" cy="137160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Pipelines as code and</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distributed builds</a:t>
            </a:r>
            <a:endParaRPr lang="en-US" sz="4000" dirty="0"/>
          </a:p>
        </p:txBody>
      </p:sp>
      <p:sp>
        <p:nvSpPr>
          <p:cNvPr id="6" name="Text 4"/>
          <p:cNvSpPr txBox="1"/>
          <p:nvPr/>
        </p:nvSpPr>
        <p:spPr>
          <a:xfrm>
            <a:off x="640080" y="3429000"/>
            <a:ext cx="7132320" cy="457200"/>
          </a:xfrm>
          <a:prstGeom prst="rect">
            <a:avLst/>
          </a:prstGeom>
          <a:noFill/>
          <a:ln/>
        </p:spPr>
        <p:txBody>
          <a:bodyPr wrap="square" lIns="0" tIns="0" rIns="0" bIns="0" rtlCol="0" anchor="ctr"/>
          <a:lstStyle/>
          <a:p>
            <a:pPr indent="0" marL="0">
              <a:buNone/>
            </a:pPr>
            <a:r>
              <a:rPr lang="en-US" sz="1550" dirty="0">
                <a:solidFill>
                  <a:srgbClr val="AAB4C0"/>
                </a:solidFill>
                <a:latin typeface="Calibri" pitchFamily="34" charset="0"/>
                <a:ea typeface="Calibri" pitchFamily="34" charset="-122"/>
                <a:cs typeface="Calibri" pitchFamily="34" charset="-120"/>
              </a:rPr>
              <a:t>Writing pipelines properly, and spreading the work across more than one machine.</a:t>
            </a:r>
            <a:endParaRPr lang="en-US" sz="1550" dirty="0"/>
          </a:p>
        </p:txBody>
      </p:sp>
      <p:sp>
        <p:nvSpPr>
          <p:cNvPr id="7" name="Shape 5"/>
          <p:cNvSpPr/>
          <p:nvPr/>
        </p:nvSpPr>
        <p:spPr>
          <a:xfrm>
            <a:off x="640080" y="4114800"/>
            <a:ext cx="3419856" cy="1234440"/>
          </a:xfrm>
          <a:prstGeom prst="roundRect">
            <a:avLst>
              <a:gd name="adj" fmla="val 4444"/>
            </a:avLst>
          </a:prstGeom>
          <a:solidFill>
            <a:srgbClr val="2C3E50"/>
          </a:solidFill>
          <a:ln w="12700">
            <a:solidFill>
              <a:srgbClr val="3D5165"/>
            </a:solidFill>
            <a:prstDash val="solid"/>
          </a:ln>
        </p:spPr>
      </p:sp>
      <p:sp>
        <p:nvSpPr>
          <p:cNvPr id="8" name="Text 6"/>
          <p:cNvSpPr txBox="1"/>
          <p:nvPr/>
        </p:nvSpPr>
        <p:spPr>
          <a:xfrm>
            <a:off x="896112"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01</a:t>
            </a:r>
            <a:endParaRPr lang="en-US" sz="1150" dirty="0"/>
          </a:p>
        </p:txBody>
      </p:sp>
      <p:sp>
        <p:nvSpPr>
          <p:cNvPr id="9" name="Text 7"/>
          <p:cNvSpPr txBox="1"/>
          <p:nvPr/>
        </p:nvSpPr>
        <p:spPr>
          <a:xfrm>
            <a:off x="896112"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Declarative and scripted syntax</a:t>
            </a:r>
            <a:endParaRPr lang="en-US" sz="1350" dirty="0"/>
          </a:p>
        </p:txBody>
      </p:sp>
      <p:sp>
        <p:nvSpPr>
          <p:cNvPr id="10" name="Shape 8"/>
          <p:cNvSpPr/>
          <p:nvPr/>
        </p:nvSpPr>
        <p:spPr>
          <a:xfrm>
            <a:off x="4384548" y="4114800"/>
            <a:ext cx="3419856" cy="1234440"/>
          </a:xfrm>
          <a:prstGeom prst="roundRect">
            <a:avLst>
              <a:gd name="adj" fmla="val 4444"/>
            </a:avLst>
          </a:prstGeom>
          <a:solidFill>
            <a:srgbClr val="2C3E50"/>
          </a:solidFill>
          <a:ln w="12700">
            <a:solidFill>
              <a:srgbClr val="3D5165"/>
            </a:solidFill>
            <a:prstDash val="solid"/>
          </a:ln>
        </p:spPr>
      </p:sp>
      <p:sp>
        <p:nvSpPr>
          <p:cNvPr id="11" name="Text 9"/>
          <p:cNvSpPr txBox="1"/>
          <p:nvPr/>
        </p:nvSpPr>
        <p:spPr>
          <a:xfrm>
            <a:off x="4640580"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02</a:t>
            </a:r>
            <a:endParaRPr lang="en-US" sz="1150" dirty="0"/>
          </a:p>
        </p:txBody>
      </p:sp>
      <p:sp>
        <p:nvSpPr>
          <p:cNvPr id="12" name="Text 10"/>
          <p:cNvSpPr txBox="1"/>
          <p:nvPr/>
        </p:nvSpPr>
        <p:spPr>
          <a:xfrm>
            <a:off x="4640580"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Controller and agent architecture</a:t>
            </a:r>
            <a:endParaRPr lang="en-US" sz="1350" dirty="0"/>
          </a:p>
        </p:txBody>
      </p:sp>
      <p:sp>
        <p:nvSpPr>
          <p:cNvPr id="13" name="Shape 11"/>
          <p:cNvSpPr/>
          <p:nvPr/>
        </p:nvSpPr>
        <p:spPr>
          <a:xfrm>
            <a:off x="8129016" y="4114800"/>
            <a:ext cx="3419856" cy="1234440"/>
          </a:xfrm>
          <a:prstGeom prst="roundRect">
            <a:avLst>
              <a:gd name="adj" fmla="val 4444"/>
            </a:avLst>
          </a:prstGeom>
          <a:solidFill>
            <a:srgbClr val="2C3E50"/>
          </a:solidFill>
          <a:ln w="12700">
            <a:solidFill>
              <a:srgbClr val="3D5165"/>
            </a:solidFill>
            <a:prstDash val="solid"/>
          </a:ln>
        </p:spPr>
      </p:sp>
      <p:sp>
        <p:nvSpPr>
          <p:cNvPr id="14" name="Text 12"/>
          <p:cNvSpPr txBox="1"/>
          <p:nvPr/>
        </p:nvSpPr>
        <p:spPr>
          <a:xfrm>
            <a:off x="8385048"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03</a:t>
            </a:r>
            <a:endParaRPr lang="en-US" sz="1150" dirty="0"/>
          </a:p>
        </p:txBody>
      </p:sp>
      <p:sp>
        <p:nvSpPr>
          <p:cNvPr id="15" name="Text 13"/>
          <p:cNvSpPr txBox="1"/>
          <p:nvPr/>
        </p:nvSpPr>
        <p:spPr>
          <a:xfrm>
            <a:off x="8385048"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Configuring and targeting agents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PIPELINES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The vocabulary</a:t>
            </a:r>
            <a:endParaRPr lang="en-US" sz="3100" dirty="0"/>
          </a:p>
        </p:txBody>
      </p:sp>
      <p:sp>
        <p:nvSpPr>
          <p:cNvPr id="4" name="Shape 2"/>
          <p:cNvSpPr/>
          <p:nvPr/>
        </p:nvSpPr>
        <p:spPr>
          <a:xfrm>
            <a:off x="640080" y="16276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65376"/>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4140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pipeline</a:t>
            </a:r>
            <a:endParaRPr lang="en-US" sz="1500" dirty="0"/>
          </a:p>
        </p:txBody>
      </p:sp>
      <p:sp>
        <p:nvSpPr>
          <p:cNvPr id="8" name="Text 6"/>
          <p:cNvSpPr txBox="1"/>
          <p:nvPr/>
        </p:nvSpPr>
        <p:spPr>
          <a:xfrm>
            <a:off x="877824" y="27614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whole definition — the outermost block of a declarative pipeline.</a:t>
            </a:r>
            <a:endParaRPr lang="en-US" sz="1200" dirty="0"/>
          </a:p>
        </p:txBody>
      </p:sp>
      <p:sp>
        <p:nvSpPr>
          <p:cNvPr id="9" name="Shape 7"/>
          <p:cNvSpPr/>
          <p:nvPr/>
        </p:nvSpPr>
        <p:spPr>
          <a:xfrm>
            <a:off x="4384548" y="16276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65376"/>
            <a:ext cx="420624" cy="420624"/>
          </a:xfrm>
          <a:prstGeom prst="ellipse">
            <a:avLst/>
          </a:prstGeom>
          <a:solidFill>
            <a:srgbClr val="1F5673"/>
          </a:solidFill>
          <a:ln w="12700">
            <a:solidFill>
              <a:srgbClr val="1F5673"/>
            </a:solidFill>
            <a:prstDash val="solid"/>
          </a:ln>
        </p:spPr>
      </p:sp>
      <p:sp>
        <p:nvSpPr>
          <p:cNvPr id="11" name="Text 9"/>
          <p:cNvSpPr txBox="1"/>
          <p:nvPr/>
        </p:nvSpPr>
        <p:spPr>
          <a:xfrm>
            <a:off x="4622292"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22292" y="24140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agent</a:t>
            </a:r>
            <a:endParaRPr lang="en-US" sz="1500" dirty="0"/>
          </a:p>
        </p:txBody>
      </p:sp>
      <p:sp>
        <p:nvSpPr>
          <p:cNvPr id="13" name="Text 11"/>
          <p:cNvSpPr txBox="1"/>
          <p:nvPr/>
        </p:nvSpPr>
        <p:spPr>
          <a:xfrm>
            <a:off x="4622292" y="27614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Where the work runs: any available node, a specific label, or a container.</a:t>
            </a:r>
            <a:endParaRPr lang="en-US" sz="1200" dirty="0"/>
          </a:p>
        </p:txBody>
      </p:sp>
      <p:sp>
        <p:nvSpPr>
          <p:cNvPr id="14" name="Shape 12"/>
          <p:cNvSpPr/>
          <p:nvPr/>
        </p:nvSpPr>
        <p:spPr>
          <a:xfrm>
            <a:off x="8129016" y="16276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65376"/>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366760"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66760" y="24140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stage</a:t>
            </a:r>
            <a:endParaRPr lang="en-US" sz="1500" dirty="0"/>
          </a:p>
        </p:txBody>
      </p:sp>
      <p:sp>
        <p:nvSpPr>
          <p:cNvPr id="18" name="Text 16"/>
          <p:cNvSpPr txBox="1"/>
          <p:nvPr/>
        </p:nvSpPr>
        <p:spPr>
          <a:xfrm>
            <a:off x="8366760" y="27614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A named phase such as Build, Test or Deploy. Stages appear in the visual stage view.</a:t>
            </a:r>
            <a:endParaRPr lang="en-US" sz="1200" dirty="0"/>
          </a:p>
        </p:txBody>
      </p:sp>
      <p:sp>
        <p:nvSpPr>
          <p:cNvPr id="19" name="Shape 17"/>
          <p:cNvSpPr/>
          <p:nvPr/>
        </p:nvSpPr>
        <p:spPr>
          <a:xfrm>
            <a:off x="640080" y="34564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877824" y="3694176"/>
            <a:ext cx="420624" cy="420624"/>
          </a:xfrm>
          <a:prstGeom prst="ellipse">
            <a:avLst/>
          </a:prstGeom>
          <a:solidFill>
            <a:srgbClr val="1F5673"/>
          </a:solidFill>
          <a:ln w="12700">
            <a:solidFill>
              <a:srgbClr val="1F5673"/>
            </a:solidFill>
            <a:prstDash val="solid"/>
          </a:ln>
        </p:spPr>
      </p:sp>
      <p:sp>
        <p:nvSpPr>
          <p:cNvPr id="21" name="Text 19"/>
          <p:cNvSpPr txBox="1"/>
          <p:nvPr/>
        </p:nvSpPr>
        <p:spPr>
          <a:xfrm>
            <a:off x="877824" y="3694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877824" y="42428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steps</a:t>
            </a:r>
            <a:endParaRPr lang="en-US" sz="1500" dirty="0"/>
          </a:p>
        </p:txBody>
      </p:sp>
      <p:sp>
        <p:nvSpPr>
          <p:cNvPr id="23" name="Text 21"/>
          <p:cNvSpPr txBox="1"/>
          <p:nvPr/>
        </p:nvSpPr>
        <p:spPr>
          <a:xfrm>
            <a:off x="877824" y="45902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individual actions inside a stage: sh, bat, git, echo, archiveArtifacts.</a:t>
            </a:r>
            <a:endParaRPr lang="en-US" sz="1200" dirty="0"/>
          </a:p>
        </p:txBody>
      </p:sp>
      <p:sp>
        <p:nvSpPr>
          <p:cNvPr id="24" name="Shape 22"/>
          <p:cNvSpPr/>
          <p:nvPr/>
        </p:nvSpPr>
        <p:spPr>
          <a:xfrm>
            <a:off x="4384548" y="34564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4622292" y="3694176"/>
            <a:ext cx="420624" cy="420624"/>
          </a:xfrm>
          <a:prstGeom prst="ellipse">
            <a:avLst/>
          </a:prstGeom>
          <a:solidFill>
            <a:srgbClr val="1F5673"/>
          </a:solidFill>
          <a:ln w="12700">
            <a:solidFill>
              <a:srgbClr val="1F5673"/>
            </a:solidFill>
            <a:prstDash val="solid"/>
          </a:ln>
        </p:spPr>
      </p:sp>
      <p:sp>
        <p:nvSpPr>
          <p:cNvPr id="26" name="Text 24"/>
          <p:cNvSpPr txBox="1"/>
          <p:nvPr/>
        </p:nvSpPr>
        <p:spPr>
          <a:xfrm>
            <a:off x="4622292" y="3694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4622292" y="42428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workspace</a:t>
            </a:r>
            <a:endParaRPr lang="en-US" sz="1500" dirty="0"/>
          </a:p>
        </p:txBody>
      </p:sp>
      <p:sp>
        <p:nvSpPr>
          <p:cNvPr id="28" name="Text 26"/>
          <p:cNvSpPr txBox="1"/>
          <p:nvPr/>
        </p:nvSpPr>
        <p:spPr>
          <a:xfrm>
            <a:off x="4622292" y="45902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directory on the agent where the repository is checked out and the build runs.</a:t>
            </a:r>
            <a:endParaRPr lang="en-US" sz="1200" dirty="0"/>
          </a:p>
        </p:txBody>
      </p:sp>
      <p:sp>
        <p:nvSpPr>
          <p:cNvPr id="29" name="Shape 27"/>
          <p:cNvSpPr/>
          <p:nvPr/>
        </p:nvSpPr>
        <p:spPr>
          <a:xfrm>
            <a:off x="8129016" y="3456432"/>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0" name="Shape 28"/>
          <p:cNvSpPr/>
          <p:nvPr/>
        </p:nvSpPr>
        <p:spPr>
          <a:xfrm>
            <a:off x="8366760" y="3694176"/>
            <a:ext cx="420624" cy="420624"/>
          </a:xfrm>
          <a:prstGeom prst="ellipse">
            <a:avLst/>
          </a:prstGeom>
          <a:solidFill>
            <a:srgbClr val="1F5673"/>
          </a:solidFill>
          <a:ln w="12700">
            <a:solidFill>
              <a:srgbClr val="1F5673"/>
            </a:solidFill>
            <a:prstDash val="solid"/>
          </a:ln>
        </p:spPr>
      </p:sp>
      <p:sp>
        <p:nvSpPr>
          <p:cNvPr id="31" name="Text 29"/>
          <p:cNvSpPr txBox="1"/>
          <p:nvPr/>
        </p:nvSpPr>
        <p:spPr>
          <a:xfrm>
            <a:off x="8366760" y="36941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366760" y="4242816"/>
            <a:ext cx="2944368" cy="310896"/>
          </a:xfrm>
          <a:prstGeom prst="rect">
            <a:avLst/>
          </a:prstGeom>
          <a:noFill/>
          <a:ln/>
        </p:spPr>
        <p:txBody>
          <a:bodyPr wrap="square" lIns="0" tIns="0" rIns="0" bIns="0" rtlCol="0" anchor="ctr"/>
          <a:lstStyle/>
          <a:p>
            <a:pPr indent="0" marL="0">
              <a:buNone/>
            </a:pPr>
            <a:r>
              <a:rPr lang="en-US" sz="1500" b="1" dirty="0">
                <a:solidFill>
                  <a:srgbClr val="141C26"/>
                </a:solidFill>
                <a:latin typeface="Courier New" pitchFamily="34" charset="0"/>
                <a:ea typeface="Courier New" pitchFamily="34" charset="-122"/>
                <a:cs typeface="Courier New" pitchFamily="34" charset="-120"/>
              </a:rPr>
              <a:t>post</a:t>
            </a:r>
            <a:endParaRPr lang="en-US" sz="1500" dirty="0"/>
          </a:p>
        </p:txBody>
      </p:sp>
      <p:sp>
        <p:nvSpPr>
          <p:cNvPr id="33" name="Text 31"/>
          <p:cNvSpPr txBox="1"/>
          <p:nvPr/>
        </p:nvSpPr>
        <p:spPr>
          <a:xfrm>
            <a:off x="8366760" y="4590288"/>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Blocks that run after the stages, conditioned on the result: always, success, failure, unstable.</a:t>
            </a:r>
            <a:endParaRPr lang="en-US" sz="1200" dirty="0"/>
          </a:p>
        </p:txBody>
      </p:sp>
      <p:sp>
        <p:nvSpPr>
          <p:cNvPr id="34" name="Shape 32"/>
          <p:cNvSpPr/>
          <p:nvPr/>
        </p:nvSpPr>
        <p:spPr>
          <a:xfrm>
            <a:off x="640080" y="5394960"/>
            <a:ext cx="10908792" cy="868680"/>
          </a:xfrm>
          <a:prstGeom prst="roundRect">
            <a:avLst>
              <a:gd name="adj" fmla="val 6316"/>
            </a:avLst>
          </a:prstGeom>
          <a:solidFill>
            <a:srgbClr val="141C26"/>
          </a:solidFill>
          <a:ln w="12700">
            <a:solidFill>
              <a:srgbClr val="141C26"/>
            </a:solidFill>
            <a:prstDash val="solid"/>
          </a:ln>
        </p:spPr>
      </p:sp>
      <p:sp>
        <p:nvSpPr>
          <p:cNvPr id="35" name="Text 33"/>
          <p:cNvSpPr txBox="1"/>
          <p:nvPr/>
        </p:nvSpPr>
        <p:spPr>
          <a:xfrm>
            <a:off x="1005840" y="5394960"/>
            <a:ext cx="10177272" cy="86868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Stages are for humans. Split the pipeline into stages that match how your team talks about the build, because the stage view is what everyone looks at when something fails.</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PIPELINES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Declarative pipeline — the default choice</a:t>
            </a:r>
            <a:endParaRPr lang="en-US" sz="3100" dirty="0"/>
          </a:p>
        </p:txBody>
      </p:sp>
      <p:sp>
        <p:nvSpPr>
          <p:cNvPr id="4" name="Shape 2"/>
          <p:cNvSpPr/>
          <p:nvPr/>
        </p:nvSpPr>
        <p:spPr>
          <a:xfrm>
            <a:off x="640080" y="1481328"/>
            <a:ext cx="6400800" cy="4572000"/>
          </a:xfrm>
          <a:prstGeom prst="roundRect">
            <a:avLst>
              <a:gd name="adj" fmla="val 1000"/>
            </a:avLst>
          </a:prstGeom>
          <a:solidFill>
            <a:srgbClr val="141C26"/>
          </a:solidFill>
          <a:ln w="12700">
            <a:solidFill>
              <a:srgbClr val="2C3E50"/>
            </a:solidFill>
            <a:prstDash val="solid"/>
          </a:ln>
        </p:spPr>
      </p:sp>
      <p:sp>
        <p:nvSpPr>
          <p:cNvPr id="5" name="Text 3"/>
          <p:cNvSpPr txBox="1"/>
          <p:nvPr/>
        </p:nvSpPr>
        <p:spPr>
          <a:xfrm>
            <a:off x="896112" y="1682496"/>
            <a:ext cx="588873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Jenkinsfile</a:t>
            </a:r>
            <a:endParaRPr lang="en-US" sz="1250" dirty="0"/>
          </a:p>
        </p:txBody>
      </p:sp>
      <p:sp>
        <p:nvSpPr>
          <p:cNvPr id="6" name="Text 4"/>
          <p:cNvSpPr txBox="1"/>
          <p:nvPr/>
        </p:nvSpPr>
        <p:spPr>
          <a:xfrm>
            <a:off x="896112" y="2084832"/>
            <a:ext cx="5888736" cy="3803904"/>
          </a:xfrm>
          <a:prstGeom prst="rect">
            <a:avLst/>
          </a:prstGeom>
          <a:noFill/>
          <a:ln/>
        </p:spPr>
        <p:txBody>
          <a:bodyPr wrap="square" lIns="0" tIns="0" rIns="0" bIns="0" rtlCol="0" anchor="t"/>
          <a:lstStyle/>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pipeline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agent any</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tools { maven 'maven3'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options { timeout(time: 30, unit: 'MINUTES')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environment { APP = 'invoice-service' }</a:t>
            </a:r>
            <a:endParaRPr lang="en-US" sz="1000" dirty="0"/>
          </a:p>
          <a:p>
            <a:pPr indent="0" marL="0">
              <a:lnSpc>
                <a:spcPct val="108000"/>
              </a:lnSpc>
              <a:buNone/>
            </a:pP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stages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stage('Checkout')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steps { git branch: 'main', url: 'https://…'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stage('Build')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steps { sh 'mvn -B clean package'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stage('Test')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steps { sh 'mvn test'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post { always { junit 'target/surefire-reports/*.xml' }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post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success { echo "${APP} built successfully"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failure { mail to: 'team@company.com', subject: 'Build failed'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  }</a:t>
            </a:r>
            <a:endParaRPr lang="en-US" sz="1000" dirty="0"/>
          </a:p>
          <a:p>
            <a:pPr indent="0" marL="0">
              <a:lnSpc>
                <a:spcPct val="108000"/>
              </a:lnSpc>
              <a:buNone/>
            </a:pPr>
            <a:r>
              <a:rPr lang="en-US" sz="1000" dirty="0">
                <a:solidFill>
                  <a:srgbClr val="E3E9EF"/>
                </a:solidFill>
                <a:latin typeface="Courier New" pitchFamily="34" charset="0"/>
                <a:ea typeface="Courier New" pitchFamily="34" charset="-122"/>
                <a:cs typeface="Courier New" pitchFamily="34" charset="-120"/>
              </a:rPr>
              <a:t>}</a:t>
            </a:r>
            <a:endParaRPr lang="en-US" sz="1000" dirty="0"/>
          </a:p>
        </p:txBody>
      </p:sp>
      <p:sp>
        <p:nvSpPr>
          <p:cNvPr id="7" name="Shape 5"/>
          <p:cNvSpPr/>
          <p:nvPr/>
        </p:nvSpPr>
        <p:spPr>
          <a:xfrm>
            <a:off x="7360920" y="1481328"/>
            <a:ext cx="4187952" cy="1078992"/>
          </a:xfrm>
          <a:prstGeom prst="roundRect">
            <a:avLst>
              <a:gd name="adj" fmla="val 4237"/>
            </a:avLst>
          </a:prstGeom>
          <a:solidFill>
            <a:srgbClr val="F1F4F7"/>
          </a:solidFill>
          <a:ln w="12700">
            <a:solidFill>
              <a:srgbClr val="DBE2EA"/>
            </a:solidFill>
            <a:prstDash val="solid"/>
          </a:ln>
        </p:spPr>
      </p:sp>
      <p:sp>
        <p:nvSpPr>
          <p:cNvPr id="8" name="Text 6"/>
          <p:cNvSpPr txBox="1"/>
          <p:nvPr/>
        </p:nvSpPr>
        <p:spPr>
          <a:xfrm>
            <a:off x="7607808" y="1572768"/>
            <a:ext cx="3749040" cy="27432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Fixed structure</a:t>
            </a:r>
            <a:endParaRPr lang="en-US" sz="1300" dirty="0"/>
          </a:p>
        </p:txBody>
      </p:sp>
      <p:sp>
        <p:nvSpPr>
          <p:cNvPr id="9" name="Text 7"/>
          <p:cNvSpPr txBox="1"/>
          <p:nvPr/>
        </p:nvSpPr>
        <p:spPr>
          <a:xfrm>
            <a:off x="7607808" y="1847088"/>
            <a:ext cx="3749040" cy="640080"/>
          </a:xfrm>
          <a:prstGeom prst="rect">
            <a:avLst/>
          </a:prstGeom>
          <a:noFill/>
          <a:ln/>
        </p:spPr>
        <p:txBody>
          <a:bodyPr wrap="square" lIns="0" tIns="0" rIns="0" bIns="0" rtlCol="0" anchor="ctr"/>
          <a:lstStyle/>
          <a:p>
            <a:pPr indent="0" marL="0">
              <a:lnSpc>
                <a:spcPct val="104000"/>
              </a:lnSpc>
              <a:buNone/>
            </a:pPr>
            <a:r>
              <a:rPr lang="en-US" sz="1100" dirty="0">
                <a:solidFill>
                  <a:srgbClr val="28313B"/>
                </a:solidFill>
                <a:latin typeface="Calibri" pitchFamily="34" charset="0"/>
                <a:ea typeface="Calibri" pitchFamily="34" charset="-122"/>
                <a:cs typeface="Calibri" pitchFamily="34" charset="-120"/>
              </a:rPr>
              <a:t>The blocks must appear in a defined order, which makes pipelines predictable and lets Jenkins validate them before running.</a:t>
            </a:r>
            <a:endParaRPr lang="en-US" sz="1100" dirty="0"/>
          </a:p>
        </p:txBody>
      </p:sp>
      <p:sp>
        <p:nvSpPr>
          <p:cNvPr id="10" name="Shape 8"/>
          <p:cNvSpPr/>
          <p:nvPr/>
        </p:nvSpPr>
        <p:spPr>
          <a:xfrm>
            <a:off x="7360920" y="2651760"/>
            <a:ext cx="4187952" cy="1078992"/>
          </a:xfrm>
          <a:prstGeom prst="roundRect">
            <a:avLst>
              <a:gd name="adj" fmla="val 4237"/>
            </a:avLst>
          </a:prstGeom>
          <a:solidFill>
            <a:srgbClr val="FFFFFF"/>
          </a:solidFill>
          <a:ln w="12700">
            <a:solidFill>
              <a:srgbClr val="DBE2EA"/>
            </a:solidFill>
            <a:prstDash val="solid"/>
          </a:ln>
        </p:spPr>
      </p:sp>
      <p:sp>
        <p:nvSpPr>
          <p:cNvPr id="11" name="Text 9"/>
          <p:cNvSpPr txBox="1"/>
          <p:nvPr/>
        </p:nvSpPr>
        <p:spPr>
          <a:xfrm>
            <a:off x="7607808" y="2743200"/>
            <a:ext cx="3749040" cy="27432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Readable by non-experts</a:t>
            </a:r>
            <a:endParaRPr lang="en-US" sz="1300" dirty="0"/>
          </a:p>
        </p:txBody>
      </p:sp>
      <p:sp>
        <p:nvSpPr>
          <p:cNvPr id="12" name="Text 10"/>
          <p:cNvSpPr txBox="1"/>
          <p:nvPr/>
        </p:nvSpPr>
        <p:spPr>
          <a:xfrm>
            <a:off x="7607808" y="3017520"/>
            <a:ext cx="3749040" cy="640080"/>
          </a:xfrm>
          <a:prstGeom prst="rect">
            <a:avLst/>
          </a:prstGeom>
          <a:noFill/>
          <a:ln/>
        </p:spPr>
        <p:txBody>
          <a:bodyPr wrap="square" lIns="0" tIns="0" rIns="0" bIns="0" rtlCol="0" anchor="ctr"/>
          <a:lstStyle/>
          <a:p>
            <a:pPr indent="0" marL="0">
              <a:lnSpc>
                <a:spcPct val="104000"/>
              </a:lnSpc>
              <a:buNone/>
            </a:pPr>
            <a:r>
              <a:rPr lang="en-US" sz="1100" dirty="0">
                <a:solidFill>
                  <a:srgbClr val="28313B"/>
                </a:solidFill>
                <a:latin typeface="Calibri" pitchFamily="34" charset="0"/>
                <a:ea typeface="Calibri" pitchFamily="34" charset="-122"/>
                <a:cs typeface="Calibri" pitchFamily="34" charset="-120"/>
              </a:rPr>
              <a:t>Configuration-like syntax that a reviewer can follow without knowing Groovy.</a:t>
            </a:r>
            <a:endParaRPr lang="en-US" sz="1100" dirty="0"/>
          </a:p>
        </p:txBody>
      </p:sp>
      <p:sp>
        <p:nvSpPr>
          <p:cNvPr id="13" name="Shape 11"/>
          <p:cNvSpPr/>
          <p:nvPr/>
        </p:nvSpPr>
        <p:spPr>
          <a:xfrm>
            <a:off x="7360920" y="3822192"/>
            <a:ext cx="4187952" cy="1078992"/>
          </a:xfrm>
          <a:prstGeom prst="roundRect">
            <a:avLst>
              <a:gd name="adj" fmla="val 4237"/>
            </a:avLst>
          </a:prstGeom>
          <a:solidFill>
            <a:srgbClr val="F1F4F7"/>
          </a:solidFill>
          <a:ln w="12700">
            <a:solidFill>
              <a:srgbClr val="DBE2EA"/>
            </a:solidFill>
            <a:prstDash val="solid"/>
          </a:ln>
        </p:spPr>
      </p:sp>
      <p:sp>
        <p:nvSpPr>
          <p:cNvPr id="14" name="Text 12"/>
          <p:cNvSpPr txBox="1"/>
          <p:nvPr/>
        </p:nvSpPr>
        <p:spPr>
          <a:xfrm>
            <a:off x="7607808" y="3913632"/>
            <a:ext cx="3749040" cy="27432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Validated early</a:t>
            </a:r>
            <a:endParaRPr lang="en-US" sz="1300" dirty="0"/>
          </a:p>
        </p:txBody>
      </p:sp>
      <p:sp>
        <p:nvSpPr>
          <p:cNvPr id="15" name="Text 13"/>
          <p:cNvSpPr txBox="1"/>
          <p:nvPr/>
        </p:nvSpPr>
        <p:spPr>
          <a:xfrm>
            <a:off x="7607808" y="4187952"/>
            <a:ext cx="3749040" cy="640080"/>
          </a:xfrm>
          <a:prstGeom prst="rect">
            <a:avLst/>
          </a:prstGeom>
          <a:noFill/>
          <a:ln/>
        </p:spPr>
        <p:txBody>
          <a:bodyPr wrap="square" lIns="0" tIns="0" rIns="0" bIns="0" rtlCol="0" anchor="ctr"/>
          <a:lstStyle/>
          <a:p>
            <a:pPr indent="0" marL="0">
              <a:lnSpc>
                <a:spcPct val="104000"/>
              </a:lnSpc>
              <a:buNone/>
            </a:pPr>
            <a:r>
              <a:rPr lang="en-US" sz="1100" dirty="0">
                <a:solidFill>
                  <a:srgbClr val="28313B"/>
                </a:solidFill>
                <a:latin typeface="Calibri" pitchFamily="34" charset="0"/>
                <a:ea typeface="Calibri" pitchFamily="34" charset="-122"/>
                <a:cs typeface="Calibri" pitchFamily="34" charset="-120"/>
              </a:rPr>
              <a:t>Syntax errors are caught when the pipeline is read, not halfway through a build.</a:t>
            </a:r>
            <a:endParaRPr lang="en-US" sz="1100" dirty="0"/>
          </a:p>
        </p:txBody>
      </p:sp>
      <p:sp>
        <p:nvSpPr>
          <p:cNvPr id="16" name="Shape 14"/>
          <p:cNvSpPr/>
          <p:nvPr/>
        </p:nvSpPr>
        <p:spPr>
          <a:xfrm>
            <a:off x="7360920" y="4992624"/>
            <a:ext cx="4187952" cy="1078992"/>
          </a:xfrm>
          <a:prstGeom prst="roundRect">
            <a:avLst>
              <a:gd name="adj" fmla="val 4237"/>
            </a:avLst>
          </a:prstGeom>
          <a:solidFill>
            <a:srgbClr val="FFFFFF"/>
          </a:solidFill>
          <a:ln w="12700">
            <a:solidFill>
              <a:srgbClr val="DBE2EA"/>
            </a:solidFill>
            <a:prstDash val="solid"/>
          </a:ln>
        </p:spPr>
      </p:sp>
      <p:sp>
        <p:nvSpPr>
          <p:cNvPr id="17" name="Text 15"/>
          <p:cNvSpPr txBox="1"/>
          <p:nvPr/>
        </p:nvSpPr>
        <p:spPr>
          <a:xfrm>
            <a:off x="7607808" y="5084064"/>
            <a:ext cx="3749040" cy="274320"/>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Escape hatch</a:t>
            </a:r>
            <a:endParaRPr lang="en-US" sz="1300" dirty="0"/>
          </a:p>
        </p:txBody>
      </p:sp>
      <p:sp>
        <p:nvSpPr>
          <p:cNvPr id="18" name="Text 16"/>
          <p:cNvSpPr txBox="1"/>
          <p:nvPr/>
        </p:nvSpPr>
        <p:spPr>
          <a:xfrm>
            <a:off x="7607808" y="5358384"/>
            <a:ext cx="3749040" cy="640080"/>
          </a:xfrm>
          <a:prstGeom prst="rect">
            <a:avLst/>
          </a:prstGeom>
          <a:noFill/>
          <a:ln/>
        </p:spPr>
        <p:txBody>
          <a:bodyPr wrap="square" lIns="0" tIns="0" rIns="0" bIns="0" rtlCol="0" anchor="ctr"/>
          <a:lstStyle/>
          <a:p>
            <a:pPr indent="0" marL="0">
              <a:lnSpc>
                <a:spcPct val="104000"/>
              </a:lnSpc>
              <a:buNone/>
            </a:pPr>
            <a:r>
              <a:rPr lang="en-US" sz="1100" dirty="0">
                <a:solidFill>
                  <a:srgbClr val="28313B"/>
                </a:solidFill>
                <a:latin typeface="Calibri" pitchFamily="34" charset="0"/>
                <a:ea typeface="Calibri" pitchFamily="34" charset="-122"/>
                <a:cs typeface="Calibri" pitchFamily="34" charset="-120"/>
              </a:rPr>
              <a:t>A script { } block lets you drop into scripted Groovy where you genuinely need logic.</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PIPELINES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Declarative directives worth knowing</a:t>
            </a:r>
            <a:endParaRPr lang="en-US" sz="3100" dirty="0"/>
          </a:p>
        </p:txBody>
      </p:sp>
      <p:sp>
        <p:nvSpPr>
          <p:cNvPr id="4" name="Shape 2"/>
          <p:cNvSpPr/>
          <p:nvPr/>
        </p:nvSpPr>
        <p:spPr>
          <a:xfrm>
            <a:off x="640080" y="1481328"/>
            <a:ext cx="5669280" cy="438912"/>
          </a:xfrm>
          <a:prstGeom prst="roundRect">
            <a:avLst>
              <a:gd name="adj" fmla="val 8333"/>
            </a:avLst>
          </a:prstGeom>
          <a:solidFill>
            <a:srgbClr val="F1F4F7"/>
          </a:solidFill>
          <a:ln w="12700">
            <a:solidFill>
              <a:srgbClr val="DBE2EA"/>
            </a:solidFill>
            <a:prstDash val="solid"/>
          </a:ln>
        </p:spPr>
      </p:sp>
      <p:sp>
        <p:nvSpPr>
          <p:cNvPr id="5" name="Text 3"/>
          <p:cNvSpPr txBox="1"/>
          <p:nvPr/>
        </p:nvSpPr>
        <p:spPr>
          <a:xfrm>
            <a:off x="822960" y="1481328"/>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agent</a:t>
            </a:r>
            <a:endParaRPr lang="en-US" sz="1200" dirty="0"/>
          </a:p>
        </p:txBody>
      </p:sp>
      <p:sp>
        <p:nvSpPr>
          <p:cNvPr id="6" name="Text 4"/>
          <p:cNvSpPr txBox="1"/>
          <p:nvPr/>
        </p:nvSpPr>
        <p:spPr>
          <a:xfrm>
            <a:off x="2743200" y="1481328"/>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Where to run: any, none, label 'linux', docker</a:t>
            </a:r>
            <a:endParaRPr lang="en-US" sz="1150" dirty="0"/>
          </a:p>
        </p:txBody>
      </p:sp>
      <p:sp>
        <p:nvSpPr>
          <p:cNvPr id="7" name="Shape 5"/>
          <p:cNvSpPr/>
          <p:nvPr/>
        </p:nvSpPr>
        <p:spPr>
          <a:xfrm>
            <a:off x="640080" y="1975104"/>
            <a:ext cx="5669280" cy="438912"/>
          </a:xfrm>
          <a:prstGeom prst="roundRect">
            <a:avLst>
              <a:gd name="adj" fmla="val 8333"/>
            </a:avLst>
          </a:prstGeom>
          <a:solidFill>
            <a:srgbClr val="FFFFFF"/>
          </a:solidFill>
          <a:ln w="12700">
            <a:solidFill>
              <a:srgbClr val="DBE2EA"/>
            </a:solidFill>
            <a:prstDash val="solid"/>
          </a:ln>
        </p:spPr>
      </p:sp>
      <p:sp>
        <p:nvSpPr>
          <p:cNvPr id="8" name="Text 6"/>
          <p:cNvSpPr txBox="1"/>
          <p:nvPr/>
        </p:nvSpPr>
        <p:spPr>
          <a:xfrm>
            <a:off x="822960" y="1975104"/>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tools</a:t>
            </a:r>
            <a:endParaRPr lang="en-US" sz="1200" dirty="0"/>
          </a:p>
        </p:txBody>
      </p:sp>
      <p:sp>
        <p:nvSpPr>
          <p:cNvPr id="9" name="Text 7"/>
          <p:cNvSpPr txBox="1"/>
          <p:nvPr/>
        </p:nvSpPr>
        <p:spPr>
          <a:xfrm>
            <a:off x="2743200" y="1975104"/>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JDK, Maven or Gradle installations by name</a:t>
            </a:r>
            <a:endParaRPr lang="en-US" sz="1150" dirty="0"/>
          </a:p>
        </p:txBody>
      </p:sp>
      <p:sp>
        <p:nvSpPr>
          <p:cNvPr id="10" name="Shape 8"/>
          <p:cNvSpPr/>
          <p:nvPr/>
        </p:nvSpPr>
        <p:spPr>
          <a:xfrm>
            <a:off x="640080" y="2468880"/>
            <a:ext cx="5669280" cy="438912"/>
          </a:xfrm>
          <a:prstGeom prst="roundRect">
            <a:avLst>
              <a:gd name="adj" fmla="val 8333"/>
            </a:avLst>
          </a:prstGeom>
          <a:solidFill>
            <a:srgbClr val="F1F4F7"/>
          </a:solidFill>
          <a:ln w="12700">
            <a:solidFill>
              <a:srgbClr val="DBE2EA"/>
            </a:solidFill>
            <a:prstDash val="solid"/>
          </a:ln>
        </p:spPr>
      </p:sp>
      <p:sp>
        <p:nvSpPr>
          <p:cNvPr id="11" name="Text 9"/>
          <p:cNvSpPr txBox="1"/>
          <p:nvPr/>
        </p:nvSpPr>
        <p:spPr>
          <a:xfrm>
            <a:off x="822960" y="2468880"/>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environment</a:t>
            </a:r>
            <a:endParaRPr lang="en-US" sz="1200" dirty="0"/>
          </a:p>
        </p:txBody>
      </p:sp>
      <p:sp>
        <p:nvSpPr>
          <p:cNvPr id="12" name="Text 10"/>
          <p:cNvSpPr txBox="1"/>
          <p:nvPr/>
        </p:nvSpPr>
        <p:spPr>
          <a:xfrm>
            <a:off x="2743200" y="2468880"/>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Variables for the pipeline or one stage</a:t>
            </a:r>
            <a:endParaRPr lang="en-US" sz="1150" dirty="0"/>
          </a:p>
        </p:txBody>
      </p:sp>
      <p:sp>
        <p:nvSpPr>
          <p:cNvPr id="13" name="Shape 11"/>
          <p:cNvSpPr/>
          <p:nvPr/>
        </p:nvSpPr>
        <p:spPr>
          <a:xfrm>
            <a:off x="640080" y="2962656"/>
            <a:ext cx="5669280" cy="438912"/>
          </a:xfrm>
          <a:prstGeom prst="roundRect">
            <a:avLst>
              <a:gd name="adj" fmla="val 8333"/>
            </a:avLst>
          </a:prstGeom>
          <a:solidFill>
            <a:srgbClr val="FFFFFF"/>
          </a:solidFill>
          <a:ln w="12700">
            <a:solidFill>
              <a:srgbClr val="DBE2EA"/>
            </a:solidFill>
            <a:prstDash val="solid"/>
          </a:ln>
        </p:spPr>
      </p:sp>
      <p:sp>
        <p:nvSpPr>
          <p:cNvPr id="14" name="Text 12"/>
          <p:cNvSpPr txBox="1"/>
          <p:nvPr/>
        </p:nvSpPr>
        <p:spPr>
          <a:xfrm>
            <a:off x="822960" y="2962656"/>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options</a:t>
            </a:r>
            <a:endParaRPr lang="en-US" sz="1200" dirty="0"/>
          </a:p>
        </p:txBody>
      </p:sp>
      <p:sp>
        <p:nvSpPr>
          <p:cNvPr id="15" name="Text 13"/>
          <p:cNvSpPr txBox="1"/>
          <p:nvPr/>
        </p:nvSpPr>
        <p:spPr>
          <a:xfrm>
            <a:off x="2743200" y="2962656"/>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Timeouts, retries, build discard policy</a:t>
            </a:r>
            <a:endParaRPr lang="en-US" sz="1150" dirty="0"/>
          </a:p>
        </p:txBody>
      </p:sp>
      <p:sp>
        <p:nvSpPr>
          <p:cNvPr id="16" name="Shape 14"/>
          <p:cNvSpPr/>
          <p:nvPr/>
        </p:nvSpPr>
        <p:spPr>
          <a:xfrm>
            <a:off x="640080" y="3456432"/>
            <a:ext cx="5669280" cy="438912"/>
          </a:xfrm>
          <a:prstGeom prst="roundRect">
            <a:avLst>
              <a:gd name="adj" fmla="val 8333"/>
            </a:avLst>
          </a:prstGeom>
          <a:solidFill>
            <a:srgbClr val="F1F4F7"/>
          </a:solidFill>
          <a:ln w="12700">
            <a:solidFill>
              <a:srgbClr val="DBE2EA"/>
            </a:solidFill>
            <a:prstDash val="solid"/>
          </a:ln>
        </p:spPr>
      </p:sp>
      <p:sp>
        <p:nvSpPr>
          <p:cNvPr id="17" name="Text 15"/>
          <p:cNvSpPr txBox="1"/>
          <p:nvPr/>
        </p:nvSpPr>
        <p:spPr>
          <a:xfrm>
            <a:off x="822960" y="3456432"/>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parameters</a:t>
            </a:r>
            <a:endParaRPr lang="en-US" sz="1200" dirty="0"/>
          </a:p>
        </p:txBody>
      </p:sp>
      <p:sp>
        <p:nvSpPr>
          <p:cNvPr id="18" name="Text 16"/>
          <p:cNvSpPr txBox="1"/>
          <p:nvPr/>
        </p:nvSpPr>
        <p:spPr>
          <a:xfrm>
            <a:off x="2743200" y="3456432"/>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Values a user supplies when triggering</a:t>
            </a:r>
            <a:endParaRPr lang="en-US" sz="1150" dirty="0"/>
          </a:p>
        </p:txBody>
      </p:sp>
      <p:sp>
        <p:nvSpPr>
          <p:cNvPr id="19" name="Shape 17"/>
          <p:cNvSpPr/>
          <p:nvPr/>
        </p:nvSpPr>
        <p:spPr>
          <a:xfrm>
            <a:off x="640080" y="3950208"/>
            <a:ext cx="5669280" cy="438912"/>
          </a:xfrm>
          <a:prstGeom prst="roundRect">
            <a:avLst>
              <a:gd name="adj" fmla="val 8333"/>
            </a:avLst>
          </a:prstGeom>
          <a:solidFill>
            <a:srgbClr val="FFFFFF"/>
          </a:solidFill>
          <a:ln w="12700">
            <a:solidFill>
              <a:srgbClr val="DBE2EA"/>
            </a:solidFill>
            <a:prstDash val="solid"/>
          </a:ln>
        </p:spPr>
      </p:sp>
      <p:sp>
        <p:nvSpPr>
          <p:cNvPr id="20" name="Text 18"/>
          <p:cNvSpPr txBox="1"/>
          <p:nvPr/>
        </p:nvSpPr>
        <p:spPr>
          <a:xfrm>
            <a:off x="822960" y="3950208"/>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triggers</a:t>
            </a:r>
            <a:endParaRPr lang="en-US" sz="1200" dirty="0"/>
          </a:p>
        </p:txBody>
      </p:sp>
      <p:sp>
        <p:nvSpPr>
          <p:cNvPr id="21" name="Text 19"/>
          <p:cNvSpPr txBox="1"/>
          <p:nvPr/>
        </p:nvSpPr>
        <p:spPr>
          <a:xfrm>
            <a:off x="2743200" y="3950208"/>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cron, pollSCM, upstream</a:t>
            </a:r>
            <a:endParaRPr lang="en-US" sz="1150" dirty="0"/>
          </a:p>
        </p:txBody>
      </p:sp>
      <p:sp>
        <p:nvSpPr>
          <p:cNvPr id="22" name="Shape 20"/>
          <p:cNvSpPr/>
          <p:nvPr/>
        </p:nvSpPr>
        <p:spPr>
          <a:xfrm>
            <a:off x="640080" y="4443984"/>
            <a:ext cx="5669280" cy="438912"/>
          </a:xfrm>
          <a:prstGeom prst="roundRect">
            <a:avLst>
              <a:gd name="adj" fmla="val 8333"/>
            </a:avLst>
          </a:prstGeom>
          <a:solidFill>
            <a:srgbClr val="F1F4F7"/>
          </a:solidFill>
          <a:ln w="12700">
            <a:solidFill>
              <a:srgbClr val="DBE2EA"/>
            </a:solidFill>
            <a:prstDash val="solid"/>
          </a:ln>
        </p:spPr>
      </p:sp>
      <p:sp>
        <p:nvSpPr>
          <p:cNvPr id="23" name="Text 21"/>
          <p:cNvSpPr txBox="1"/>
          <p:nvPr/>
        </p:nvSpPr>
        <p:spPr>
          <a:xfrm>
            <a:off x="822960" y="4443984"/>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when</a:t>
            </a:r>
            <a:endParaRPr lang="en-US" sz="1200" dirty="0"/>
          </a:p>
        </p:txBody>
      </p:sp>
      <p:sp>
        <p:nvSpPr>
          <p:cNvPr id="24" name="Text 22"/>
          <p:cNvSpPr txBox="1"/>
          <p:nvPr/>
        </p:nvSpPr>
        <p:spPr>
          <a:xfrm>
            <a:off x="2743200" y="4443984"/>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Run a stage only under a condition</a:t>
            </a:r>
            <a:endParaRPr lang="en-US" sz="1150" dirty="0"/>
          </a:p>
        </p:txBody>
      </p:sp>
      <p:sp>
        <p:nvSpPr>
          <p:cNvPr id="25" name="Shape 23"/>
          <p:cNvSpPr/>
          <p:nvPr/>
        </p:nvSpPr>
        <p:spPr>
          <a:xfrm>
            <a:off x="640080" y="4937760"/>
            <a:ext cx="5669280" cy="438912"/>
          </a:xfrm>
          <a:prstGeom prst="roundRect">
            <a:avLst>
              <a:gd name="adj" fmla="val 8333"/>
            </a:avLst>
          </a:prstGeom>
          <a:solidFill>
            <a:srgbClr val="FFFFFF"/>
          </a:solidFill>
          <a:ln w="12700">
            <a:solidFill>
              <a:srgbClr val="DBE2EA"/>
            </a:solidFill>
            <a:prstDash val="solid"/>
          </a:ln>
        </p:spPr>
      </p:sp>
      <p:sp>
        <p:nvSpPr>
          <p:cNvPr id="26" name="Text 24"/>
          <p:cNvSpPr txBox="1"/>
          <p:nvPr/>
        </p:nvSpPr>
        <p:spPr>
          <a:xfrm>
            <a:off x="822960" y="4937760"/>
            <a:ext cx="1828800" cy="438912"/>
          </a:xfrm>
          <a:prstGeom prst="rect">
            <a:avLst/>
          </a:prstGeom>
          <a:noFill/>
          <a:ln/>
        </p:spPr>
        <p:txBody>
          <a:bodyPr wrap="square" lIns="0" tIns="0" rIns="0" bIns="0" rtlCol="0" anchor="ctr"/>
          <a:lstStyle/>
          <a:p>
            <a:pPr indent="0" marL="0">
              <a:buNone/>
            </a:pPr>
            <a:r>
              <a:rPr lang="en-US" sz="1200" b="1" dirty="0">
                <a:solidFill>
                  <a:srgbClr val="1F5673"/>
                </a:solidFill>
                <a:latin typeface="Courier New" pitchFamily="34" charset="0"/>
                <a:ea typeface="Courier New" pitchFamily="34" charset="-122"/>
                <a:cs typeface="Courier New" pitchFamily="34" charset="-120"/>
              </a:rPr>
              <a:t>post</a:t>
            </a:r>
            <a:endParaRPr lang="en-US" sz="1200" dirty="0"/>
          </a:p>
        </p:txBody>
      </p:sp>
      <p:sp>
        <p:nvSpPr>
          <p:cNvPr id="27" name="Text 25"/>
          <p:cNvSpPr txBox="1"/>
          <p:nvPr/>
        </p:nvSpPr>
        <p:spPr>
          <a:xfrm>
            <a:off x="2743200" y="4937760"/>
            <a:ext cx="3383280" cy="438912"/>
          </a:xfrm>
          <a:prstGeom prst="rect">
            <a:avLst/>
          </a:prstGeom>
          <a:noFill/>
          <a:ln/>
        </p:spPr>
        <p:txBody>
          <a:bodyPr wrap="square" lIns="0" tIns="0" rIns="0" bIns="0" rtlCol="0" anchor="ctr"/>
          <a:lstStyle/>
          <a:p>
            <a:pPr indent="0" marL="0">
              <a:buNone/>
            </a:pPr>
            <a:r>
              <a:rPr lang="en-US" sz="1150" dirty="0">
                <a:solidFill>
                  <a:srgbClr val="28313B"/>
                </a:solidFill>
                <a:latin typeface="Calibri" pitchFamily="34" charset="0"/>
                <a:ea typeface="Calibri" pitchFamily="34" charset="-122"/>
                <a:cs typeface="Calibri" pitchFamily="34" charset="-120"/>
              </a:rPr>
              <a:t>Actions after success, failure or always</a:t>
            </a:r>
            <a:endParaRPr lang="en-US" sz="1150" dirty="0"/>
          </a:p>
        </p:txBody>
      </p:sp>
      <p:sp>
        <p:nvSpPr>
          <p:cNvPr id="28" name="Shape 26"/>
          <p:cNvSpPr/>
          <p:nvPr/>
        </p:nvSpPr>
        <p:spPr>
          <a:xfrm>
            <a:off x="6675120" y="1481328"/>
            <a:ext cx="4873752" cy="2286000"/>
          </a:xfrm>
          <a:prstGeom prst="roundRect">
            <a:avLst>
              <a:gd name="adj" fmla="val 2000"/>
            </a:avLst>
          </a:prstGeom>
          <a:solidFill>
            <a:srgbClr val="141C26"/>
          </a:solidFill>
          <a:ln w="12700">
            <a:solidFill>
              <a:srgbClr val="2C3E50"/>
            </a:solidFill>
            <a:prstDash val="solid"/>
          </a:ln>
        </p:spPr>
      </p:sp>
      <p:sp>
        <p:nvSpPr>
          <p:cNvPr id="29" name="Text 27"/>
          <p:cNvSpPr txBox="1"/>
          <p:nvPr/>
        </p:nvSpPr>
        <p:spPr>
          <a:xfrm>
            <a:off x="6931152" y="1682496"/>
            <a:ext cx="4361688"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CONDITIONAL STAGES</a:t>
            </a:r>
            <a:endParaRPr lang="en-US" sz="1250" dirty="0"/>
          </a:p>
        </p:txBody>
      </p:sp>
      <p:sp>
        <p:nvSpPr>
          <p:cNvPr id="30" name="Text 28"/>
          <p:cNvSpPr txBox="1"/>
          <p:nvPr/>
        </p:nvSpPr>
        <p:spPr>
          <a:xfrm>
            <a:off x="6931152" y="2084832"/>
            <a:ext cx="4361688" cy="1517904"/>
          </a:xfrm>
          <a:prstGeom prst="rect">
            <a:avLst/>
          </a:prstGeom>
          <a:noFill/>
          <a:ln/>
        </p:spPr>
        <p:txBody>
          <a:bodyPr wrap="square" lIns="0" tIns="0" rIns="0" bIns="0" rtlCol="0" anchor="t"/>
          <a:lstStyle/>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stage('Deploy')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when { branch 'main'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steps { sh './deploy.sh'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31" name="Shape 29"/>
          <p:cNvSpPr/>
          <p:nvPr/>
        </p:nvSpPr>
        <p:spPr>
          <a:xfrm>
            <a:off x="6675120" y="3886200"/>
            <a:ext cx="4873752" cy="2194560"/>
          </a:xfrm>
          <a:prstGeom prst="roundRect">
            <a:avLst>
              <a:gd name="adj" fmla="val 2083"/>
            </a:avLst>
          </a:prstGeom>
          <a:solidFill>
            <a:srgbClr val="141C26"/>
          </a:solidFill>
          <a:ln w="12700">
            <a:solidFill>
              <a:srgbClr val="2C3E50"/>
            </a:solidFill>
            <a:prstDash val="solid"/>
          </a:ln>
        </p:spPr>
      </p:sp>
      <p:sp>
        <p:nvSpPr>
          <p:cNvPr id="32" name="Text 30"/>
          <p:cNvSpPr txBox="1"/>
          <p:nvPr/>
        </p:nvSpPr>
        <p:spPr>
          <a:xfrm>
            <a:off x="6931152" y="4087368"/>
            <a:ext cx="4361688"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PARALLEL AND PARAMETERS</a:t>
            </a:r>
            <a:endParaRPr lang="en-US" sz="1250" dirty="0"/>
          </a:p>
        </p:txBody>
      </p:sp>
      <p:sp>
        <p:nvSpPr>
          <p:cNvPr id="33" name="Text 31"/>
          <p:cNvSpPr txBox="1"/>
          <p:nvPr/>
        </p:nvSpPr>
        <p:spPr>
          <a:xfrm>
            <a:off x="6931152" y="4489704"/>
            <a:ext cx="4361688" cy="1426464"/>
          </a:xfrm>
          <a:prstGeom prst="rect">
            <a:avLst/>
          </a:prstGeom>
          <a:noFill/>
          <a:ln/>
        </p:spPr>
        <p:txBody>
          <a:bodyPr wrap="square" lIns="0" tIns="0" rIns="0" bIns="0" rtlCol="0" anchor="t"/>
          <a:lstStyle/>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parameters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choice(name: 'ENV',</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choices: ['dev','prod'])</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a:p>
            <a:pPr indent="0" marL="0">
              <a:lnSpc>
                <a:spcPct val="118000"/>
              </a:lnSpc>
              <a:buNone/>
            </a:pP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parallel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stage('Unit') { steps { … }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stage('Lint') { steps { … }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34" name="Shape 32"/>
          <p:cNvSpPr/>
          <p:nvPr/>
        </p:nvSpPr>
        <p:spPr>
          <a:xfrm>
            <a:off x="640080" y="5394960"/>
            <a:ext cx="5669280" cy="685800"/>
          </a:xfrm>
          <a:prstGeom prst="roundRect">
            <a:avLst>
              <a:gd name="adj" fmla="val 8000"/>
            </a:avLst>
          </a:prstGeom>
          <a:solidFill>
            <a:srgbClr val="EAF1F6"/>
          </a:solidFill>
          <a:ln w="12700">
            <a:solidFill>
              <a:srgbClr val="1F5673"/>
            </a:solidFill>
            <a:prstDash val="solid"/>
          </a:ln>
        </p:spPr>
      </p:sp>
      <p:sp>
        <p:nvSpPr>
          <p:cNvPr id="35" name="Text 33"/>
          <p:cNvSpPr txBox="1"/>
          <p:nvPr/>
        </p:nvSpPr>
        <p:spPr>
          <a:xfrm>
            <a:off x="914400" y="5394960"/>
            <a:ext cx="5120640" cy="685800"/>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Use the Snippet Generator (Pipeline Syntax link on any pipeline job) to produce correct syntax for any step.</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PIPELINES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Scripted pipeline — full Groovy</a:t>
            </a:r>
            <a:endParaRPr lang="en-US" sz="3100" dirty="0"/>
          </a:p>
        </p:txBody>
      </p:sp>
      <p:sp>
        <p:nvSpPr>
          <p:cNvPr id="4" name="Shape 2"/>
          <p:cNvSpPr/>
          <p:nvPr/>
        </p:nvSpPr>
        <p:spPr>
          <a:xfrm>
            <a:off x="640080" y="1481328"/>
            <a:ext cx="5852160" cy="3383280"/>
          </a:xfrm>
          <a:prstGeom prst="roundRect">
            <a:avLst>
              <a:gd name="adj" fmla="val 1351"/>
            </a:avLst>
          </a:prstGeom>
          <a:solidFill>
            <a:srgbClr val="141C26"/>
          </a:solidFill>
          <a:ln w="12700">
            <a:solidFill>
              <a:srgbClr val="2C3E50"/>
            </a:solidFill>
            <a:prstDash val="solid"/>
          </a:ln>
        </p:spPr>
      </p:sp>
      <p:sp>
        <p:nvSpPr>
          <p:cNvPr id="5" name="Text 3"/>
          <p:cNvSpPr txBox="1"/>
          <p:nvPr/>
        </p:nvSpPr>
        <p:spPr>
          <a:xfrm>
            <a:off x="896112" y="1682496"/>
            <a:ext cx="534009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Jenkinsfile (SCRIPTED)</a:t>
            </a:r>
            <a:endParaRPr lang="en-US" sz="1250" dirty="0"/>
          </a:p>
        </p:txBody>
      </p:sp>
      <p:sp>
        <p:nvSpPr>
          <p:cNvPr id="6" name="Text 4"/>
          <p:cNvSpPr txBox="1"/>
          <p:nvPr/>
        </p:nvSpPr>
        <p:spPr>
          <a:xfrm>
            <a:off x="896112" y="2084832"/>
            <a:ext cx="5340096" cy="2615184"/>
          </a:xfrm>
          <a:prstGeom prst="rect">
            <a:avLst/>
          </a:prstGeom>
          <a:noFill/>
          <a:ln/>
        </p:spPr>
        <p:txBody>
          <a:bodyPr wrap="square" lIns="0" tIns="0" rIns="0" bIns="0" rtlCol="0" anchor="t"/>
          <a:lstStyle/>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node('linux')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stage('Checkout')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git url: 'https://github.com/team/app.git'</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stage('Build')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def mvn = tool 'maven3'</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sh "${mvn}/bin/mvn -B clean package"</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stage('Test')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try   { sh 'mvn test'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catch (e) { currentBuild.result = 'UNSTABLE'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finally { junit 'target/surefire-reports/*.xml'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a:t>
            </a:r>
            <a:endParaRPr lang="en-US" sz="1050" dirty="0"/>
          </a:p>
        </p:txBody>
      </p:sp>
      <p:sp>
        <p:nvSpPr>
          <p:cNvPr id="7" name="Shape 5"/>
          <p:cNvSpPr/>
          <p:nvPr/>
        </p:nvSpPr>
        <p:spPr>
          <a:xfrm>
            <a:off x="6812280" y="1481328"/>
            <a:ext cx="4736592" cy="804672"/>
          </a:xfrm>
          <a:prstGeom prst="roundRect">
            <a:avLst>
              <a:gd name="adj" fmla="val 5682"/>
            </a:avLst>
          </a:prstGeom>
          <a:solidFill>
            <a:srgbClr val="F1F4F7"/>
          </a:solidFill>
          <a:ln w="12700">
            <a:solidFill>
              <a:srgbClr val="DBE2EA"/>
            </a:solidFill>
            <a:prstDash val="solid"/>
          </a:ln>
        </p:spPr>
      </p:sp>
      <p:sp>
        <p:nvSpPr>
          <p:cNvPr id="8" name="Text 6"/>
          <p:cNvSpPr txBox="1"/>
          <p:nvPr/>
        </p:nvSpPr>
        <p:spPr>
          <a:xfrm>
            <a:off x="7059168" y="1536192"/>
            <a:ext cx="429768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It is a Groovy program</a:t>
            </a:r>
            <a:endParaRPr lang="en-US" sz="1300" dirty="0"/>
          </a:p>
        </p:txBody>
      </p:sp>
      <p:sp>
        <p:nvSpPr>
          <p:cNvPr id="9" name="Text 7"/>
          <p:cNvSpPr txBox="1"/>
          <p:nvPr/>
        </p:nvSpPr>
        <p:spPr>
          <a:xfrm>
            <a:off x="7059168" y="1792224"/>
            <a:ext cx="429768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Loops, conditionals, try/catch, variables and functions all work, because the pipeline is genuinely executed code.</a:t>
            </a:r>
            <a:endParaRPr lang="en-US" sz="1100" dirty="0"/>
          </a:p>
        </p:txBody>
      </p:sp>
      <p:sp>
        <p:nvSpPr>
          <p:cNvPr id="10" name="Shape 8"/>
          <p:cNvSpPr/>
          <p:nvPr/>
        </p:nvSpPr>
        <p:spPr>
          <a:xfrm>
            <a:off x="6812280" y="2359152"/>
            <a:ext cx="4736592" cy="804672"/>
          </a:xfrm>
          <a:prstGeom prst="roundRect">
            <a:avLst>
              <a:gd name="adj" fmla="val 5682"/>
            </a:avLst>
          </a:prstGeom>
          <a:solidFill>
            <a:srgbClr val="FFFFFF"/>
          </a:solidFill>
          <a:ln w="12700">
            <a:solidFill>
              <a:srgbClr val="DBE2EA"/>
            </a:solidFill>
            <a:prstDash val="solid"/>
          </a:ln>
        </p:spPr>
      </p:sp>
      <p:sp>
        <p:nvSpPr>
          <p:cNvPr id="11" name="Text 9"/>
          <p:cNvSpPr txBox="1"/>
          <p:nvPr/>
        </p:nvSpPr>
        <p:spPr>
          <a:xfrm>
            <a:off x="7059168" y="2414016"/>
            <a:ext cx="429768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node instead of agent</a:t>
            </a:r>
            <a:endParaRPr lang="en-US" sz="1300" dirty="0"/>
          </a:p>
        </p:txBody>
      </p:sp>
      <p:sp>
        <p:nvSpPr>
          <p:cNvPr id="12" name="Text 10"/>
          <p:cNvSpPr txBox="1"/>
          <p:nvPr/>
        </p:nvSpPr>
        <p:spPr>
          <a:xfrm>
            <a:off x="7059168" y="2670048"/>
            <a:ext cx="429768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Scripted pipelines start with a node block that allocates an executor and a workspace.</a:t>
            </a:r>
            <a:endParaRPr lang="en-US" sz="1100" dirty="0"/>
          </a:p>
        </p:txBody>
      </p:sp>
      <p:sp>
        <p:nvSpPr>
          <p:cNvPr id="13" name="Shape 11"/>
          <p:cNvSpPr/>
          <p:nvPr/>
        </p:nvSpPr>
        <p:spPr>
          <a:xfrm>
            <a:off x="6812280" y="3236976"/>
            <a:ext cx="4736592" cy="804672"/>
          </a:xfrm>
          <a:prstGeom prst="roundRect">
            <a:avLst>
              <a:gd name="adj" fmla="val 5682"/>
            </a:avLst>
          </a:prstGeom>
          <a:solidFill>
            <a:srgbClr val="F1F4F7"/>
          </a:solidFill>
          <a:ln w="12700">
            <a:solidFill>
              <a:srgbClr val="DBE2EA"/>
            </a:solidFill>
            <a:prstDash val="solid"/>
          </a:ln>
        </p:spPr>
      </p:sp>
      <p:sp>
        <p:nvSpPr>
          <p:cNvPr id="14" name="Text 12"/>
          <p:cNvSpPr txBox="1"/>
          <p:nvPr/>
        </p:nvSpPr>
        <p:spPr>
          <a:xfrm>
            <a:off x="7059168" y="3291840"/>
            <a:ext cx="429768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More power, less structure</a:t>
            </a:r>
            <a:endParaRPr lang="en-US" sz="1300" dirty="0"/>
          </a:p>
        </p:txBody>
      </p:sp>
      <p:sp>
        <p:nvSpPr>
          <p:cNvPr id="15" name="Text 13"/>
          <p:cNvSpPr txBox="1"/>
          <p:nvPr/>
        </p:nvSpPr>
        <p:spPr>
          <a:xfrm>
            <a:off x="7059168" y="3547872"/>
            <a:ext cx="429768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Nothing validates the shape of the file, and complex scripts become hard for anyone but their author to maintain.</a:t>
            </a:r>
            <a:endParaRPr lang="en-US" sz="1100" dirty="0"/>
          </a:p>
        </p:txBody>
      </p:sp>
      <p:sp>
        <p:nvSpPr>
          <p:cNvPr id="16" name="Shape 14"/>
          <p:cNvSpPr/>
          <p:nvPr/>
        </p:nvSpPr>
        <p:spPr>
          <a:xfrm>
            <a:off x="6812280" y="4114800"/>
            <a:ext cx="4736592" cy="804672"/>
          </a:xfrm>
          <a:prstGeom prst="roundRect">
            <a:avLst>
              <a:gd name="adj" fmla="val 5682"/>
            </a:avLst>
          </a:prstGeom>
          <a:solidFill>
            <a:srgbClr val="FFFFFF"/>
          </a:solidFill>
          <a:ln w="12700">
            <a:solidFill>
              <a:srgbClr val="DBE2EA"/>
            </a:solidFill>
            <a:prstDash val="solid"/>
          </a:ln>
        </p:spPr>
      </p:sp>
      <p:sp>
        <p:nvSpPr>
          <p:cNvPr id="17" name="Text 15"/>
          <p:cNvSpPr txBox="1"/>
          <p:nvPr/>
        </p:nvSpPr>
        <p:spPr>
          <a:xfrm>
            <a:off x="7059168" y="4169664"/>
            <a:ext cx="4297680" cy="256032"/>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Still supported</a:t>
            </a:r>
            <a:endParaRPr lang="en-US" sz="1300" dirty="0"/>
          </a:p>
        </p:txBody>
      </p:sp>
      <p:sp>
        <p:nvSpPr>
          <p:cNvPr id="18" name="Text 16"/>
          <p:cNvSpPr txBox="1"/>
          <p:nvPr/>
        </p:nvSpPr>
        <p:spPr>
          <a:xfrm>
            <a:off x="7059168" y="4425696"/>
            <a:ext cx="4297680" cy="438912"/>
          </a:xfrm>
          <a:prstGeom prst="rect">
            <a:avLst/>
          </a:prstGeom>
          <a:noFill/>
          <a:ln/>
        </p:spPr>
        <p:txBody>
          <a:bodyPr wrap="square" lIns="0" tIns="0" rIns="0" bIns="0" rtlCol="0" anchor="ctr"/>
          <a:lstStyle/>
          <a:p>
            <a:pPr indent="0" marL="0">
              <a:lnSpc>
                <a:spcPct val="103000"/>
              </a:lnSpc>
              <a:buNone/>
            </a:pPr>
            <a:r>
              <a:rPr lang="en-US" sz="1100" dirty="0">
                <a:solidFill>
                  <a:srgbClr val="28313B"/>
                </a:solidFill>
                <a:latin typeface="Calibri" pitchFamily="34" charset="0"/>
                <a:ea typeface="Calibri" pitchFamily="34" charset="-122"/>
                <a:cs typeface="Calibri" pitchFamily="34" charset="-120"/>
              </a:rPr>
              <a:t>Scripted is not deprecated. It is the right tool when the build genuinely needs programmatic logic.</a:t>
            </a:r>
            <a:endParaRPr lang="en-US" sz="1100" dirty="0"/>
          </a:p>
        </p:txBody>
      </p:sp>
      <p:sp>
        <p:nvSpPr>
          <p:cNvPr id="19" name="Shape 17"/>
          <p:cNvSpPr/>
          <p:nvPr/>
        </p:nvSpPr>
        <p:spPr>
          <a:xfrm>
            <a:off x="640080" y="5029200"/>
            <a:ext cx="10908792" cy="1005840"/>
          </a:xfrm>
          <a:prstGeom prst="roundRect">
            <a:avLst>
              <a:gd name="adj" fmla="val 5455"/>
            </a:avLst>
          </a:prstGeom>
          <a:solidFill>
            <a:srgbClr val="141C26"/>
          </a:solidFill>
          <a:ln w="12700">
            <a:solidFill>
              <a:srgbClr val="141C26"/>
            </a:solidFill>
            <a:prstDash val="solid"/>
          </a:ln>
        </p:spPr>
      </p:sp>
      <p:sp>
        <p:nvSpPr>
          <p:cNvPr id="20" name="Text 18"/>
          <p:cNvSpPr txBox="1"/>
          <p:nvPr/>
        </p:nvSpPr>
        <p:spPr>
          <a:xfrm>
            <a:off x="1005840" y="5029200"/>
            <a:ext cx="10177272"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Start declarative. Reach for a script { } block when you need logic, and move to fully scripted only when most of the pipeline is logic rather than structure.</a:t>
            </a:r>
            <a:endParaRPr lang="en-US" sz="14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COMPARISON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Declarative vs scripted</a:t>
            </a:r>
            <a:endParaRPr lang="en-US" sz="3100" dirty="0"/>
          </a:p>
        </p:txBody>
      </p:sp>
      <p:sp>
        <p:nvSpPr>
          <p:cNvPr id="4" name="Shape 2"/>
          <p:cNvSpPr/>
          <p:nvPr/>
        </p:nvSpPr>
        <p:spPr>
          <a:xfrm>
            <a:off x="4023360" y="1517904"/>
            <a:ext cx="3703320" cy="530352"/>
          </a:xfrm>
          <a:prstGeom prst="roundRect">
            <a:avLst>
              <a:gd name="adj" fmla="val 8621"/>
            </a:avLst>
          </a:prstGeom>
          <a:solidFill>
            <a:srgbClr val="2C3E50"/>
          </a:solidFill>
          <a:ln w="12700">
            <a:solidFill>
              <a:srgbClr val="2C3E50"/>
            </a:solidFill>
            <a:prstDash val="solid"/>
          </a:ln>
        </p:spPr>
      </p:sp>
      <p:sp>
        <p:nvSpPr>
          <p:cNvPr id="5" name="Text 3"/>
          <p:cNvSpPr txBox="1"/>
          <p:nvPr/>
        </p:nvSpPr>
        <p:spPr>
          <a:xfrm>
            <a:off x="4023360" y="1517904"/>
            <a:ext cx="3703320"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Declarative</a:t>
            </a:r>
            <a:endParaRPr lang="en-US" sz="1400" dirty="0"/>
          </a:p>
        </p:txBody>
      </p:sp>
      <p:sp>
        <p:nvSpPr>
          <p:cNvPr id="6" name="Shape 4"/>
          <p:cNvSpPr/>
          <p:nvPr/>
        </p:nvSpPr>
        <p:spPr>
          <a:xfrm>
            <a:off x="7818120" y="1517904"/>
            <a:ext cx="3730752" cy="530352"/>
          </a:xfrm>
          <a:prstGeom prst="roundRect">
            <a:avLst>
              <a:gd name="adj" fmla="val 8621"/>
            </a:avLst>
          </a:prstGeom>
          <a:solidFill>
            <a:srgbClr val="1F5673"/>
          </a:solidFill>
          <a:ln w="12700">
            <a:solidFill>
              <a:srgbClr val="1F5673"/>
            </a:solidFill>
            <a:prstDash val="solid"/>
          </a:ln>
        </p:spPr>
      </p:sp>
      <p:sp>
        <p:nvSpPr>
          <p:cNvPr id="7" name="Text 5"/>
          <p:cNvSpPr txBox="1"/>
          <p:nvPr/>
        </p:nvSpPr>
        <p:spPr>
          <a:xfrm>
            <a:off x="7818120" y="1517904"/>
            <a:ext cx="3730752" cy="53035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Scripted</a:t>
            </a:r>
            <a:endParaRPr lang="en-US" sz="1400" dirty="0"/>
          </a:p>
        </p:txBody>
      </p:sp>
      <p:sp>
        <p:nvSpPr>
          <p:cNvPr id="8" name="Shape 6"/>
          <p:cNvSpPr/>
          <p:nvPr/>
        </p:nvSpPr>
        <p:spPr>
          <a:xfrm>
            <a:off x="640080" y="2157984"/>
            <a:ext cx="10908792" cy="493776"/>
          </a:xfrm>
          <a:prstGeom prst="roundRect">
            <a:avLst>
              <a:gd name="adj" fmla="val 7407"/>
            </a:avLst>
          </a:prstGeom>
          <a:solidFill>
            <a:srgbClr val="F1F4F7"/>
          </a:solidFill>
          <a:ln w="12700">
            <a:solidFill>
              <a:srgbClr val="DBE2EA"/>
            </a:solidFill>
            <a:prstDash val="solid"/>
          </a:ln>
        </p:spPr>
      </p:sp>
      <p:sp>
        <p:nvSpPr>
          <p:cNvPr id="9" name="Text 7"/>
          <p:cNvSpPr txBox="1"/>
          <p:nvPr/>
        </p:nvSpPr>
        <p:spPr>
          <a:xfrm>
            <a:off x="786384" y="215798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Opening block</a:t>
            </a:r>
            <a:endParaRPr lang="en-US" sz="1250" dirty="0"/>
          </a:p>
        </p:txBody>
      </p:sp>
      <p:sp>
        <p:nvSpPr>
          <p:cNvPr id="10" name="Text 8"/>
          <p:cNvSpPr txBox="1"/>
          <p:nvPr/>
        </p:nvSpPr>
        <p:spPr>
          <a:xfrm>
            <a:off x="4169664" y="215798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pipeline { }</a:t>
            </a:r>
            <a:endParaRPr lang="en-US" sz="1150" dirty="0"/>
          </a:p>
        </p:txBody>
      </p:sp>
      <p:sp>
        <p:nvSpPr>
          <p:cNvPr id="11" name="Text 9"/>
          <p:cNvSpPr txBox="1"/>
          <p:nvPr/>
        </p:nvSpPr>
        <p:spPr>
          <a:xfrm>
            <a:off x="7964424" y="215798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node { }</a:t>
            </a:r>
            <a:endParaRPr lang="en-US" sz="1150" dirty="0"/>
          </a:p>
        </p:txBody>
      </p:sp>
      <p:sp>
        <p:nvSpPr>
          <p:cNvPr id="12" name="Shape 10"/>
          <p:cNvSpPr/>
          <p:nvPr/>
        </p:nvSpPr>
        <p:spPr>
          <a:xfrm>
            <a:off x="640080" y="2724912"/>
            <a:ext cx="10908792" cy="493776"/>
          </a:xfrm>
          <a:prstGeom prst="roundRect">
            <a:avLst>
              <a:gd name="adj" fmla="val 7407"/>
            </a:avLst>
          </a:prstGeom>
          <a:solidFill>
            <a:srgbClr val="FFFFFF"/>
          </a:solidFill>
          <a:ln w="12700">
            <a:solidFill>
              <a:srgbClr val="DBE2EA"/>
            </a:solidFill>
            <a:prstDash val="solid"/>
          </a:ln>
        </p:spPr>
      </p:sp>
      <p:sp>
        <p:nvSpPr>
          <p:cNvPr id="13" name="Text 11"/>
          <p:cNvSpPr txBox="1"/>
          <p:nvPr/>
        </p:nvSpPr>
        <p:spPr>
          <a:xfrm>
            <a:off x="786384" y="272491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Structure</a:t>
            </a:r>
            <a:endParaRPr lang="en-US" sz="1250" dirty="0"/>
          </a:p>
        </p:txBody>
      </p:sp>
      <p:sp>
        <p:nvSpPr>
          <p:cNvPr id="14" name="Text 12"/>
          <p:cNvSpPr txBox="1"/>
          <p:nvPr/>
        </p:nvSpPr>
        <p:spPr>
          <a:xfrm>
            <a:off x="4169664" y="272491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Fixed and validated</a:t>
            </a:r>
            <a:endParaRPr lang="en-US" sz="1150" dirty="0"/>
          </a:p>
        </p:txBody>
      </p:sp>
      <p:sp>
        <p:nvSpPr>
          <p:cNvPr id="15" name="Text 13"/>
          <p:cNvSpPr txBox="1"/>
          <p:nvPr/>
        </p:nvSpPr>
        <p:spPr>
          <a:xfrm>
            <a:off x="7964424" y="272491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Free-form Groovy</a:t>
            </a:r>
            <a:endParaRPr lang="en-US" sz="1150" dirty="0"/>
          </a:p>
        </p:txBody>
      </p:sp>
      <p:sp>
        <p:nvSpPr>
          <p:cNvPr id="16" name="Shape 14"/>
          <p:cNvSpPr/>
          <p:nvPr/>
        </p:nvSpPr>
        <p:spPr>
          <a:xfrm>
            <a:off x="640080" y="3291840"/>
            <a:ext cx="10908792" cy="493776"/>
          </a:xfrm>
          <a:prstGeom prst="roundRect">
            <a:avLst>
              <a:gd name="adj" fmla="val 7407"/>
            </a:avLst>
          </a:prstGeom>
          <a:solidFill>
            <a:srgbClr val="F1F4F7"/>
          </a:solidFill>
          <a:ln w="12700">
            <a:solidFill>
              <a:srgbClr val="DBE2EA"/>
            </a:solidFill>
            <a:prstDash val="solid"/>
          </a:ln>
        </p:spPr>
      </p:sp>
      <p:sp>
        <p:nvSpPr>
          <p:cNvPr id="17" name="Text 15"/>
          <p:cNvSpPr txBox="1"/>
          <p:nvPr/>
        </p:nvSpPr>
        <p:spPr>
          <a:xfrm>
            <a:off x="786384" y="3291840"/>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Syntax checking</a:t>
            </a:r>
            <a:endParaRPr lang="en-US" sz="1250" dirty="0"/>
          </a:p>
        </p:txBody>
      </p:sp>
      <p:sp>
        <p:nvSpPr>
          <p:cNvPr id="18" name="Text 16"/>
          <p:cNvSpPr txBox="1"/>
          <p:nvPr/>
        </p:nvSpPr>
        <p:spPr>
          <a:xfrm>
            <a:off x="4169664" y="3291840"/>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Before the build starts</a:t>
            </a:r>
            <a:endParaRPr lang="en-US" sz="1150" dirty="0"/>
          </a:p>
        </p:txBody>
      </p:sp>
      <p:sp>
        <p:nvSpPr>
          <p:cNvPr id="19" name="Text 17"/>
          <p:cNvSpPr txBox="1"/>
          <p:nvPr/>
        </p:nvSpPr>
        <p:spPr>
          <a:xfrm>
            <a:off x="7964424" y="3291840"/>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At runtime, when the line executes</a:t>
            </a:r>
            <a:endParaRPr lang="en-US" sz="1150" dirty="0"/>
          </a:p>
        </p:txBody>
      </p:sp>
      <p:sp>
        <p:nvSpPr>
          <p:cNvPr id="20" name="Shape 18"/>
          <p:cNvSpPr/>
          <p:nvPr/>
        </p:nvSpPr>
        <p:spPr>
          <a:xfrm>
            <a:off x="640080" y="3858768"/>
            <a:ext cx="10908792" cy="493776"/>
          </a:xfrm>
          <a:prstGeom prst="roundRect">
            <a:avLst>
              <a:gd name="adj" fmla="val 7407"/>
            </a:avLst>
          </a:prstGeom>
          <a:solidFill>
            <a:srgbClr val="FFFFFF"/>
          </a:solidFill>
          <a:ln w="12700">
            <a:solidFill>
              <a:srgbClr val="DBE2EA"/>
            </a:solidFill>
            <a:prstDash val="solid"/>
          </a:ln>
        </p:spPr>
      </p:sp>
      <p:sp>
        <p:nvSpPr>
          <p:cNvPr id="21" name="Text 19"/>
          <p:cNvSpPr txBox="1"/>
          <p:nvPr/>
        </p:nvSpPr>
        <p:spPr>
          <a:xfrm>
            <a:off x="786384" y="3858768"/>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Readability</a:t>
            </a:r>
            <a:endParaRPr lang="en-US" sz="1250" dirty="0"/>
          </a:p>
        </p:txBody>
      </p:sp>
      <p:sp>
        <p:nvSpPr>
          <p:cNvPr id="22" name="Text 20"/>
          <p:cNvSpPr txBox="1"/>
          <p:nvPr/>
        </p:nvSpPr>
        <p:spPr>
          <a:xfrm>
            <a:off x="4169664" y="3858768"/>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High — reads like configuration</a:t>
            </a:r>
            <a:endParaRPr lang="en-US" sz="1150" dirty="0"/>
          </a:p>
        </p:txBody>
      </p:sp>
      <p:sp>
        <p:nvSpPr>
          <p:cNvPr id="23" name="Text 21"/>
          <p:cNvSpPr txBox="1"/>
          <p:nvPr/>
        </p:nvSpPr>
        <p:spPr>
          <a:xfrm>
            <a:off x="7964424" y="3858768"/>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Depends entirely on the author</a:t>
            </a:r>
            <a:endParaRPr lang="en-US" sz="1150" dirty="0"/>
          </a:p>
        </p:txBody>
      </p:sp>
      <p:sp>
        <p:nvSpPr>
          <p:cNvPr id="24" name="Shape 22"/>
          <p:cNvSpPr/>
          <p:nvPr/>
        </p:nvSpPr>
        <p:spPr>
          <a:xfrm>
            <a:off x="640080" y="4425696"/>
            <a:ext cx="10908792" cy="493776"/>
          </a:xfrm>
          <a:prstGeom prst="roundRect">
            <a:avLst>
              <a:gd name="adj" fmla="val 7407"/>
            </a:avLst>
          </a:prstGeom>
          <a:solidFill>
            <a:srgbClr val="F1F4F7"/>
          </a:solidFill>
          <a:ln w="12700">
            <a:solidFill>
              <a:srgbClr val="DBE2EA"/>
            </a:solidFill>
            <a:prstDash val="solid"/>
          </a:ln>
        </p:spPr>
      </p:sp>
      <p:sp>
        <p:nvSpPr>
          <p:cNvPr id="25" name="Text 23"/>
          <p:cNvSpPr txBox="1"/>
          <p:nvPr/>
        </p:nvSpPr>
        <p:spPr>
          <a:xfrm>
            <a:off x="786384" y="4425696"/>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Flow control</a:t>
            </a:r>
            <a:endParaRPr lang="en-US" sz="1250" dirty="0"/>
          </a:p>
        </p:txBody>
      </p:sp>
      <p:sp>
        <p:nvSpPr>
          <p:cNvPr id="26" name="Text 24"/>
          <p:cNvSpPr txBox="1"/>
          <p:nvPr/>
        </p:nvSpPr>
        <p:spPr>
          <a:xfrm>
            <a:off x="4169664" y="4425696"/>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when, parallel, retry directives</a:t>
            </a:r>
            <a:endParaRPr lang="en-US" sz="1150" dirty="0"/>
          </a:p>
        </p:txBody>
      </p:sp>
      <p:sp>
        <p:nvSpPr>
          <p:cNvPr id="27" name="Text 25"/>
          <p:cNvSpPr txBox="1"/>
          <p:nvPr/>
        </p:nvSpPr>
        <p:spPr>
          <a:xfrm>
            <a:off x="7964424" y="4425696"/>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Full Groovy: if, for, try/catch</a:t>
            </a:r>
            <a:endParaRPr lang="en-US" sz="1150" dirty="0"/>
          </a:p>
        </p:txBody>
      </p:sp>
      <p:sp>
        <p:nvSpPr>
          <p:cNvPr id="28" name="Shape 26"/>
          <p:cNvSpPr/>
          <p:nvPr/>
        </p:nvSpPr>
        <p:spPr>
          <a:xfrm>
            <a:off x="640080" y="4992624"/>
            <a:ext cx="10908792" cy="493776"/>
          </a:xfrm>
          <a:prstGeom prst="roundRect">
            <a:avLst>
              <a:gd name="adj" fmla="val 7407"/>
            </a:avLst>
          </a:prstGeom>
          <a:solidFill>
            <a:srgbClr val="FFFFFF"/>
          </a:solidFill>
          <a:ln w="12700">
            <a:solidFill>
              <a:srgbClr val="DBE2EA"/>
            </a:solidFill>
            <a:prstDash val="solid"/>
          </a:ln>
        </p:spPr>
      </p:sp>
      <p:sp>
        <p:nvSpPr>
          <p:cNvPr id="29" name="Text 27"/>
          <p:cNvSpPr txBox="1"/>
          <p:nvPr/>
        </p:nvSpPr>
        <p:spPr>
          <a:xfrm>
            <a:off x="786384" y="4992624"/>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Restart from a stage</a:t>
            </a:r>
            <a:endParaRPr lang="en-US" sz="1250" dirty="0"/>
          </a:p>
        </p:txBody>
      </p:sp>
      <p:sp>
        <p:nvSpPr>
          <p:cNvPr id="30" name="Text 28"/>
          <p:cNvSpPr txBox="1"/>
          <p:nvPr/>
        </p:nvSpPr>
        <p:spPr>
          <a:xfrm>
            <a:off x="4169664" y="4992624"/>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Supported</a:t>
            </a:r>
            <a:endParaRPr lang="en-US" sz="1150" dirty="0"/>
          </a:p>
        </p:txBody>
      </p:sp>
      <p:sp>
        <p:nvSpPr>
          <p:cNvPr id="31" name="Text 29"/>
          <p:cNvSpPr txBox="1"/>
          <p:nvPr/>
        </p:nvSpPr>
        <p:spPr>
          <a:xfrm>
            <a:off x="7964424" y="4992624"/>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Not supported</a:t>
            </a:r>
            <a:endParaRPr lang="en-US" sz="1150" dirty="0"/>
          </a:p>
        </p:txBody>
      </p:sp>
      <p:sp>
        <p:nvSpPr>
          <p:cNvPr id="32" name="Shape 30"/>
          <p:cNvSpPr/>
          <p:nvPr/>
        </p:nvSpPr>
        <p:spPr>
          <a:xfrm>
            <a:off x="640080" y="5559552"/>
            <a:ext cx="10908792" cy="493776"/>
          </a:xfrm>
          <a:prstGeom prst="roundRect">
            <a:avLst>
              <a:gd name="adj" fmla="val 7407"/>
            </a:avLst>
          </a:prstGeom>
          <a:solidFill>
            <a:srgbClr val="F1F4F7"/>
          </a:solidFill>
          <a:ln w="12700">
            <a:solidFill>
              <a:srgbClr val="DBE2EA"/>
            </a:solidFill>
            <a:prstDash val="solid"/>
          </a:ln>
        </p:spPr>
      </p:sp>
      <p:sp>
        <p:nvSpPr>
          <p:cNvPr id="33" name="Text 31"/>
          <p:cNvSpPr txBox="1"/>
          <p:nvPr/>
        </p:nvSpPr>
        <p:spPr>
          <a:xfrm>
            <a:off x="786384" y="5559552"/>
            <a:ext cx="2907792" cy="493776"/>
          </a:xfrm>
          <a:prstGeom prst="rect">
            <a:avLst/>
          </a:prstGeom>
          <a:noFill/>
          <a:ln/>
        </p:spPr>
        <p:txBody>
          <a:bodyPr wrap="square" lIns="0" tIns="0" rIns="0" bIns="0" rtlCol="0" anchor="ctr"/>
          <a:lstStyle/>
          <a:p>
            <a:pPr algn="l" indent="0" marL="0">
              <a:buNone/>
            </a:pPr>
            <a:r>
              <a:rPr lang="en-US" sz="1250" b="1" dirty="0">
                <a:solidFill>
                  <a:srgbClr val="141C26"/>
                </a:solidFill>
                <a:latin typeface="Calibri" pitchFamily="34" charset="0"/>
                <a:ea typeface="Calibri" pitchFamily="34" charset="-122"/>
                <a:cs typeface="Calibri" pitchFamily="34" charset="-120"/>
              </a:rPr>
              <a:t>Best for</a:t>
            </a:r>
            <a:endParaRPr lang="en-US" sz="1250" dirty="0"/>
          </a:p>
        </p:txBody>
      </p:sp>
      <p:sp>
        <p:nvSpPr>
          <p:cNvPr id="34" name="Text 32"/>
          <p:cNvSpPr txBox="1"/>
          <p:nvPr/>
        </p:nvSpPr>
        <p:spPr>
          <a:xfrm>
            <a:off x="4169664" y="5559552"/>
            <a:ext cx="3410712"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Almost every pipeline</a:t>
            </a:r>
            <a:endParaRPr lang="en-US" sz="1150" dirty="0"/>
          </a:p>
        </p:txBody>
      </p:sp>
      <p:sp>
        <p:nvSpPr>
          <p:cNvPr id="35" name="Text 33"/>
          <p:cNvSpPr txBox="1"/>
          <p:nvPr/>
        </p:nvSpPr>
        <p:spPr>
          <a:xfrm>
            <a:off x="7964424" y="5559552"/>
            <a:ext cx="3438144" cy="493776"/>
          </a:xfrm>
          <a:prstGeom prst="rect">
            <a:avLst/>
          </a:prstGeom>
          <a:noFill/>
          <a:ln/>
        </p:spPr>
        <p:txBody>
          <a:bodyPr wrap="square" lIns="0" tIns="0" rIns="0" bIns="0" rtlCol="0" anchor="ctr"/>
          <a:lstStyle/>
          <a:p>
            <a:pPr algn="ctr" indent="0" marL="0">
              <a:buNone/>
            </a:pPr>
            <a:r>
              <a:rPr lang="en-US" sz="1150" dirty="0">
                <a:solidFill>
                  <a:srgbClr val="28313B"/>
                </a:solidFill>
                <a:latin typeface="Calibri" pitchFamily="34" charset="0"/>
                <a:ea typeface="Calibri" pitchFamily="34" charset="-122"/>
                <a:cs typeface="Calibri" pitchFamily="34" charset="-120"/>
              </a:rPr>
              <a:t>Genuinely dynamic builds</a:t>
            </a:r>
            <a:endParaRPr lang="en-US" sz="1150" dirty="0"/>
          </a:p>
        </p:txBody>
      </p:sp>
      <p:sp>
        <p:nvSpPr>
          <p:cNvPr id="36" name="Text 34"/>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Both compile to the same underlying engine; declarative is a structured layer on top of scripted.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PIPELINES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Multibranch pipelines and SCM integration</a:t>
            </a:r>
            <a:endParaRPr lang="en-US" sz="3100" dirty="0"/>
          </a:p>
        </p:txBody>
      </p:sp>
      <p:sp>
        <p:nvSpPr>
          <p:cNvPr id="4" name="Shape 2"/>
          <p:cNvSpPr/>
          <p:nvPr/>
        </p:nvSpPr>
        <p:spPr>
          <a:xfrm>
            <a:off x="640080" y="1600200"/>
            <a:ext cx="5303520"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37944"/>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386584"/>
            <a:ext cx="482803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Multibranch pipeline</a:t>
            </a:r>
            <a:endParaRPr lang="en-US" sz="1450" dirty="0"/>
          </a:p>
        </p:txBody>
      </p:sp>
      <p:sp>
        <p:nvSpPr>
          <p:cNvPr id="8" name="Text 6"/>
          <p:cNvSpPr txBox="1"/>
          <p:nvPr/>
        </p:nvSpPr>
        <p:spPr>
          <a:xfrm>
            <a:off x="877824" y="2734056"/>
            <a:ext cx="4828032" cy="2560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Point Jenkins at a repository, not a branch. It scans for branches containing a Jenkinsfile and creates a job for each one automatically.</a:t>
            </a:r>
            <a:endParaRPr lang="en-US" sz="1200" dirty="0"/>
          </a:p>
        </p:txBody>
      </p:sp>
      <p:sp>
        <p:nvSpPr>
          <p:cNvPr id="9" name="Shape 7"/>
          <p:cNvSpPr/>
          <p:nvPr/>
        </p:nvSpPr>
        <p:spPr>
          <a:xfrm>
            <a:off x="6245352" y="1600200"/>
            <a:ext cx="5303520"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6483096" y="1837944"/>
            <a:ext cx="420624" cy="420624"/>
          </a:xfrm>
          <a:prstGeom prst="ellipse">
            <a:avLst/>
          </a:prstGeom>
          <a:solidFill>
            <a:srgbClr val="1F5673"/>
          </a:solidFill>
          <a:ln w="12700">
            <a:solidFill>
              <a:srgbClr val="1F5673"/>
            </a:solidFill>
            <a:prstDash val="solid"/>
          </a:ln>
        </p:spPr>
      </p:sp>
      <p:sp>
        <p:nvSpPr>
          <p:cNvPr id="11" name="Text 9"/>
          <p:cNvSpPr txBox="1"/>
          <p:nvPr/>
        </p:nvSpPr>
        <p:spPr>
          <a:xfrm>
            <a:off x="6483096" y="18379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6483096" y="2386584"/>
            <a:ext cx="482803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Pull request builds</a:t>
            </a:r>
            <a:endParaRPr lang="en-US" sz="1450" dirty="0"/>
          </a:p>
        </p:txBody>
      </p:sp>
      <p:sp>
        <p:nvSpPr>
          <p:cNvPr id="13" name="Text 11"/>
          <p:cNvSpPr txBox="1"/>
          <p:nvPr/>
        </p:nvSpPr>
        <p:spPr>
          <a:xfrm>
            <a:off x="6483096" y="2734056"/>
            <a:ext cx="4828032" cy="2560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With the GitHub or Bitbucket branch source plugin, every pull request gets built and its status reported back on the PR.</a:t>
            </a:r>
            <a:endParaRPr lang="en-US" sz="1200" dirty="0"/>
          </a:p>
        </p:txBody>
      </p:sp>
      <p:sp>
        <p:nvSpPr>
          <p:cNvPr id="14" name="Shape 12"/>
          <p:cNvSpPr/>
          <p:nvPr/>
        </p:nvSpPr>
        <p:spPr>
          <a:xfrm>
            <a:off x="640080" y="3200400"/>
            <a:ext cx="5303520"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77824" y="3438144"/>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77824" y="34381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77824" y="3986784"/>
            <a:ext cx="482803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Automatic cleanup</a:t>
            </a:r>
            <a:endParaRPr lang="en-US" sz="1450" dirty="0"/>
          </a:p>
        </p:txBody>
      </p:sp>
      <p:sp>
        <p:nvSpPr>
          <p:cNvPr id="18" name="Text 16"/>
          <p:cNvSpPr txBox="1"/>
          <p:nvPr/>
        </p:nvSpPr>
        <p:spPr>
          <a:xfrm>
            <a:off x="877824" y="4334256"/>
            <a:ext cx="4828032" cy="2560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When a branch is deleted, its job disappears. No orphaned jobs accumulating over years.</a:t>
            </a:r>
            <a:endParaRPr lang="en-US" sz="1200" dirty="0"/>
          </a:p>
        </p:txBody>
      </p:sp>
      <p:sp>
        <p:nvSpPr>
          <p:cNvPr id="19" name="Shape 17"/>
          <p:cNvSpPr/>
          <p:nvPr/>
        </p:nvSpPr>
        <p:spPr>
          <a:xfrm>
            <a:off x="6245352" y="3200400"/>
            <a:ext cx="5303520"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6483096" y="3438144"/>
            <a:ext cx="420624" cy="420624"/>
          </a:xfrm>
          <a:prstGeom prst="ellipse">
            <a:avLst/>
          </a:prstGeom>
          <a:solidFill>
            <a:srgbClr val="1F5673"/>
          </a:solidFill>
          <a:ln w="12700">
            <a:solidFill>
              <a:srgbClr val="1F5673"/>
            </a:solidFill>
            <a:prstDash val="solid"/>
          </a:ln>
        </p:spPr>
      </p:sp>
      <p:sp>
        <p:nvSpPr>
          <p:cNvPr id="21" name="Text 19"/>
          <p:cNvSpPr txBox="1"/>
          <p:nvPr/>
        </p:nvSpPr>
        <p:spPr>
          <a:xfrm>
            <a:off x="6483096" y="343814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6483096" y="3986784"/>
            <a:ext cx="4828032"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Per-branch behaviour</a:t>
            </a:r>
            <a:endParaRPr lang="en-US" sz="1450" dirty="0"/>
          </a:p>
        </p:txBody>
      </p:sp>
      <p:sp>
        <p:nvSpPr>
          <p:cNvPr id="23" name="Text 21"/>
          <p:cNvSpPr txBox="1"/>
          <p:nvPr/>
        </p:nvSpPr>
        <p:spPr>
          <a:xfrm>
            <a:off x="6483096" y="4334256"/>
            <a:ext cx="4828032" cy="2560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Combine with when { branch 'main' } so only the main branch deploys, while every branch is built and tested.</a:t>
            </a:r>
            <a:endParaRPr lang="en-US" sz="1200" dirty="0"/>
          </a:p>
        </p:txBody>
      </p:sp>
      <p:sp>
        <p:nvSpPr>
          <p:cNvPr id="24" name="Shape 22"/>
          <p:cNvSpPr/>
          <p:nvPr/>
        </p:nvSpPr>
        <p:spPr>
          <a:xfrm>
            <a:off x="640080" y="4846320"/>
            <a:ext cx="5669280" cy="1234440"/>
          </a:xfrm>
          <a:prstGeom prst="roundRect">
            <a:avLst>
              <a:gd name="adj" fmla="val 3704"/>
            </a:avLst>
          </a:prstGeom>
          <a:solidFill>
            <a:srgbClr val="141C26"/>
          </a:solidFill>
          <a:ln w="12700">
            <a:solidFill>
              <a:srgbClr val="2C3E50"/>
            </a:solidFill>
            <a:prstDash val="solid"/>
          </a:ln>
        </p:spPr>
      </p:sp>
      <p:sp>
        <p:nvSpPr>
          <p:cNvPr id="25" name="Text 23"/>
          <p:cNvSpPr txBox="1"/>
          <p:nvPr/>
        </p:nvSpPr>
        <p:spPr>
          <a:xfrm>
            <a:off x="896112" y="504748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WEBHOOK — BUILD ON PUSH, NOT ON A TIMER</a:t>
            </a:r>
            <a:endParaRPr lang="en-US" sz="1250" dirty="0"/>
          </a:p>
        </p:txBody>
      </p:sp>
      <p:sp>
        <p:nvSpPr>
          <p:cNvPr id="26" name="Text 24"/>
          <p:cNvSpPr txBox="1"/>
          <p:nvPr/>
        </p:nvSpPr>
        <p:spPr>
          <a:xfrm>
            <a:off x="896112" y="5449824"/>
            <a:ext cx="5157216" cy="466344"/>
          </a:xfrm>
          <a:prstGeom prst="rect">
            <a:avLst/>
          </a:prstGeom>
          <a:noFill/>
          <a:ln/>
        </p:spPr>
        <p:txBody>
          <a:bodyPr wrap="square" lIns="0" tIns="0" rIns="0" bIns="0" rtlCol="0" anchor="t"/>
          <a:lstStyle/>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GitHub → Settings → Webhooks → Add webhook</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Payload URL: https://jenkins.company.com/github-webhook/</a:t>
            </a:r>
            <a:endParaRPr lang="en-US" sz="1050" dirty="0"/>
          </a:p>
        </p:txBody>
      </p:sp>
      <p:sp>
        <p:nvSpPr>
          <p:cNvPr id="27" name="Shape 25"/>
          <p:cNvSpPr/>
          <p:nvPr/>
        </p:nvSpPr>
        <p:spPr>
          <a:xfrm>
            <a:off x="6675120" y="4846320"/>
            <a:ext cx="4873752" cy="1234440"/>
          </a:xfrm>
          <a:prstGeom prst="roundRect">
            <a:avLst>
              <a:gd name="adj" fmla="val 4444"/>
            </a:avLst>
          </a:prstGeom>
          <a:solidFill>
            <a:srgbClr val="EAF1F6"/>
          </a:solidFill>
          <a:ln w="12700">
            <a:solidFill>
              <a:srgbClr val="1F5673"/>
            </a:solidFill>
            <a:prstDash val="solid"/>
          </a:ln>
        </p:spPr>
      </p:sp>
      <p:sp>
        <p:nvSpPr>
          <p:cNvPr id="28" name="Text 26"/>
          <p:cNvSpPr txBox="1"/>
          <p:nvPr/>
        </p:nvSpPr>
        <p:spPr>
          <a:xfrm>
            <a:off x="6949440" y="4846320"/>
            <a:ext cx="4325112" cy="123444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Webhooks beat polling: builds start within seconds of a push instead of on the next poll, and Jenkins stops hammering your repository every minute.</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Controller and agents</a:t>
            </a:r>
            <a:endParaRPr lang="en-US" sz="3100" dirty="0"/>
          </a:p>
        </p:txBody>
      </p:sp>
      <p:sp>
        <p:nvSpPr>
          <p:cNvPr id="4" name="Text 2"/>
          <p:cNvSpPr txBox="1"/>
          <p:nvPr/>
        </p:nvSpPr>
        <p:spPr>
          <a:xfrm>
            <a:off x="640080" y="1389888"/>
            <a:ext cx="10908792" cy="329184"/>
          </a:xfrm>
          <a:prstGeom prst="rect">
            <a:avLst/>
          </a:prstGeom>
          <a:noFill/>
          <a:ln/>
        </p:spPr>
        <p:txBody>
          <a:bodyPr wrap="square" lIns="0" tIns="0" rIns="0" bIns="0" rtlCol="0" anchor="ctr"/>
          <a:lstStyle/>
          <a:p>
            <a:pPr indent="0" marL="0">
              <a:buNone/>
            </a:pPr>
            <a:r>
              <a:rPr lang="en-US" sz="1350" i="1" dirty="0">
                <a:solidFill>
                  <a:srgbClr val="667081"/>
                </a:solidFill>
                <a:latin typeface="Calibri" pitchFamily="34" charset="0"/>
                <a:ea typeface="Calibri" pitchFamily="34" charset="-122"/>
                <a:cs typeface="Calibri" pitchFamily="34" charset="-120"/>
              </a:rPr>
              <a:t>Historically called master and slave; the current terminology is controller and agent. You will meet both in documentation and job configuration.</a:t>
            </a:r>
            <a:endParaRPr lang="en-US" sz="1350" dirty="0"/>
          </a:p>
        </p:txBody>
      </p:sp>
      <p:sp>
        <p:nvSpPr>
          <p:cNvPr id="5" name="Shape 3"/>
          <p:cNvSpPr/>
          <p:nvPr/>
        </p:nvSpPr>
        <p:spPr>
          <a:xfrm>
            <a:off x="640080" y="1828800"/>
            <a:ext cx="4023360" cy="1920240"/>
          </a:xfrm>
          <a:prstGeom prst="roundRect">
            <a:avLst>
              <a:gd name="adj" fmla="val 2857"/>
            </a:avLst>
          </a:prstGeom>
          <a:solidFill>
            <a:srgbClr val="1F5673"/>
          </a:solidFill>
          <a:ln w="12700">
            <a:solidFill>
              <a:srgbClr val="1F5673"/>
            </a:solidFill>
            <a:prstDash val="solid"/>
          </a:ln>
          <a:effectLst>
            <a:outerShdw sx="100000" sy="100000" kx="0" ky="0" algn="bl" rotWithShape="0" blurRad="127000" dist="25400" dir="5400000">
              <a:srgbClr val="141C26">
                <a:alpha val="12000"/>
              </a:srgbClr>
            </a:outerShdw>
          </a:effectLst>
        </p:spPr>
      </p:sp>
      <p:sp>
        <p:nvSpPr>
          <p:cNvPr id="6" name="Text 4"/>
          <p:cNvSpPr txBox="1"/>
          <p:nvPr/>
        </p:nvSpPr>
        <p:spPr>
          <a:xfrm>
            <a:off x="914400" y="1993392"/>
            <a:ext cx="3474720" cy="36576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Controller</a:t>
            </a:r>
            <a:endParaRPr lang="en-US" sz="1800" dirty="0"/>
          </a:p>
        </p:txBody>
      </p:sp>
      <p:sp>
        <p:nvSpPr>
          <p:cNvPr id="7" name="Text 5"/>
          <p:cNvSpPr txBox="1"/>
          <p:nvPr/>
        </p:nvSpPr>
        <p:spPr>
          <a:xfrm>
            <a:off x="914400" y="2423160"/>
            <a:ext cx="3474720" cy="1097280"/>
          </a:xfrm>
          <a:prstGeom prst="rect">
            <a:avLst/>
          </a:prstGeom>
          <a:noFill/>
          <a:ln/>
        </p:spPr>
        <p:txBody>
          <a:bodyPr wrap="square" lIns="0" tIns="0" rIns="0" bIns="0" rtlCol="0" anchor="ctr"/>
          <a:lstStyle/>
          <a:p>
            <a:pPr indent="0" marL="0">
              <a:lnSpc>
                <a:spcPct val="108000"/>
              </a:lnSpc>
              <a:buNone/>
            </a:pPr>
            <a:r>
              <a:rPr lang="en-US" sz="1150" dirty="0">
                <a:solidFill>
                  <a:srgbClr val="CBD9E4"/>
                </a:solidFill>
                <a:latin typeface="Calibri" pitchFamily="34" charset="0"/>
                <a:ea typeface="Calibri" pitchFamily="34" charset="-122"/>
                <a:cs typeface="Calibri" pitchFamily="34" charset="-120"/>
              </a:rPr>
              <a:t>Serves the web UI · stores configuration and</a:t>
            </a:r>
            <a:endParaRPr lang="en-US" sz="1150" dirty="0"/>
          </a:p>
          <a:p>
            <a:pPr indent="0" marL="0">
              <a:lnSpc>
                <a:spcPct val="108000"/>
              </a:lnSpc>
              <a:buNone/>
            </a:pPr>
            <a:r>
              <a:rPr lang="en-US" sz="1150" dirty="0">
                <a:solidFill>
                  <a:srgbClr val="CBD9E4"/>
                </a:solidFill>
                <a:latin typeface="Calibri" pitchFamily="34" charset="0"/>
                <a:ea typeface="Calibri" pitchFamily="34" charset="-122"/>
                <a:cs typeface="Calibri" pitchFamily="34" charset="-120"/>
              </a:rPr>
              <a:t>build history · schedules jobs · distributes work</a:t>
            </a:r>
            <a:endParaRPr lang="en-US" sz="1150" dirty="0"/>
          </a:p>
          <a:p>
            <a:pPr indent="0" marL="0">
              <a:lnSpc>
                <a:spcPct val="108000"/>
              </a:lnSpc>
              <a:buNone/>
            </a:pPr>
            <a:r>
              <a:rPr lang="en-US" sz="1150" dirty="0">
                <a:solidFill>
                  <a:srgbClr val="CBD9E4"/>
                </a:solidFill>
                <a:latin typeface="Calibri" pitchFamily="34" charset="0"/>
                <a:ea typeface="Calibri" pitchFamily="34" charset="-122"/>
                <a:cs typeface="Calibri" pitchFamily="34" charset="-120"/>
              </a:rPr>
              <a:t>to agents · should run as few builds as possible</a:t>
            </a:r>
            <a:endParaRPr lang="en-US" sz="1150" dirty="0"/>
          </a:p>
        </p:txBody>
      </p:sp>
      <p:sp>
        <p:nvSpPr>
          <p:cNvPr id="8" name="Shape 6"/>
          <p:cNvSpPr/>
          <p:nvPr/>
        </p:nvSpPr>
        <p:spPr>
          <a:xfrm>
            <a:off x="6675120" y="1828800"/>
            <a:ext cx="4873752" cy="585216"/>
          </a:xfrm>
          <a:prstGeom prst="roundRect">
            <a:avLst>
              <a:gd name="adj" fmla="val 7813"/>
            </a:avLst>
          </a:prstGeom>
          <a:solidFill>
            <a:srgbClr val="2C3E50"/>
          </a:solidFill>
          <a:ln w="12700">
            <a:solidFill>
              <a:srgbClr val="2C3E50"/>
            </a:solidFill>
            <a:prstDash val="solid"/>
          </a:ln>
        </p:spPr>
      </p:sp>
      <p:sp>
        <p:nvSpPr>
          <p:cNvPr id="9" name="Text 7"/>
          <p:cNvSpPr txBox="1"/>
          <p:nvPr/>
        </p:nvSpPr>
        <p:spPr>
          <a:xfrm>
            <a:off x="6903720" y="1828800"/>
            <a:ext cx="2194560" cy="58521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Agent — linux</a:t>
            </a:r>
            <a:endParaRPr lang="en-US" sz="1200" dirty="0"/>
          </a:p>
        </p:txBody>
      </p:sp>
      <p:sp>
        <p:nvSpPr>
          <p:cNvPr id="10" name="Text 8"/>
          <p:cNvSpPr txBox="1"/>
          <p:nvPr/>
        </p:nvSpPr>
        <p:spPr>
          <a:xfrm>
            <a:off x="9144000" y="1828800"/>
            <a:ext cx="2194560" cy="585216"/>
          </a:xfrm>
          <a:prstGeom prst="rect">
            <a:avLst/>
          </a:prstGeom>
          <a:noFill/>
          <a:ln/>
        </p:spPr>
        <p:txBody>
          <a:bodyPr wrap="square" lIns="0" tIns="0" rIns="0" bIns="0" rtlCol="0" anchor="ctr"/>
          <a:lstStyle/>
          <a:p>
            <a:pPr indent="0" marL="0">
              <a:buNone/>
            </a:pPr>
            <a:r>
              <a:rPr lang="en-US" sz="1100" dirty="0">
                <a:solidFill>
                  <a:srgbClr val="BAC6D2"/>
                </a:solidFill>
                <a:latin typeface="Calibri" pitchFamily="34" charset="0"/>
                <a:ea typeface="Calibri" pitchFamily="34" charset="-122"/>
                <a:cs typeface="Calibri" pitchFamily="34" charset="-120"/>
              </a:rPr>
              <a:t>Maven and JDK builds</a:t>
            </a:r>
            <a:endParaRPr lang="en-US" sz="1100" dirty="0"/>
          </a:p>
        </p:txBody>
      </p:sp>
      <p:sp>
        <p:nvSpPr>
          <p:cNvPr id="11" name="Shape 9"/>
          <p:cNvSpPr/>
          <p:nvPr/>
        </p:nvSpPr>
        <p:spPr>
          <a:xfrm>
            <a:off x="4663440" y="2788920"/>
            <a:ext cx="1965960" cy="-667512"/>
          </a:xfrm>
          <a:prstGeom prst="line">
            <a:avLst/>
          </a:prstGeom>
          <a:noFill/>
          <a:ln w="25400">
            <a:solidFill>
              <a:srgbClr val="6FB3D2"/>
            </a:solidFill>
            <a:prstDash val="solid"/>
            <a:tailEnd type="triangle"/>
          </a:ln>
        </p:spPr>
      </p:sp>
      <p:sp>
        <p:nvSpPr>
          <p:cNvPr id="12" name="Shape 10"/>
          <p:cNvSpPr/>
          <p:nvPr/>
        </p:nvSpPr>
        <p:spPr>
          <a:xfrm>
            <a:off x="6675120" y="2496312"/>
            <a:ext cx="4873752" cy="585216"/>
          </a:xfrm>
          <a:prstGeom prst="roundRect">
            <a:avLst>
              <a:gd name="adj" fmla="val 7813"/>
            </a:avLst>
          </a:prstGeom>
          <a:solidFill>
            <a:srgbClr val="2C3E50"/>
          </a:solidFill>
          <a:ln w="12700">
            <a:solidFill>
              <a:srgbClr val="2C3E50"/>
            </a:solidFill>
            <a:prstDash val="solid"/>
          </a:ln>
        </p:spPr>
      </p:sp>
      <p:sp>
        <p:nvSpPr>
          <p:cNvPr id="13" name="Text 11"/>
          <p:cNvSpPr txBox="1"/>
          <p:nvPr/>
        </p:nvSpPr>
        <p:spPr>
          <a:xfrm>
            <a:off x="6903720" y="2496312"/>
            <a:ext cx="2194560" cy="58521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Agent — windows</a:t>
            </a:r>
            <a:endParaRPr lang="en-US" sz="1200" dirty="0"/>
          </a:p>
        </p:txBody>
      </p:sp>
      <p:sp>
        <p:nvSpPr>
          <p:cNvPr id="14" name="Text 12"/>
          <p:cNvSpPr txBox="1"/>
          <p:nvPr/>
        </p:nvSpPr>
        <p:spPr>
          <a:xfrm>
            <a:off x="9144000" y="2496312"/>
            <a:ext cx="2194560" cy="585216"/>
          </a:xfrm>
          <a:prstGeom prst="rect">
            <a:avLst/>
          </a:prstGeom>
          <a:noFill/>
          <a:ln/>
        </p:spPr>
        <p:txBody>
          <a:bodyPr wrap="square" lIns="0" tIns="0" rIns="0" bIns="0" rtlCol="0" anchor="ctr"/>
          <a:lstStyle/>
          <a:p>
            <a:pPr indent="0" marL="0">
              <a:buNone/>
            </a:pPr>
            <a:r>
              <a:rPr lang="en-US" sz="1100" dirty="0">
                <a:solidFill>
                  <a:srgbClr val="BAC6D2"/>
                </a:solidFill>
                <a:latin typeface="Calibri" pitchFamily="34" charset="0"/>
                <a:ea typeface="Calibri" pitchFamily="34" charset="-122"/>
                <a:cs typeface="Calibri" pitchFamily="34" charset="-120"/>
              </a:rPr>
              <a:t>.NET and MSBuild</a:t>
            </a:r>
            <a:endParaRPr lang="en-US" sz="1100" dirty="0"/>
          </a:p>
        </p:txBody>
      </p:sp>
      <p:sp>
        <p:nvSpPr>
          <p:cNvPr id="15" name="Shape 13"/>
          <p:cNvSpPr/>
          <p:nvPr/>
        </p:nvSpPr>
        <p:spPr>
          <a:xfrm>
            <a:off x="4663440" y="2788920"/>
            <a:ext cx="1965960" cy="0"/>
          </a:xfrm>
          <a:prstGeom prst="line">
            <a:avLst/>
          </a:prstGeom>
          <a:noFill/>
          <a:ln w="25400">
            <a:solidFill>
              <a:srgbClr val="6FB3D2"/>
            </a:solidFill>
            <a:prstDash val="solid"/>
            <a:tailEnd type="triangle"/>
          </a:ln>
        </p:spPr>
      </p:sp>
      <p:sp>
        <p:nvSpPr>
          <p:cNvPr id="16" name="Shape 14"/>
          <p:cNvSpPr/>
          <p:nvPr/>
        </p:nvSpPr>
        <p:spPr>
          <a:xfrm>
            <a:off x="6675120" y="3163824"/>
            <a:ext cx="4873752" cy="585216"/>
          </a:xfrm>
          <a:prstGeom prst="roundRect">
            <a:avLst>
              <a:gd name="adj" fmla="val 7813"/>
            </a:avLst>
          </a:prstGeom>
          <a:solidFill>
            <a:srgbClr val="2C3E50"/>
          </a:solidFill>
          <a:ln w="12700">
            <a:solidFill>
              <a:srgbClr val="2C3E50"/>
            </a:solidFill>
            <a:prstDash val="solid"/>
          </a:ln>
        </p:spPr>
      </p:sp>
      <p:sp>
        <p:nvSpPr>
          <p:cNvPr id="17" name="Text 15"/>
          <p:cNvSpPr txBox="1"/>
          <p:nvPr/>
        </p:nvSpPr>
        <p:spPr>
          <a:xfrm>
            <a:off x="6903720" y="3163824"/>
            <a:ext cx="2194560" cy="585216"/>
          </a:xfrm>
          <a:prstGeom prst="rect">
            <a:avLst/>
          </a:prstGeom>
          <a:noFill/>
          <a:ln/>
        </p:spPr>
        <p:txBody>
          <a:bodyPr wrap="square" lIns="0" tIns="0" rIns="0" bIns="0" rtlCol="0" anchor="ctr"/>
          <a:lstStyle/>
          <a:p>
            <a:pPr indent="0" marL="0">
              <a:buNone/>
            </a:pPr>
            <a:r>
              <a:rPr lang="en-US" sz="1200" b="1" dirty="0">
                <a:solidFill>
                  <a:srgbClr val="FFFFFF"/>
                </a:solidFill>
                <a:latin typeface="Courier New" pitchFamily="34" charset="0"/>
                <a:ea typeface="Courier New" pitchFamily="34" charset="-122"/>
                <a:cs typeface="Courier New" pitchFamily="34" charset="-120"/>
              </a:rPr>
              <a:t>Agent — docker</a:t>
            </a:r>
            <a:endParaRPr lang="en-US" sz="1200" dirty="0"/>
          </a:p>
        </p:txBody>
      </p:sp>
      <p:sp>
        <p:nvSpPr>
          <p:cNvPr id="18" name="Text 16"/>
          <p:cNvSpPr txBox="1"/>
          <p:nvPr/>
        </p:nvSpPr>
        <p:spPr>
          <a:xfrm>
            <a:off x="9144000" y="3163824"/>
            <a:ext cx="2194560" cy="585216"/>
          </a:xfrm>
          <a:prstGeom prst="rect">
            <a:avLst/>
          </a:prstGeom>
          <a:noFill/>
          <a:ln/>
        </p:spPr>
        <p:txBody>
          <a:bodyPr wrap="square" lIns="0" tIns="0" rIns="0" bIns="0" rtlCol="0" anchor="ctr"/>
          <a:lstStyle/>
          <a:p>
            <a:pPr indent="0" marL="0">
              <a:buNone/>
            </a:pPr>
            <a:r>
              <a:rPr lang="en-US" sz="1100" dirty="0">
                <a:solidFill>
                  <a:srgbClr val="BAC6D2"/>
                </a:solidFill>
                <a:latin typeface="Calibri" pitchFamily="34" charset="0"/>
                <a:ea typeface="Calibri" pitchFamily="34" charset="-122"/>
                <a:cs typeface="Calibri" pitchFamily="34" charset="-120"/>
              </a:rPr>
              <a:t>Ephemeral, one per build</a:t>
            </a:r>
            <a:endParaRPr lang="en-US" sz="1100" dirty="0"/>
          </a:p>
        </p:txBody>
      </p:sp>
      <p:sp>
        <p:nvSpPr>
          <p:cNvPr id="19" name="Shape 17"/>
          <p:cNvSpPr/>
          <p:nvPr/>
        </p:nvSpPr>
        <p:spPr>
          <a:xfrm>
            <a:off x="4663440" y="2788920"/>
            <a:ext cx="1965960" cy="667512"/>
          </a:xfrm>
          <a:prstGeom prst="line">
            <a:avLst/>
          </a:prstGeom>
          <a:noFill/>
          <a:ln w="25400">
            <a:solidFill>
              <a:srgbClr val="6FB3D2"/>
            </a:solidFill>
            <a:prstDash val="solid"/>
            <a:tailEnd type="triangle"/>
          </a:ln>
        </p:spPr>
      </p:sp>
      <p:sp>
        <p:nvSpPr>
          <p:cNvPr id="20" name="Shape 18"/>
          <p:cNvSpPr/>
          <p:nvPr/>
        </p:nvSpPr>
        <p:spPr>
          <a:xfrm>
            <a:off x="640080" y="4069080"/>
            <a:ext cx="2514600"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1" name="Shape 19"/>
          <p:cNvSpPr/>
          <p:nvPr/>
        </p:nvSpPr>
        <p:spPr>
          <a:xfrm>
            <a:off x="877824" y="4306824"/>
            <a:ext cx="420624" cy="420624"/>
          </a:xfrm>
          <a:prstGeom prst="ellipse">
            <a:avLst/>
          </a:prstGeom>
          <a:solidFill>
            <a:srgbClr val="1F5673"/>
          </a:solidFill>
          <a:ln w="12700">
            <a:solidFill>
              <a:srgbClr val="1F5673"/>
            </a:solidFill>
            <a:prstDash val="solid"/>
          </a:ln>
        </p:spPr>
      </p:sp>
      <p:sp>
        <p:nvSpPr>
          <p:cNvPr id="22" name="Text 20"/>
          <p:cNvSpPr txBox="1"/>
          <p:nvPr/>
        </p:nvSpPr>
        <p:spPr>
          <a:xfrm>
            <a:off x="877824" y="43068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1"/>
          <p:cNvSpPr txBox="1"/>
          <p:nvPr/>
        </p:nvSpPr>
        <p:spPr>
          <a:xfrm>
            <a:off x="877824" y="4855464"/>
            <a:ext cx="2039112"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Scale</a:t>
            </a:r>
            <a:endParaRPr lang="en-US" sz="1400" dirty="0"/>
          </a:p>
        </p:txBody>
      </p:sp>
      <p:sp>
        <p:nvSpPr>
          <p:cNvPr id="24" name="Text 22"/>
          <p:cNvSpPr txBox="1"/>
          <p:nvPr/>
        </p:nvSpPr>
        <p:spPr>
          <a:xfrm>
            <a:off x="877824" y="5202936"/>
            <a:ext cx="2039112" cy="6675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Run many builds at once instead of queueing them on one machine.</a:t>
            </a:r>
            <a:endParaRPr lang="en-US" sz="1150" dirty="0"/>
          </a:p>
        </p:txBody>
      </p:sp>
      <p:sp>
        <p:nvSpPr>
          <p:cNvPr id="25" name="Shape 23"/>
          <p:cNvSpPr/>
          <p:nvPr/>
        </p:nvSpPr>
        <p:spPr>
          <a:xfrm>
            <a:off x="3456432" y="4069080"/>
            <a:ext cx="2514600"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6" name="Shape 24"/>
          <p:cNvSpPr/>
          <p:nvPr/>
        </p:nvSpPr>
        <p:spPr>
          <a:xfrm>
            <a:off x="3694176" y="4306824"/>
            <a:ext cx="420624" cy="420624"/>
          </a:xfrm>
          <a:prstGeom prst="ellipse">
            <a:avLst/>
          </a:prstGeom>
          <a:solidFill>
            <a:srgbClr val="1F5673"/>
          </a:solidFill>
          <a:ln w="12700">
            <a:solidFill>
              <a:srgbClr val="1F5673"/>
            </a:solidFill>
            <a:prstDash val="solid"/>
          </a:ln>
        </p:spPr>
      </p:sp>
      <p:sp>
        <p:nvSpPr>
          <p:cNvPr id="27" name="Text 25"/>
          <p:cNvSpPr txBox="1"/>
          <p:nvPr/>
        </p:nvSpPr>
        <p:spPr>
          <a:xfrm>
            <a:off x="3694176" y="43068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8" name="Text 26"/>
          <p:cNvSpPr txBox="1"/>
          <p:nvPr/>
        </p:nvSpPr>
        <p:spPr>
          <a:xfrm>
            <a:off x="3694176" y="4855464"/>
            <a:ext cx="2039112"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Isolation</a:t>
            </a:r>
            <a:endParaRPr lang="en-US" sz="1400" dirty="0"/>
          </a:p>
        </p:txBody>
      </p:sp>
      <p:sp>
        <p:nvSpPr>
          <p:cNvPr id="29" name="Text 27"/>
          <p:cNvSpPr txBox="1"/>
          <p:nvPr/>
        </p:nvSpPr>
        <p:spPr>
          <a:xfrm>
            <a:off x="3694176" y="5202936"/>
            <a:ext cx="2039112" cy="6675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runaway build cannot take down the controller and everyone else's work with it.</a:t>
            </a:r>
            <a:endParaRPr lang="en-US" sz="1150" dirty="0"/>
          </a:p>
        </p:txBody>
      </p:sp>
      <p:sp>
        <p:nvSpPr>
          <p:cNvPr id="30" name="Shape 28"/>
          <p:cNvSpPr/>
          <p:nvPr/>
        </p:nvSpPr>
        <p:spPr>
          <a:xfrm>
            <a:off x="6272784" y="4069080"/>
            <a:ext cx="2514600"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1" name="Shape 29"/>
          <p:cNvSpPr/>
          <p:nvPr/>
        </p:nvSpPr>
        <p:spPr>
          <a:xfrm>
            <a:off x="6510528" y="4306824"/>
            <a:ext cx="420624" cy="420624"/>
          </a:xfrm>
          <a:prstGeom prst="ellipse">
            <a:avLst/>
          </a:prstGeom>
          <a:solidFill>
            <a:srgbClr val="1F5673"/>
          </a:solidFill>
          <a:ln w="12700">
            <a:solidFill>
              <a:srgbClr val="1F5673"/>
            </a:solidFill>
            <a:prstDash val="solid"/>
          </a:ln>
        </p:spPr>
      </p:sp>
      <p:sp>
        <p:nvSpPr>
          <p:cNvPr id="32" name="Text 30"/>
          <p:cNvSpPr txBox="1"/>
          <p:nvPr/>
        </p:nvSpPr>
        <p:spPr>
          <a:xfrm>
            <a:off x="6510528" y="43068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33" name="Text 31"/>
          <p:cNvSpPr txBox="1"/>
          <p:nvPr/>
        </p:nvSpPr>
        <p:spPr>
          <a:xfrm>
            <a:off x="6510528" y="4855464"/>
            <a:ext cx="2039112"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Platform coverage</a:t>
            </a:r>
            <a:endParaRPr lang="en-US" sz="1400" dirty="0"/>
          </a:p>
        </p:txBody>
      </p:sp>
      <p:sp>
        <p:nvSpPr>
          <p:cNvPr id="34" name="Text 32"/>
          <p:cNvSpPr txBox="1"/>
          <p:nvPr/>
        </p:nvSpPr>
        <p:spPr>
          <a:xfrm>
            <a:off x="6510528" y="5202936"/>
            <a:ext cx="2039112" cy="6675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Build on Linux, Windows and macOS from one Jenkins instance.</a:t>
            </a:r>
            <a:endParaRPr lang="en-US" sz="1150" dirty="0"/>
          </a:p>
        </p:txBody>
      </p:sp>
      <p:sp>
        <p:nvSpPr>
          <p:cNvPr id="35" name="Shape 33"/>
          <p:cNvSpPr/>
          <p:nvPr/>
        </p:nvSpPr>
        <p:spPr>
          <a:xfrm>
            <a:off x="9089136" y="4069080"/>
            <a:ext cx="2514600" cy="1874520"/>
          </a:xfrm>
          <a:prstGeom prst="roundRect">
            <a:avLst>
              <a:gd name="adj" fmla="val 292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6" name="Shape 34"/>
          <p:cNvSpPr/>
          <p:nvPr/>
        </p:nvSpPr>
        <p:spPr>
          <a:xfrm>
            <a:off x="9326880" y="4306824"/>
            <a:ext cx="420624" cy="420624"/>
          </a:xfrm>
          <a:prstGeom prst="ellipse">
            <a:avLst/>
          </a:prstGeom>
          <a:solidFill>
            <a:srgbClr val="1F5673"/>
          </a:solidFill>
          <a:ln w="12700">
            <a:solidFill>
              <a:srgbClr val="1F5673"/>
            </a:solidFill>
            <a:prstDash val="solid"/>
          </a:ln>
        </p:spPr>
      </p:sp>
      <p:sp>
        <p:nvSpPr>
          <p:cNvPr id="37" name="Text 35"/>
          <p:cNvSpPr txBox="1"/>
          <p:nvPr/>
        </p:nvSpPr>
        <p:spPr>
          <a:xfrm>
            <a:off x="9326880" y="430682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9326880" y="4855464"/>
            <a:ext cx="2039112"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Security</a:t>
            </a:r>
            <a:endParaRPr lang="en-US" sz="1400" dirty="0"/>
          </a:p>
        </p:txBody>
      </p:sp>
      <p:sp>
        <p:nvSpPr>
          <p:cNvPr id="39" name="Text 37"/>
          <p:cNvSpPr txBox="1"/>
          <p:nvPr/>
        </p:nvSpPr>
        <p:spPr>
          <a:xfrm>
            <a:off x="9326880" y="5202936"/>
            <a:ext cx="2039112" cy="66751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Untrusted build code runs away from the machine holding your credentials and configuration.</a:t>
            </a:r>
            <a:endParaRPr lang="en-US" sz="11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How agents connect</a:t>
            </a:r>
            <a:endParaRPr lang="en-US" sz="3100" dirty="0"/>
          </a:p>
        </p:txBody>
      </p:sp>
      <p:sp>
        <p:nvSpPr>
          <p:cNvPr id="4" name="Shape 2"/>
          <p:cNvSpPr/>
          <p:nvPr/>
        </p:nvSpPr>
        <p:spPr>
          <a:xfrm>
            <a:off x="640080" y="1572768"/>
            <a:ext cx="3419856" cy="2880360"/>
          </a:xfrm>
          <a:prstGeom prst="roundRect">
            <a:avLst>
              <a:gd name="adj" fmla="val 1905"/>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572768"/>
            <a:ext cx="3419856" cy="749808"/>
          </a:xfrm>
          <a:prstGeom prst="roundRect">
            <a:avLst>
              <a:gd name="adj" fmla="val 7317"/>
            </a:avLst>
          </a:prstGeom>
          <a:solidFill>
            <a:srgbClr val="1F5673"/>
          </a:solidFill>
          <a:ln w="12700">
            <a:solidFill>
              <a:srgbClr val="1F5673"/>
            </a:solidFill>
            <a:prstDash val="solid"/>
          </a:ln>
        </p:spPr>
      </p:sp>
      <p:sp>
        <p:nvSpPr>
          <p:cNvPr id="6" name="Text 4"/>
          <p:cNvSpPr txBox="1"/>
          <p:nvPr/>
        </p:nvSpPr>
        <p:spPr>
          <a:xfrm>
            <a:off x="896112" y="1572768"/>
            <a:ext cx="2907792" cy="74980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SSH (outbound)</a:t>
            </a:r>
            <a:endParaRPr lang="en-US" sz="1550" dirty="0"/>
          </a:p>
        </p:txBody>
      </p:sp>
      <p:sp>
        <p:nvSpPr>
          <p:cNvPr id="7" name="Text 5"/>
          <p:cNvSpPr txBox="1"/>
          <p:nvPr/>
        </p:nvSpPr>
        <p:spPr>
          <a:xfrm>
            <a:off x="896112" y="2468880"/>
            <a:ext cx="2907792" cy="137160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The controller connects out to the agent over SSH and launches the agent process itself.</a:t>
            </a:r>
            <a:endParaRPr lang="en-US" sz="1250" dirty="0"/>
          </a:p>
        </p:txBody>
      </p:sp>
      <p:sp>
        <p:nvSpPr>
          <p:cNvPr id="8" name="Text 6"/>
          <p:cNvSpPr txBox="1"/>
          <p:nvPr/>
        </p:nvSpPr>
        <p:spPr>
          <a:xfrm>
            <a:off x="896112" y="3858768"/>
            <a:ext cx="2907792" cy="219456"/>
          </a:xfrm>
          <a:prstGeom prst="rect">
            <a:avLst/>
          </a:prstGeom>
          <a:noFill/>
          <a:ln/>
        </p:spPr>
        <p:txBody>
          <a:bodyPr wrap="square" lIns="0" tIns="0" rIns="0" bIns="0" rtlCol="0" anchor="ctr"/>
          <a:lstStyle/>
          <a:p>
            <a:pPr indent="0" marL="0">
              <a:buNone/>
            </a:pPr>
            <a:r>
              <a:rPr lang="en-US" sz="1000" b="1" spc="120" kern="0" dirty="0">
                <a:solidFill>
                  <a:srgbClr val="667081"/>
                </a:solidFill>
                <a:latin typeface="Calibri" pitchFamily="34" charset="0"/>
                <a:ea typeface="Calibri" pitchFamily="34" charset="-122"/>
                <a:cs typeface="Calibri" pitchFamily="34" charset="-120"/>
              </a:rPr>
              <a:t>BEST FOR</a:t>
            </a:r>
            <a:endParaRPr lang="en-US" sz="1000" dirty="0"/>
          </a:p>
        </p:txBody>
      </p:sp>
      <p:sp>
        <p:nvSpPr>
          <p:cNvPr id="9" name="Text 7"/>
          <p:cNvSpPr txBox="1"/>
          <p:nvPr/>
        </p:nvSpPr>
        <p:spPr>
          <a:xfrm>
            <a:off x="896112" y="4078224"/>
            <a:ext cx="2907792" cy="310896"/>
          </a:xfrm>
          <a:prstGeom prst="rect">
            <a:avLst/>
          </a:prstGeom>
          <a:noFill/>
          <a:ln/>
        </p:spPr>
        <p:txBody>
          <a:bodyPr wrap="square" lIns="0" tIns="0" rIns="0" bIns="0" rtlCol="0" anchor="ctr"/>
          <a:lstStyle/>
          <a:p>
            <a:pPr indent="0" marL="0">
              <a:buNone/>
            </a:pPr>
            <a:r>
              <a:rPr lang="en-US" sz="1150" b="1" dirty="0">
                <a:solidFill>
                  <a:srgbClr val="1F5673"/>
                </a:solidFill>
                <a:latin typeface="Calibri" pitchFamily="34" charset="0"/>
                <a:ea typeface="Calibri" pitchFamily="34" charset="-122"/>
                <a:cs typeface="Calibri" pitchFamily="34" charset="-120"/>
              </a:rPr>
              <a:t>Linux agents; the most common choice</a:t>
            </a:r>
            <a:endParaRPr lang="en-US" sz="1150" dirty="0"/>
          </a:p>
        </p:txBody>
      </p:sp>
      <p:sp>
        <p:nvSpPr>
          <p:cNvPr id="10" name="Shape 8"/>
          <p:cNvSpPr/>
          <p:nvPr/>
        </p:nvSpPr>
        <p:spPr>
          <a:xfrm>
            <a:off x="4384548" y="1572768"/>
            <a:ext cx="3419856" cy="2880360"/>
          </a:xfrm>
          <a:prstGeom prst="roundRect">
            <a:avLst>
              <a:gd name="adj" fmla="val 1905"/>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4384548" y="1572768"/>
            <a:ext cx="3419856" cy="749808"/>
          </a:xfrm>
          <a:prstGeom prst="roundRect">
            <a:avLst>
              <a:gd name="adj" fmla="val 7317"/>
            </a:avLst>
          </a:prstGeom>
          <a:solidFill>
            <a:srgbClr val="2C3E50"/>
          </a:solidFill>
          <a:ln w="12700">
            <a:solidFill>
              <a:srgbClr val="2C3E50"/>
            </a:solidFill>
            <a:prstDash val="solid"/>
          </a:ln>
        </p:spPr>
      </p:sp>
      <p:sp>
        <p:nvSpPr>
          <p:cNvPr id="12" name="Text 10"/>
          <p:cNvSpPr txBox="1"/>
          <p:nvPr/>
        </p:nvSpPr>
        <p:spPr>
          <a:xfrm>
            <a:off x="4640580" y="1572768"/>
            <a:ext cx="2907792" cy="74980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Inbound (JNLP)</a:t>
            </a:r>
            <a:endParaRPr lang="en-US" sz="1550" dirty="0"/>
          </a:p>
        </p:txBody>
      </p:sp>
      <p:sp>
        <p:nvSpPr>
          <p:cNvPr id="13" name="Text 11"/>
          <p:cNvSpPr txBox="1"/>
          <p:nvPr/>
        </p:nvSpPr>
        <p:spPr>
          <a:xfrm>
            <a:off x="4640580" y="2468880"/>
            <a:ext cx="2907792" cy="137160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The agent connects in to the controller on port 50000 using a secret. Works when the agent is behind a firewall.</a:t>
            </a:r>
            <a:endParaRPr lang="en-US" sz="1250" dirty="0"/>
          </a:p>
        </p:txBody>
      </p:sp>
      <p:sp>
        <p:nvSpPr>
          <p:cNvPr id="14" name="Text 12"/>
          <p:cNvSpPr txBox="1"/>
          <p:nvPr/>
        </p:nvSpPr>
        <p:spPr>
          <a:xfrm>
            <a:off x="4640580" y="3858768"/>
            <a:ext cx="2907792" cy="219456"/>
          </a:xfrm>
          <a:prstGeom prst="rect">
            <a:avLst/>
          </a:prstGeom>
          <a:noFill/>
          <a:ln/>
        </p:spPr>
        <p:txBody>
          <a:bodyPr wrap="square" lIns="0" tIns="0" rIns="0" bIns="0" rtlCol="0" anchor="ctr"/>
          <a:lstStyle/>
          <a:p>
            <a:pPr indent="0" marL="0">
              <a:buNone/>
            </a:pPr>
            <a:r>
              <a:rPr lang="en-US" sz="1000" b="1" spc="120" kern="0" dirty="0">
                <a:solidFill>
                  <a:srgbClr val="667081"/>
                </a:solidFill>
                <a:latin typeface="Calibri" pitchFamily="34" charset="0"/>
                <a:ea typeface="Calibri" pitchFamily="34" charset="-122"/>
                <a:cs typeface="Calibri" pitchFamily="34" charset="-120"/>
              </a:rPr>
              <a:t>BEST FOR</a:t>
            </a:r>
            <a:endParaRPr lang="en-US" sz="1000" dirty="0"/>
          </a:p>
        </p:txBody>
      </p:sp>
      <p:sp>
        <p:nvSpPr>
          <p:cNvPr id="15" name="Text 13"/>
          <p:cNvSpPr txBox="1"/>
          <p:nvPr/>
        </p:nvSpPr>
        <p:spPr>
          <a:xfrm>
            <a:off x="4640580" y="4078224"/>
            <a:ext cx="2907792" cy="310896"/>
          </a:xfrm>
          <a:prstGeom prst="rect">
            <a:avLst/>
          </a:prstGeom>
          <a:noFill/>
          <a:ln/>
        </p:spPr>
        <p:txBody>
          <a:bodyPr wrap="square" lIns="0" tIns="0" rIns="0" bIns="0" rtlCol="0" anchor="ctr"/>
          <a:lstStyle/>
          <a:p>
            <a:pPr indent="0" marL="0">
              <a:buNone/>
            </a:pPr>
            <a:r>
              <a:rPr lang="en-US" sz="1150" b="1" dirty="0">
                <a:solidFill>
                  <a:srgbClr val="141C26"/>
                </a:solidFill>
                <a:latin typeface="Calibri" pitchFamily="34" charset="0"/>
                <a:ea typeface="Calibri" pitchFamily="34" charset="-122"/>
                <a:cs typeface="Calibri" pitchFamily="34" charset="-120"/>
              </a:rPr>
              <a:t>Windows agents, restricted networks</a:t>
            </a:r>
            <a:endParaRPr lang="en-US" sz="1150" dirty="0"/>
          </a:p>
        </p:txBody>
      </p:sp>
      <p:sp>
        <p:nvSpPr>
          <p:cNvPr id="16" name="Shape 14"/>
          <p:cNvSpPr/>
          <p:nvPr/>
        </p:nvSpPr>
        <p:spPr>
          <a:xfrm>
            <a:off x="8129016" y="1572768"/>
            <a:ext cx="3419856" cy="2880360"/>
          </a:xfrm>
          <a:prstGeom prst="roundRect">
            <a:avLst>
              <a:gd name="adj" fmla="val 1905"/>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8129016" y="1572768"/>
            <a:ext cx="3419856" cy="749808"/>
          </a:xfrm>
          <a:prstGeom prst="roundRect">
            <a:avLst>
              <a:gd name="adj" fmla="val 7317"/>
            </a:avLst>
          </a:prstGeom>
          <a:solidFill>
            <a:srgbClr val="141C26"/>
          </a:solidFill>
          <a:ln w="12700">
            <a:solidFill>
              <a:srgbClr val="141C26"/>
            </a:solidFill>
            <a:prstDash val="solid"/>
          </a:ln>
        </p:spPr>
      </p:sp>
      <p:sp>
        <p:nvSpPr>
          <p:cNvPr id="18" name="Text 16"/>
          <p:cNvSpPr txBox="1"/>
          <p:nvPr/>
        </p:nvSpPr>
        <p:spPr>
          <a:xfrm>
            <a:off x="8385048" y="1572768"/>
            <a:ext cx="2907792" cy="749808"/>
          </a:xfrm>
          <a:prstGeom prst="rect">
            <a:avLst/>
          </a:prstGeom>
          <a:noFill/>
          <a:ln/>
        </p:spPr>
        <p:txBody>
          <a:bodyPr wrap="square" lIns="0" tIns="0" rIns="0" bIns="0" rtlCol="0" anchor="ctr"/>
          <a:lstStyle/>
          <a:p>
            <a:pPr indent="0" marL="0">
              <a:buNone/>
            </a:pPr>
            <a:r>
              <a:rPr lang="en-US" sz="1550" b="1" dirty="0">
                <a:solidFill>
                  <a:srgbClr val="FFFFFF"/>
                </a:solidFill>
                <a:latin typeface="Calibri" pitchFamily="34" charset="0"/>
                <a:ea typeface="Calibri" pitchFamily="34" charset="-122"/>
                <a:cs typeface="Calibri" pitchFamily="34" charset="-120"/>
              </a:rPr>
              <a:t>Docker / cloud</a:t>
            </a:r>
            <a:endParaRPr lang="en-US" sz="1550" dirty="0"/>
          </a:p>
        </p:txBody>
      </p:sp>
      <p:sp>
        <p:nvSpPr>
          <p:cNvPr id="19" name="Text 17"/>
          <p:cNvSpPr txBox="1"/>
          <p:nvPr/>
        </p:nvSpPr>
        <p:spPr>
          <a:xfrm>
            <a:off x="8385048" y="2468880"/>
            <a:ext cx="2907792" cy="1371600"/>
          </a:xfrm>
          <a:prstGeom prst="rect">
            <a:avLst/>
          </a:prstGeom>
          <a:noFill/>
          <a:ln/>
        </p:spPr>
        <p:txBody>
          <a:bodyPr wrap="square" lIns="0" tIns="0" rIns="0" bIns="0" rtlCol="0" anchor="ctr"/>
          <a:lstStyle/>
          <a:p>
            <a:pPr indent="0" marL="0">
              <a:lnSpc>
                <a:spcPct val="106000"/>
              </a:lnSpc>
              <a:buNone/>
            </a:pPr>
            <a:r>
              <a:rPr lang="en-US" sz="1250" dirty="0">
                <a:solidFill>
                  <a:srgbClr val="28313B"/>
                </a:solidFill>
                <a:latin typeface="Calibri" pitchFamily="34" charset="0"/>
                <a:ea typeface="Calibri" pitchFamily="34" charset="-122"/>
                <a:cs typeface="Calibri" pitchFamily="34" charset="-120"/>
              </a:rPr>
              <a:t>Agents are created on demand for each build and destroyed afterwards, on Docker or Kubernetes.</a:t>
            </a:r>
            <a:endParaRPr lang="en-US" sz="1250" dirty="0"/>
          </a:p>
        </p:txBody>
      </p:sp>
      <p:sp>
        <p:nvSpPr>
          <p:cNvPr id="20" name="Text 18"/>
          <p:cNvSpPr txBox="1"/>
          <p:nvPr/>
        </p:nvSpPr>
        <p:spPr>
          <a:xfrm>
            <a:off x="8385048" y="3858768"/>
            <a:ext cx="2907792" cy="219456"/>
          </a:xfrm>
          <a:prstGeom prst="rect">
            <a:avLst/>
          </a:prstGeom>
          <a:noFill/>
          <a:ln/>
        </p:spPr>
        <p:txBody>
          <a:bodyPr wrap="square" lIns="0" tIns="0" rIns="0" bIns="0" rtlCol="0" anchor="ctr"/>
          <a:lstStyle/>
          <a:p>
            <a:pPr indent="0" marL="0">
              <a:buNone/>
            </a:pPr>
            <a:r>
              <a:rPr lang="en-US" sz="1000" b="1" spc="120" kern="0" dirty="0">
                <a:solidFill>
                  <a:srgbClr val="667081"/>
                </a:solidFill>
                <a:latin typeface="Calibri" pitchFamily="34" charset="0"/>
                <a:ea typeface="Calibri" pitchFamily="34" charset="-122"/>
                <a:cs typeface="Calibri" pitchFamily="34" charset="-120"/>
              </a:rPr>
              <a:t>BEST FOR</a:t>
            </a:r>
            <a:endParaRPr lang="en-US" sz="1000" dirty="0"/>
          </a:p>
        </p:txBody>
      </p:sp>
      <p:sp>
        <p:nvSpPr>
          <p:cNvPr id="21" name="Text 19"/>
          <p:cNvSpPr txBox="1"/>
          <p:nvPr/>
        </p:nvSpPr>
        <p:spPr>
          <a:xfrm>
            <a:off x="8385048" y="4078224"/>
            <a:ext cx="2907792" cy="310896"/>
          </a:xfrm>
          <a:prstGeom prst="rect">
            <a:avLst/>
          </a:prstGeom>
          <a:noFill/>
          <a:ln/>
        </p:spPr>
        <p:txBody>
          <a:bodyPr wrap="square" lIns="0" tIns="0" rIns="0" bIns="0" rtlCol="0" anchor="ctr"/>
          <a:lstStyle/>
          <a:p>
            <a:pPr indent="0" marL="0">
              <a:buNone/>
            </a:pPr>
            <a:r>
              <a:rPr lang="en-US" sz="1150" b="1" dirty="0">
                <a:solidFill>
                  <a:srgbClr val="141C26"/>
                </a:solidFill>
                <a:latin typeface="Calibri" pitchFamily="34" charset="0"/>
                <a:ea typeface="Calibri" pitchFamily="34" charset="-122"/>
                <a:cs typeface="Calibri" pitchFamily="34" charset="-120"/>
              </a:rPr>
              <a:t>Elastic capacity, clean workspaces</a:t>
            </a:r>
            <a:endParaRPr lang="en-US" sz="1150" dirty="0"/>
          </a:p>
        </p:txBody>
      </p:sp>
      <p:sp>
        <p:nvSpPr>
          <p:cNvPr id="22" name="Shape 20"/>
          <p:cNvSpPr/>
          <p:nvPr/>
        </p:nvSpPr>
        <p:spPr>
          <a:xfrm>
            <a:off x="640080" y="4572000"/>
            <a:ext cx="3419856"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3" name="Text 21"/>
          <p:cNvSpPr txBox="1"/>
          <p:nvPr/>
        </p:nvSpPr>
        <p:spPr>
          <a:xfrm>
            <a:off x="877824" y="4828032"/>
            <a:ext cx="2944368"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Java on the agent</a:t>
            </a:r>
            <a:endParaRPr lang="en-US" sz="1350" dirty="0"/>
          </a:p>
        </p:txBody>
      </p:sp>
      <p:sp>
        <p:nvSpPr>
          <p:cNvPr id="24" name="Text 22"/>
          <p:cNvSpPr txBox="1"/>
          <p:nvPr/>
        </p:nvSpPr>
        <p:spPr>
          <a:xfrm>
            <a:off x="877824" y="5175504"/>
            <a:ext cx="2944368" cy="78638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Every agent needs a compatible Java runtime — the agent process itself is Java.</a:t>
            </a:r>
            <a:endParaRPr lang="en-US" sz="1150" dirty="0"/>
          </a:p>
        </p:txBody>
      </p:sp>
      <p:sp>
        <p:nvSpPr>
          <p:cNvPr id="25" name="Shape 23"/>
          <p:cNvSpPr/>
          <p:nvPr/>
        </p:nvSpPr>
        <p:spPr>
          <a:xfrm>
            <a:off x="4384548" y="4572000"/>
            <a:ext cx="3419856"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6" name="Text 24"/>
          <p:cNvSpPr txBox="1"/>
          <p:nvPr/>
        </p:nvSpPr>
        <p:spPr>
          <a:xfrm>
            <a:off x="4622292" y="4828032"/>
            <a:ext cx="2944368"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A remote root directory</a:t>
            </a:r>
            <a:endParaRPr lang="en-US" sz="1350" dirty="0"/>
          </a:p>
        </p:txBody>
      </p:sp>
      <p:sp>
        <p:nvSpPr>
          <p:cNvPr id="27" name="Text 25"/>
          <p:cNvSpPr txBox="1"/>
          <p:nvPr/>
        </p:nvSpPr>
        <p:spPr>
          <a:xfrm>
            <a:off x="4622292" y="5175504"/>
            <a:ext cx="2944368" cy="78638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working directory on the agent where Jenkins keeps workspaces, e.g. /home/jenkins.</a:t>
            </a:r>
            <a:endParaRPr lang="en-US" sz="1150" dirty="0"/>
          </a:p>
        </p:txBody>
      </p:sp>
      <p:sp>
        <p:nvSpPr>
          <p:cNvPr id="28" name="Shape 26"/>
          <p:cNvSpPr/>
          <p:nvPr/>
        </p:nvSpPr>
        <p:spPr>
          <a:xfrm>
            <a:off x="8129016" y="4572000"/>
            <a:ext cx="3419856" cy="1463040"/>
          </a:xfrm>
          <a:prstGeom prst="roundRect">
            <a:avLst>
              <a:gd name="adj" fmla="val 375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9" name="Text 27"/>
          <p:cNvSpPr txBox="1"/>
          <p:nvPr/>
        </p:nvSpPr>
        <p:spPr>
          <a:xfrm>
            <a:off x="8366760" y="4828032"/>
            <a:ext cx="2944368"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Network reachability</a:t>
            </a:r>
            <a:endParaRPr lang="en-US" sz="1350" dirty="0"/>
          </a:p>
        </p:txBody>
      </p:sp>
      <p:sp>
        <p:nvSpPr>
          <p:cNvPr id="30" name="Text 28"/>
          <p:cNvSpPr txBox="1"/>
          <p:nvPr/>
        </p:nvSpPr>
        <p:spPr>
          <a:xfrm>
            <a:off x="8366760" y="5175504"/>
            <a:ext cx="2944368" cy="78638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Either controller → agent on port 22, or agent → controller on port 50000.</a:t>
            </a:r>
            <a:endParaRPr lang="en-US" sz="11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ARCHITECTURE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Configuring an agent node</a:t>
            </a:r>
            <a:endParaRPr lang="en-US" sz="3100" dirty="0"/>
          </a:p>
        </p:txBody>
      </p:sp>
      <p:sp>
        <p:nvSpPr>
          <p:cNvPr id="4" name="Shape 2"/>
          <p:cNvSpPr/>
          <p:nvPr/>
        </p:nvSpPr>
        <p:spPr>
          <a:xfrm>
            <a:off x="640080" y="1600200"/>
            <a:ext cx="2002536" cy="2468880"/>
          </a:xfrm>
          <a:prstGeom prst="roundRect">
            <a:avLst>
              <a:gd name="adj" fmla="val 274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1376172" y="1792224"/>
            <a:ext cx="530352" cy="530352"/>
          </a:xfrm>
          <a:prstGeom prst="ellipse">
            <a:avLst/>
          </a:prstGeom>
          <a:solidFill>
            <a:srgbClr val="1F5673"/>
          </a:solidFill>
          <a:ln w="12700">
            <a:solidFill>
              <a:srgbClr val="1F5673"/>
            </a:solidFill>
            <a:prstDash val="solid"/>
          </a:ln>
        </p:spPr>
      </p:sp>
      <p:sp>
        <p:nvSpPr>
          <p:cNvPr id="6" name="Text 4"/>
          <p:cNvSpPr txBox="1"/>
          <p:nvPr/>
        </p:nvSpPr>
        <p:spPr>
          <a:xfrm>
            <a:off x="1376172" y="179222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768096" y="2432304"/>
            <a:ext cx="1746504" cy="310896"/>
          </a:xfrm>
          <a:prstGeom prst="rect">
            <a:avLst/>
          </a:prstGeom>
          <a:noFill/>
          <a:ln/>
        </p:spPr>
        <p:txBody>
          <a:bodyPr wrap="square" lIns="0" tIns="0" rIns="0" bIns="0" rtlCol="0" anchor="ctr"/>
          <a:lstStyle/>
          <a:p>
            <a:pPr algn="ctr" indent="0" marL="0">
              <a:buNone/>
            </a:pPr>
            <a:r>
              <a:rPr lang="en-US" sz="1350" b="1" dirty="0">
                <a:solidFill>
                  <a:srgbClr val="141C26"/>
                </a:solidFill>
                <a:latin typeface="Calibri" pitchFamily="34" charset="0"/>
                <a:ea typeface="Calibri" pitchFamily="34" charset="-122"/>
                <a:cs typeface="Calibri" pitchFamily="34" charset="-120"/>
              </a:rPr>
              <a:t>Prepare the machine</a:t>
            </a:r>
            <a:endParaRPr lang="en-US" sz="1350" dirty="0"/>
          </a:p>
        </p:txBody>
      </p:sp>
      <p:sp>
        <p:nvSpPr>
          <p:cNvPr id="8" name="Text 6"/>
          <p:cNvSpPr txBox="1"/>
          <p:nvPr/>
        </p:nvSpPr>
        <p:spPr>
          <a:xfrm>
            <a:off x="786384" y="2779776"/>
            <a:ext cx="1709928" cy="1188720"/>
          </a:xfrm>
          <a:prstGeom prst="rect">
            <a:avLst/>
          </a:prstGeom>
          <a:noFill/>
          <a:ln/>
        </p:spPr>
        <p:txBody>
          <a:bodyPr wrap="square" lIns="0" tIns="0" rIns="0" bIns="0" rtlCol="0" anchor="ctr"/>
          <a:lstStyle/>
          <a:p>
            <a:pPr algn="ctr" indent="0" marL="0">
              <a:lnSpc>
                <a:spcPct val="104000"/>
              </a:lnSpc>
              <a:buNone/>
            </a:pPr>
            <a:r>
              <a:rPr lang="en-US" sz="1100" dirty="0">
                <a:solidFill>
                  <a:srgbClr val="28313B"/>
                </a:solidFill>
                <a:latin typeface="Calibri" pitchFamily="34" charset="0"/>
                <a:ea typeface="Calibri" pitchFamily="34" charset="-122"/>
                <a:cs typeface="Calibri" pitchFamily="34" charset="-120"/>
              </a:rPr>
              <a:t>Install Java, create a jenkins user, create the remote root directory, and ensure the build tools are present.</a:t>
            </a:r>
            <a:endParaRPr lang="en-US" sz="1100" dirty="0"/>
          </a:p>
        </p:txBody>
      </p:sp>
      <p:sp>
        <p:nvSpPr>
          <p:cNvPr id="9" name="Shape 7"/>
          <p:cNvSpPr/>
          <p:nvPr/>
        </p:nvSpPr>
        <p:spPr>
          <a:xfrm>
            <a:off x="2866644" y="1600200"/>
            <a:ext cx="2002536" cy="2468880"/>
          </a:xfrm>
          <a:prstGeom prst="roundRect">
            <a:avLst>
              <a:gd name="adj" fmla="val 274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3602736" y="1792224"/>
            <a:ext cx="530352" cy="530352"/>
          </a:xfrm>
          <a:prstGeom prst="ellipse">
            <a:avLst/>
          </a:prstGeom>
          <a:solidFill>
            <a:srgbClr val="1F5673"/>
          </a:solidFill>
          <a:ln w="12700">
            <a:solidFill>
              <a:srgbClr val="1F5673"/>
            </a:solidFill>
            <a:prstDash val="solid"/>
          </a:ln>
        </p:spPr>
      </p:sp>
      <p:sp>
        <p:nvSpPr>
          <p:cNvPr id="11" name="Text 9"/>
          <p:cNvSpPr txBox="1"/>
          <p:nvPr/>
        </p:nvSpPr>
        <p:spPr>
          <a:xfrm>
            <a:off x="3602736" y="179222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2994660" y="2432304"/>
            <a:ext cx="1746504" cy="310896"/>
          </a:xfrm>
          <a:prstGeom prst="rect">
            <a:avLst/>
          </a:prstGeom>
          <a:noFill/>
          <a:ln/>
        </p:spPr>
        <p:txBody>
          <a:bodyPr wrap="square" lIns="0" tIns="0" rIns="0" bIns="0" rtlCol="0" anchor="ctr"/>
          <a:lstStyle/>
          <a:p>
            <a:pPr algn="ctr" indent="0" marL="0">
              <a:buNone/>
            </a:pPr>
            <a:r>
              <a:rPr lang="en-US" sz="1350" b="1" dirty="0">
                <a:solidFill>
                  <a:srgbClr val="141C26"/>
                </a:solidFill>
                <a:latin typeface="Calibri" pitchFamily="34" charset="0"/>
                <a:ea typeface="Calibri" pitchFamily="34" charset="-122"/>
                <a:cs typeface="Calibri" pitchFamily="34" charset="-120"/>
              </a:rPr>
              <a:t>Add the node</a:t>
            </a:r>
            <a:endParaRPr lang="en-US" sz="1350" dirty="0"/>
          </a:p>
        </p:txBody>
      </p:sp>
      <p:sp>
        <p:nvSpPr>
          <p:cNvPr id="13" name="Text 11"/>
          <p:cNvSpPr txBox="1"/>
          <p:nvPr/>
        </p:nvSpPr>
        <p:spPr>
          <a:xfrm>
            <a:off x="3012948" y="2779776"/>
            <a:ext cx="1709928" cy="1188720"/>
          </a:xfrm>
          <a:prstGeom prst="rect">
            <a:avLst/>
          </a:prstGeom>
          <a:noFill/>
          <a:ln/>
        </p:spPr>
        <p:txBody>
          <a:bodyPr wrap="square" lIns="0" tIns="0" rIns="0" bIns="0" rtlCol="0" anchor="ctr"/>
          <a:lstStyle/>
          <a:p>
            <a:pPr algn="ctr" indent="0" marL="0">
              <a:lnSpc>
                <a:spcPct val="104000"/>
              </a:lnSpc>
              <a:buNone/>
            </a:pPr>
            <a:r>
              <a:rPr lang="en-US" sz="1100" dirty="0">
                <a:solidFill>
                  <a:srgbClr val="28313B"/>
                </a:solidFill>
                <a:latin typeface="Calibri" pitchFamily="34" charset="0"/>
                <a:ea typeface="Calibri" pitchFamily="34" charset="-122"/>
                <a:cs typeface="Calibri" pitchFamily="34" charset="-120"/>
              </a:rPr>
              <a:t>Manage Jenkins → Nodes → New Node. Give it a name and choose Permanent Agent.</a:t>
            </a:r>
            <a:endParaRPr lang="en-US" sz="1100" dirty="0"/>
          </a:p>
        </p:txBody>
      </p:sp>
      <p:sp>
        <p:nvSpPr>
          <p:cNvPr id="14" name="Shape 12"/>
          <p:cNvSpPr/>
          <p:nvPr/>
        </p:nvSpPr>
        <p:spPr>
          <a:xfrm>
            <a:off x="5093208" y="1600200"/>
            <a:ext cx="2002536" cy="2468880"/>
          </a:xfrm>
          <a:prstGeom prst="roundRect">
            <a:avLst>
              <a:gd name="adj" fmla="val 274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5829300" y="1792224"/>
            <a:ext cx="530352" cy="530352"/>
          </a:xfrm>
          <a:prstGeom prst="ellipse">
            <a:avLst/>
          </a:prstGeom>
          <a:solidFill>
            <a:srgbClr val="1F5673"/>
          </a:solidFill>
          <a:ln w="12700">
            <a:solidFill>
              <a:srgbClr val="1F5673"/>
            </a:solidFill>
            <a:prstDash val="solid"/>
          </a:ln>
        </p:spPr>
      </p:sp>
      <p:sp>
        <p:nvSpPr>
          <p:cNvPr id="16" name="Text 14"/>
          <p:cNvSpPr txBox="1"/>
          <p:nvPr/>
        </p:nvSpPr>
        <p:spPr>
          <a:xfrm>
            <a:off x="5829300" y="179222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7" name="Text 15"/>
          <p:cNvSpPr txBox="1"/>
          <p:nvPr/>
        </p:nvSpPr>
        <p:spPr>
          <a:xfrm>
            <a:off x="5221224" y="2432304"/>
            <a:ext cx="1746504" cy="310896"/>
          </a:xfrm>
          <a:prstGeom prst="rect">
            <a:avLst/>
          </a:prstGeom>
          <a:noFill/>
          <a:ln/>
        </p:spPr>
        <p:txBody>
          <a:bodyPr wrap="square" lIns="0" tIns="0" rIns="0" bIns="0" rtlCol="0" anchor="ctr"/>
          <a:lstStyle/>
          <a:p>
            <a:pPr algn="ctr" indent="0" marL="0">
              <a:buNone/>
            </a:pPr>
            <a:r>
              <a:rPr lang="en-US" sz="1350" b="1" dirty="0">
                <a:solidFill>
                  <a:srgbClr val="141C26"/>
                </a:solidFill>
                <a:latin typeface="Calibri" pitchFamily="34" charset="0"/>
                <a:ea typeface="Calibri" pitchFamily="34" charset="-122"/>
                <a:cs typeface="Calibri" pitchFamily="34" charset="-120"/>
              </a:rPr>
              <a:t>Set the essentials</a:t>
            </a:r>
            <a:endParaRPr lang="en-US" sz="1350" dirty="0"/>
          </a:p>
        </p:txBody>
      </p:sp>
      <p:sp>
        <p:nvSpPr>
          <p:cNvPr id="18" name="Text 16"/>
          <p:cNvSpPr txBox="1"/>
          <p:nvPr/>
        </p:nvSpPr>
        <p:spPr>
          <a:xfrm>
            <a:off x="5239512" y="2779776"/>
            <a:ext cx="1709928" cy="1188720"/>
          </a:xfrm>
          <a:prstGeom prst="rect">
            <a:avLst/>
          </a:prstGeom>
          <a:noFill/>
          <a:ln/>
        </p:spPr>
        <p:txBody>
          <a:bodyPr wrap="square" lIns="0" tIns="0" rIns="0" bIns="0" rtlCol="0" anchor="ctr"/>
          <a:lstStyle/>
          <a:p>
            <a:pPr algn="ctr" indent="0" marL="0">
              <a:lnSpc>
                <a:spcPct val="104000"/>
              </a:lnSpc>
              <a:buNone/>
            </a:pPr>
            <a:r>
              <a:rPr lang="en-US" sz="1100" dirty="0">
                <a:solidFill>
                  <a:srgbClr val="28313B"/>
                </a:solidFill>
                <a:latin typeface="Calibri" pitchFamily="34" charset="0"/>
                <a:ea typeface="Calibri" pitchFamily="34" charset="-122"/>
                <a:cs typeface="Calibri" pitchFamily="34" charset="-120"/>
              </a:rPr>
              <a:t>Remote root directory, number of executors, usage policy, and one or more labels.</a:t>
            </a:r>
            <a:endParaRPr lang="en-US" sz="1100" dirty="0"/>
          </a:p>
        </p:txBody>
      </p:sp>
      <p:sp>
        <p:nvSpPr>
          <p:cNvPr id="19" name="Shape 17"/>
          <p:cNvSpPr/>
          <p:nvPr/>
        </p:nvSpPr>
        <p:spPr>
          <a:xfrm>
            <a:off x="7319772" y="1600200"/>
            <a:ext cx="2002536" cy="2468880"/>
          </a:xfrm>
          <a:prstGeom prst="roundRect">
            <a:avLst>
              <a:gd name="adj" fmla="val 274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8055864" y="1792224"/>
            <a:ext cx="530352" cy="530352"/>
          </a:xfrm>
          <a:prstGeom prst="ellipse">
            <a:avLst/>
          </a:prstGeom>
          <a:solidFill>
            <a:srgbClr val="1F5673"/>
          </a:solidFill>
          <a:ln w="12700">
            <a:solidFill>
              <a:srgbClr val="1F5673"/>
            </a:solidFill>
            <a:prstDash val="solid"/>
          </a:ln>
        </p:spPr>
      </p:sp>
      <p:sp>
        <p:nvSpPr>
          <p:cNvPr id="21" name="Text 19"/>
          <p:cNvSpPr txBox="1"/>
          <p:nvPr/>
        </p:nvSpPr>
        <p:spPr>
          <a:xfrm>
            <a:off x="8055864" y="179222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2" name="Text 20"/>
          <p:cNvSpPr txBox="1"/>
          <p:nvPr/>
        </p:nvSpPr>
        <p:spPr>
          <a:xfrm>
            <a:off x="7447788" y="2432304"/>
            <a:ext cx="1746504" cy="310896"/>
          </a:xfrm>
          <a:prstGeom prst="rect">
            <a:avLst/>
          </a:prstGeom>
          <a:noFill/>
          <a:ln/>
        </p:spPr>
        <p:txBody>
          <a:bodyPr wrap="square" lIns="0" tIns="0" rIns="0" bIns="0" rtlCol="0" anchor="ctr"/>
          <a:lstStyle/>
          <a:p>
            <a:pPr algn="ctr" indent="0" marL="0">
              <a:buNone/>
            </a:pPr>
            <a:r>
              <a:rPr lang="en-US" sz="1350" b="1" dirty="0">
                <a:solidFill>
                  <a:srgbClr val="141C26"/>
                </a:solidFill>
                <a:latin typeface="Calibri" pitchFamily="34" charset="0"/>
                <a:ea typeface="Calibri" pitchFamily="34" charset="-122"/>
                <a:cs typeface="Calibri" pitchFamily="34" charset="-120"/>
              </a:rPr>
              <a:t>Choose the launch method</a:t>
            </a:r>
            <a:endParaRPr lang="en-US" sz="1350" dirty="0"/>
          </a:p>
        </p:txBody>
      </p:sp>
      <p:sp>
        <p:nvSpPr>
          <p:cNvPr id="23" name="Text 21"/>
          <p:cNvSpPr txBox="1"/>
          <p:nvPr/>
        </p:nvSpPr>
        <p:spPr>
          <a:xfrm>
            <a:off x="7466076" y="2779776"/>
            <a:ext cx="1709928" cy="1188720"/>
          </a:xfrm>
          <a:prstGeom prst="rect">
            <a:avLst/>
          </a:prstGeom>
          <a:noFill/>
          <a:ln/>
        </p:spPr>
        <p:txBody>
          <a:bodyPr wrap="square" lIns="0" tIns="0" rIns="0" bIns="0" rtlCol="0" anchor="ctr"/>
          <a:lstStyle/>
          <a:p>
            <a:pPr algn="ctr" indent="0" marL="0">
              <a:lnSpc>
                <a:spcPct val="104000"/>
              </a:lnSpc>
              <a:buNone/>
            </a:pPr>
            <a:r>
              <a:rPr lang="en-US" sz="1100" dirty="0">
                <a:solidFill>
                  <a:srgbClr val="28313B"/>
                </a:solidFill>
                <a:latin typeface="Calibri" pitchFamily="34" charset="0"/>
                <a:ea typeface="Calibri" pitchFamily="34" charset="-122"/>
                <a:cs typeface="Calibri" pitchFamily="34" charset="-120"/>
              </a:rPr>
              <a:t>Launch agents via SSH with a credential, or Launch agent by connecting it to the controller for inbound.</a:t>
            </a:r>
            <a:endParaRPr lang="en-US" sz="1100" dirty="0"/>
          </a:p>
        </p:txBody>
      </p:sp>
      <p:sp>
        <p:nvSpPr>
          <p:cNvPr id="24" name="Shape 22"/>
          <p:cNvSpPr/>
          <p:nvPr/>
        </p:nvSpPr>
        <p:spPr>
          <a:xfrm>
            <a:off x="9546336" y="1600200"/>
            <a:ext cx="2002536" cy="2468880"/>
          </a:xfrm>
          <a:prstGeom prst="roundRect">
            <a:avLst>
              <a:gd name="adj" fmla="val 274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10282428" y="1792224"/>
            <a:ext cx="530352" cy="530352"/>
          </a:xfrm>
          <a:prstGeom prst="ellipse">
            <a:avLst/>
          </a:prstGeom>
          <a:solidFill>
            <a:srgbClr val="1F5673"/>
          </a:solidFill>
          <a:ln w="12700">
            <a:solidFill>
              <a:srgbClr val="1F5673"/>
            </a:solidFill>
            <a:prstDash val="solid"/>
          </a:ln>
        </p:spPr>
      </p:sp>
      <p:sp>
        <p:nvSpPr>
          <p:cNvPr id="26" name="Text 24"/>
          <p:cNvSpPr txBox="1"/>
          <p:nvPr/>
        </p:nvSpPr>
        <p:spPr>
          <a:xfrm>
            <a:off x="10282428" y="1792224"/>
            <a:ext cx="530352" cy="53035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7" name="Text 25"/>
          <p:cNvSpPr txBox="1"/>
          <p:nvPr/>
        </p:nvSpPr>
        <p:spPr>
          <a:xfrm>
            <a:off x="9674352" y="2432304"/>
            <a:ext cx="1746504" cy="310896"/>
          </a:xfrm>
          <a:prstGeom prst="rect">
            <a:avLst/>
          </a:prstGeom>
          <a:noFill/>
          <a:ln/>
        </p:spPr>
        <p:txBody>
          <a:bodyPr wrap="square" lIns="0" tIns="0" rIns="0" bIns="0" rtlCol="0" anchor="ctr"/>
          <a:lstStyle/>
          <a:p>
            <a:pPr algn="ctr" indent="0" marL="0">
              <a:buNone/>
            </a:pPr>
            <a:r>
              <a:rPr lang="en-US" sz="1350" b="1" dirty="0">
                <a:solidFill>
                  <a:srgbClr val="141C26"/>
                </a:solidFill>
                <a:latin typeface="Calibri" pitchFamily="34" charset="0"/>
                <a:ea typeface="Calibri" pitchFamily="34" charset="-122"/>
                <a:cs typeface="Calibri" pitchFamily="34" charset="-120"/>
              </a:rPr>
              <a:t>Verify</a:t>
            </a:r>
            <a:endParaRPr lang="en-US" sz="1350" dirty="0"/>
          </a:p>
        </p:txBody>
      </p:sp>
      <p:sp>
        <p:nvSpPr>
          <p:cNvPr id="28" name="Text 26"/>
          <p:cNvSpPr txBox="1"/>
          <p:nvPr/>
        </p:nvSpPr>
        <p:spPr>
          <a:xfrm>
            <a:off x="9692640" y="2779776"/>
            <a:ext cx="1709928" cy="1188720"/>
          </a:xfrm>
          <a:prstGeom prst="rect">
            <a:avLst/>
          </a:prstGeom>
          <a:noFill/>
          <a:ln/>
        </p:spPr>
        <p:txBody>
          <a:bodyPr wrap="square" lIns="0" tIns="0" rIns="0" bIns="0" rtlCol="0" anchor="ctr"/>
          <a:lstStyle/>
          <a:p>
            <a:pPr algn="ctr" indent="0" marL="0">
              <a:lnSpc>
                <a:spcPct val="104000"/>
              </a:lnSpc>
              <a:buNone/>
            </a:pPr>
            <a:r>
              <a:rPr lang="en-US" sz="1100" dirty="0">
                <a:solidFill>
                  <a:srgbClr val="28313B"/>
                </a:solidFill>
                <a:latin typeface="Calibri" pitchFamily="34" charset="0"/>
                <a:ea typeface="Calibri" pitchFamily="34" charset="-122"/>
                <a:cs typeface="Calibri" pitchFamily="34" charset="-120"/>
              </a:rPr>
              <a:t>The node should show as connected in the Nodes list. Check its log if it does not.</a:t>
            </a:r>
            <a:endParaRPr lang="en-US" sz="1100" dirty="0"/>
          </a:p>
        </p:txBody>
      </p:sp>
      <p:sp>
        <p:nvSpPr>
          <p:cNvPr id="29" name="Shape 27"/>
          <p:cNvSpPr/>
          <p:nvPr/>
        </p:nvSpPr>
        <p:spPr>
          <a:xfrm>
            <a:off x="640080" y="4297680"/>
            <a:ext cx="5669280" cy="1783080"/>
          </a:xfrm>
          <a:prstGeom prst="roundRect">
            <a:avLst>
              <a:gd name="adj" fmla="val 2564"/>
            </a:avLst>
          </a:prstGeom>
          <a:solidFill>
            <a:srgbClr val="141C26"/>
          </a:solidFill>
          <a:ln w="12700">
            <a:solidFill>
              <a:srgbClr val="2C3E50"/>
            </a:solidFill>
            <a:prstDash val="solid"/>
          </a:ln>
        </p:spPr>
      </p:sp>
      <p:sp>
        <p:nvSpPr>
          <p:cNvPr id="30" name="Text 28"/>
          <p:cNvSpPr txBox="1"/>
          <p:nvPr/>
        </p:nvSpPr>
        <p:spPr>
          <a:xfrm>
            <a:off x="896112" y="449884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TARGETING AN AGENT FROM A PIPELINE</a:t>
            </a:r>
            <a:endParaRPr lang="en-US" sz="1250" dirty="0"/>
          </a:p>
        </p:txBody>
      </p:sp>
      <p:sp>
        <p:nvSpPr>
          <p:cNvPr id="31" name="Text 29"/>
          <p:cNvSpPr txBox="1"/>
          <p:nvPr/>
        </p:nvSpPr>
        <p:spPr>
          <a:xfrm>
            <a:off x="896112" y="4901184"/>
            <a:ext cx="5157216" cy="1014984"/>
          </a:xfrm>
          <a:prstGeom prst="rect">
            <a:avLst/>
          </a:prstGeom>
          <a:noFill/>
          <a:ln/>
        </p:spPr>
        <p:txBody>
          <a:bodyPr wrap="square" lIns="0" tIns="0" rIns="0" bIns="0" rtlCol="0" anchor="t"/>
          <a:lstStyle/>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pipeline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agent { label 'linux &amp;&amp; maven'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  stages { … }</a:t>
            </a:r>
            <a:endParaRPr lang="en-US" sz="1150" dirty="0"/>
          </a:p>
          <a:p>
            <a:pPr indent="0" marL="0">
              <a:lnSpc>
                <a:spcPct val="118000"/>
              </a:lnSpc>
              <a:buNone/>
            </a:pPr>
            <a:r>
              <a:rPr lang="en-US" sz="1150" dirty="0">
                <a:solidFill>
                  <a:srgbClr val="E3E9EF"/>
                </a:solidFill>
                <a:latin typeface="Courier New" pitchFamily="34" charset="0"/>
                <a:ea typeface="Courier New" pitchFamily="34" charset="-122"/>
                <a:cs typeface="Courier New" pitchFamily="34" charset="-120"/>
              </a:rPr>
              <a:t>}</a:t>
            </a:r>
            <a:endParaRPr lang="en-US" sz="1150" dirty="0"/>
          </a:p>
        </p:txBody>
      </p:sp>
      <p:sp>
        <p:nvSpPr>
          <p:cNvPr id="32" name="Shape 30"/>
          <p:cNvSpPr/>
          <p:nvPr/>
        </p:nvSpPr>
        <p:spPr>
          <a:xfrm>
            <a:off x="6675120" y="4297680"/>
            <a:ext cx="4873752" cy="548640"/>
          </a:xfrm>
          <a:prstGeom prst="roundRect">
            <a:avLst>
              <a:gd name="adj" fmla="val 8333"/>
            </a:avLst>
          </a:prstGeom>
          <a:solidFill>
            <a:srgbClr val="F1F4F7"/>
          </a:solidFill>
          <a:ln w="12700">
            <a:solidFill>
              <a:srgbClr val="DBE2EA"/>
            </a:solidFill>
            <a:prstDash val="solid"/>
          </a:ln>
        </p:spPr>
      </p:sp>
      <p:sp>
        <p:nvSpPr>
          <p:cNvPr id="33" name="Text 31"/>
          <p:cNvSpPr txBox="1"/>
          <p:nvPr/>
        </p:nvSpPr>
        <p:spPr>
          <a:xfrm>
            <a:off x="6903720" y="4297680"/>
            <a:ext cx="1097280" cy="54864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Labels</a:t>
            </a:r>
            <a:endParaRPr lang="en-US" sz="1250" dirty="0"/>
          </a:p>
        </p:txBody>
      </p:sp>
      <p:sp>
        <p:nvSpPr>
          <p:cNvPr id="34" name="Text 32"/>
          <p:cNvSpPr txBox="1"/>
          <p:nvPr/>
        </p:nvSpPr>
        <p:spPr>
          <a:xfrm>
            <a:off x="8046720" y="4297680"/>
            <a:ext cx="3337560" cy="548640"/>
          </a:xfrm>
          <a:prstGeom prst="rect">
            <a:avLst/>
          </a:prstGeom>
          <a:noFill/>
          <a:ln/>
        </p:spPr>
        <p:txBody>
          <a:bodyPr wrap="square" lIns="0" tIns="0" rIns="0" bIns="0" rtlCol="0" anchor="ctr"/>
          <a:lstStyle/>
          <a:p>
            <a:pPr indent="0" marL="0">
              <a:buNone/>
            </a:pPr>
            <a:r>
              <a:rPr lang="en-US" sz="1000" dirty="0">
                <a:solidFill>
                  <a:srgbClr val="28313B"/>
                </a:solidFill>
                <a:latin typeface="Calibri" pitchFamily="34" charset="0"/>
                <a:ea typeface="Calibri" pitchFamily="34" charset="-122"/>
                <a:cs typeface="Calibri" pitchFamily="34" charset="-120"/>
              </a:rPr>
              <a:t>Free-form tags such as linux, windows, docker or maven. Jobs ask for a label; Jenkins picks a matching node.</a:t>
            </a:r>
            <a:endParaRPr lang="en-US" sz="1000" dirty="0"/>
          </a:p>
        </p:txBody>
      </p:sp>
      <p:sp>
        <p:nvSpPr>
          <p:cNvPr id="35" name="Shape 33"/>
          <p:cNvSpPr/>
          <p:nvPr/>
        </p:nvSpPr>
        <p:spPr>
          <a:xfrm>
            <a:off x="6675120" y="4919472"/>
            <a:ext cx="4873752" cy="548640"/>
          </a:xfrm>
          <a:prstGeom prst="roundRect">
            <a:avLst>
              <a:gd name="adj" fmla="val 8333"/>
            </a:avLst>
          </a:prstGeom>
          <a:solidFill>
            <a:srgbClr val="FFFFFF"/>
          </a:solidFill>
          <a:ln w="12700">
            <a:solidFill>
              <a:srgbClr val="DBE2EA"/>
            </a:solidFill>
            <a:prstDash val="solid"/>
          </a:ln>
        </p:spPr>
      </p:sp>
      <p:sp>
        <p:nvSpPr>
          <p:cNvPr id="36" name="Text 34"/>
          <p:cNvSpPr txBox="1"/>
          <p:nvPr/>
        </p:nvSpPr>
        <p:spPr>
          <a:xfrm>
            <a:off x="6903720" y="4919472"/>
            <a:ext cx="1097280" cy="54864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Executors</a:t>
            </a:r>
            <a:endParaRPr lang="en-US" sz="1250" dirty="0"/>
          </a:p>
        </p:txBody>
      </p:sp>
      <p:sp>
        <p:nvSpPr>
          <p:cNvPr id="37" name="Text 35"/>
          <p:cNvSpPr txBox="1"/>
          <p:nvPr/>
        </p:nvSpPr>
        <p:spPr>
          <a:xfrm>
            <a:off x="8046720" y="4919472"/>
            <a:ext cx="3337560" cy="548640"/>
          </a:xfrm>
          <a:prstGeom prst="rect">
            <a:avLst/>
          </a:prstGeom>
          <a:noFill/>
          <a:ln/>
        </p:spPr>
        <p:txBody>
          <a:bodyPr wrap="square" lIns="0" tIns="0" rIns="0" bIns="0" rtlCol="0" anchor="ctr"/>
          <a:lstStyle/>
          <a:p>
            <a:pPr indent="0" marL="0">
              <a:buNone/>
            </a:pPr>
            <a:r>
              <a:rPr lang="en-US" sz="1000" dirty="0">
                <a:solidFill>
                  <a:srgbClr val="28313B"/>
                </a:solidFill>
                <a:latin typeface="Calibri" pitchFamily="34" charset="0"/>
                <a:ea typeface="Calibri" pitchFamily="34" charset="-122"/>
                <a:cs typeface="Calibri" pitchFamily="34" charset="-120"/>
              </a:rPr>
              <a:t>How many builds a node runs at once. A rough starting point is one per CPU core.</a:t>
            </a:r>
            <a:endParaRPr lang="en-US" sz="1000" dirty="0"/>
          </a:p>
        </p:txBody>
      </p:sp>
      <p:sp>
        <p:nvSpPr>
          <p:cNvPr id="38" name="Shape 36"/>
          <p:cNvSpPr/>
          <p:nvPr/>
        </p:nvSpPr>
        <p:spPr>
          <a:xfrm>
            <a:off x="6675120" y="5541264"/>
            <a:ext cx="4873752" cy="548640"/>
          </a:xfrm>
          <a:prstGeom prst="roundRect">
            <a:avLst>
              <a:gd name="adj" fmla="val 8333"/>
            </a:avLst>
          </a:prstGeom>
          <a:solidFill>
            <a:srgbClr val="F1F4F7"/>
          </a:solidFill>
          <a:ln w="12700">
            <a:solidFill>
              <a:srgbClr val="DBE2EA"/>
            </a:solidFill>
            <a:prstDash val="solid"/>
          </a:ln>
        </p:spPr>
      </p:sp>
      <p:sp>
        <p:nvSpPr>
          <p:cNvPr id="39" name="Text 37"/>
          <p:cNvSpPr txBox="1"/>
          <p:nvPr/>
        </p:nvSpPr>
        <p:spPr>
          <a:xfrm>
            <a:off x="6903720" y="5541264"/>
            <a:ext cx="1097280" cy="548640"/>
          </a:xfrm>
          <a:prstGeom prst="rect">
            <a:avLst/>
          </a:prstGeom>
          <a:noFill/>
          <a:ln/>
        </p:spPr>
        <p:txBody>
          <a:bodyPr wrap="square" lIns="0" tIns="0" rIns="0" bIns="0" rtlCol="0" anchor="ctr"/>
          <a:lstStyle/>
          <a:p>
            <a:pPr indent="0" marL="0">
              <a:buNone/>
            </a:pPr>
            <a:r>
              <a:rPr lang="en-US" sz="1250" b="1" dirty="0">
                <a:solidFill>
                  <a:srgbClr val="1F5673"/>
                </a:solidFill>
                <a:latin typeface="Calibri" pitchFamily="34" charset="0"/>
                <a:ea typeface="Calibri" pitchFamily="34" charset="-122"/>
                <a:cs typeface="Calibri" pitchFamily="34" charset="-120"/>
              </a:rPr>
              <a:t>Usage</a:t>
            </a:r>
            <a:endParaRPr lang="en-US" sz="1250" dirty="0"/>
          </a:p>
        </p:txBody>
      </p:sp>
      <p:sp>
        <p:nvSpPr>
          <p:cNvPr id="40" name="Text 38"/>
          <p:cNvSpPr txBox="1"/>
          <p:nvPr/>
        </p:nvSpPr>
        <p:spPr>
          <a:xfrm>
            <a:off x="8046720" y="5541264"/>
            <a:ext cx="3337560" cy="548640"/>
          </a:xfrm>
          <a:prstGeom prst="rect">
            <a:avLst/>
          </a:prstGeom>
          <a:noFill/>
          <a:ln/>
        </p:spPr>
        <p:txBody>
          <a:bodyPr wrap="square" lIns="0" tIns="0" rIns="0" bIns="0" rtlCol="0" anchor="ctr"/>
          <a:lstStyle/>
          <a:p>
            <a:pPr indent="0" marL="0">
              <a:buNone/>
            </a:pPr>
            <a:r>
              <a:rPr lang="en-US" sz="1000" dirty="0">
                <a:solidFill>
                  <a:srgbClr val="28313B"/>
                </a:solidFill>
                <a:latin typeface="Calibri" pitchFamily="34" charset="0"/>
                <a:ea typeface="Calibri" pitchFamily="34" charset="-122"/>
                <a:cs typeface="Calibri" pitchFamily="34" charset="-120"/>
              </a:rPr>
              <a:t>"Only build jobs with label expressions matching this node" reserves a machine for specific work.</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HANDS-ON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Lab 2 — pipelines and agents</a:t>
            </a:r>
            <a:endParaRPr lang="en-US" sz="3100" dirty="0"/>
          </a:p>
        </p:txBody>
      </p:sp>
      <p:sp>
        <p:nvSpPr>
          <p:cNvPr id="4" name="Shape 2"/>
          <p:cNvSpPr/>
          <p:nvPr/>
        </p:nvSpPr>
        <p:spPr>
          <a:xfrm>
            <a:off x="640080"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645920"/>
            <a:ext cx="2514600" cy="640080"/>
          </a:xfrm>
          <a:prstGeom prst="roundRect">
            <a:avLst>
              <a:gd name="adj" fmla="val 8571"/>
            </a:avLst>
          </a:prstGeom>
          <a:solidFill>
            <a:srgbClr val="1F5673"/>
          </a:solidFill>
          <a:ln w="12700">
            <a:solidFill>
              <a:srgbClr val="1F5673"/>
            </a:solidFill>
            <a:prstDash val="solid"/>
          </a:ln>
        </p:spPr>
      </p:sp>
      <p:sp>
        <p:nvSpPr>
          <p:cNvPr id="6" name="Text 4"/>
          <p:cNvSpPr txBox="1"/>
          <p:nvPr/>
        </p:nvSpPr>
        <p:spPr>
          <a:xfrm>
            <a:off x="877824"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Declarative</a:t>
            </a:r>
            <a:endParaRPr lang="en-US" sz="1450" dirty="0"/>
          </a:p>
        </p:txBody>
      </p:sp>
      <p:sp>
        <p:nvSpPr>
          <p:cNvPr id="7" name="Text 5"/>
          <p:cNvSpPr txBox="1"/>
          <p:nvPr/>
        </p:nvSpPr>
        <p:spPr>
          <a:xfrm>
            <a:off x="877824"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Write a Jenkinsfile with Build and Test stages</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tools and an environment variable</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post block for success and failure</a:t>
            </a:r>
            <a:endParaRPr lang="en-US" sz="1200" dirty="0"/>
          </a:p>
        </p:txBody>
      </p:sp>
      <p:sp>
        <p:nvSpPr>
          <p:cNvPr id="8" name="Shape 6"/>
          <p:cNvSpPr/>
          <p:nvPr/>
        </p:nvSpPr>
        <p:spPr>
          <a:xfrm>
            <a:off x="3456432"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9" name="Shape 7"/>
          <p:cNvSpPr/>
          <p:nvPr/>
        </p:nvSpPr>
        <p:spPr>
          <a:xfrm>
            <a:off x="3456432" y="1645920"/>
            <a:ext cx="2514600" cy="640080"/>
          </a:xfrm>
          <a:prstGeom prst="roundRect">
            <a:avLst>
              <a:gd name="adj" fmla="val 8571"/>
            </a:avLst>
          </a:prstGeom>
          <a:solidFill>
            <a:srgbClr val="1F5673"/>
          </a:solidFill>
          <a:ln w="12700">
            <a:solidFill>
              <a:srgbClr val="1F5673"/>
            </a:solidFill>
            <a:prstDash val="solid"/>
          </a:ln>
        </p:spPr>
      </p:sp>
      <p:sp>
        <p:nvSpPr>
          <p:cNvPr id="10" name="Text 8"/>
          <p:cNvSpPr txBox="1"/>
          <p:nvPr/>
        </p:nvSpPr>
        <p:spPr>
          <a:xfrm>
            <a:off x="3694176"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Extend</a:t>
            </a:r>
            <a:endParaRPr lang="en-US" sz="1450" dirty="0"/>
          </a:p>
        </p:txBody>
      </p:sp>
      <p:sp>
        <p:nvSpPr>
          <p:cNvPr id="11" name="Text 9"/>
          <p:cNvSpPr txBox="1"/>
          <p:nvPr/>
        </p:nvSpPr>
        <p:spPr>
          <a:xfrm>
            <a:off x="3694176"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stage that only runs on main</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Publish JUnit results in a post block</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Use the Snippet Generator for one step</a:t>
            </a:r>
            <a:endParaRPr lang="en-US" sz="1200" dirty="0"/>
          </a:p>
        </p:txBody>
      </p:sp>
      <p:sp>
        <p:nvSpPr>
          <p:cNvPr id="12" name="Shape 10"/>
          <p:cNvSpPr/>
          <p:nvPr/>
        </p:nvSpPr>
        <p:spPr>
          <a:xfrm>
            <a:off x="6272784"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3" name="Shape 11"/>
          <p:cNvSpPr/>
          <p:nvPr/>
        </p:nvSpPr>
        <p:spPr>
          <a:xfrm>
            <a:off x="6272784" y="1645920"/>
            <a:ext cx="2514600" cy="640080"/>
          </a:xfrm>
          <a:prstGeom prst="roundRect">
            <a:avLst>
              <a:gd name="adj" fmla="val 8571"/>
            </a:avLst>
          </a:prstGeom>
          <a:solidFill>
            <a:srgbClr val="1F5673"/>
          </a:solidFill>
          <a:ln w="12700">
            <a:solidFill>
              <a:srgbClr val="1F5673"/>
            </a:solidFill>
            <a:prstDash val="solid"/>
          </a:ln>
        </p:spPr>
      </p:sp>
      <p:sp>
        <p:nvSpPr>
          <p:cNvPr id="14" name="Text 12"/>
          <p:cNvSpPr txBox="1"/>
          <p:nvPr/>
        </p:nvSpPr>
        <p:spPr>
          <a:xfrm>
            <a:off x="6510528"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Agent</a:t>
            </a:r>
            <a:endParaRPr lang="en-US" sz="1450" dirty="0"/>
          </a:p>
        </p:txBody>
      </p:sp>
      <p:sp>
        <p:nvSpPr>
          <p:cNvPr id="15" name="Text 13"/>
          <p:cNvSpPr txBox="1"/>
          <p:nvPr/>
        </p:nvSpPr>
        <p:spPr>
          <a:xfrm>
            <a:off x="6510528"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second node (a container is fine)</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Give it the label linux</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Confirm it connects</a:t>
            </a:r>
            <a:endParaRPr lang="en-US" sz="1200" dirty="0"/>
          </a:p>
        </p:txBody>
      </p:sp>
      <p:sp>
        <p:nvSpPr>
          <p:cNvPr id="16" name="Shape 14"/>
          <p:cNvSpPr/>
          <p:nvPr/>
        </p:nvSpPr>
        <p:spPr>
          <a:xfrm>
            <a:off x="9089136"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9089136" y="1645920"/>
            <a:ext cx="2514600" cy="640080"/>
          </a:xfrm>
          <a:prstGeom prst="roundRect">
            <a:avLst>
              <a:gd name="adj" fmla="val 8571"/>
            </a:avLst>
          </a:prstGeom>
          <a:solidFill>
            <a:srgbClr val="2C3E50"/>
          </a:solidFill>
          <a:ln w="12700">
            <a:solidFill>
              <a:srgbClr val="2C3E50"/>
            </a:solidFill>
            <a:prstDash val="solid"/>
          </a:ln>
        </p:spPr>
      </p:sp>
      <p:sp>
        <p:nvSpPr>
          <p:cNvPr id="18" name="Text 16"/>
          <p:cNvSpPr txBox="1"/>
          <p:nvPr/>
        </p:nvSpPr>
        <p:spPr>
          <a:xfrm>
            <a:off x="9326880"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Target</a:t>
            </a:r>
            <a:endParaRPr lang="en-US" sz="1450" dirty="0"/>
          </a:p>
        </p:txBody>
      </p:sp>
      <p:sp>
        <p:nvSpPr>
          <p:cNvPr id="19" name="Text 17"/>
          <p:cNvSpPr txBox="1"/>
          <p:nvPr/>
        </p:nvSpPr>
        <p:spPr>
          <a:xfrm>
            <a:off x="9326880"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Change agent any to a label expression</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Run the build and confirm where it ran</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Set controller executors to zero</a:t>
            </a:r>
            <a:endParaRPr lang="en-US" sz="1200" dirty="0"/>
          </a:p>
        </p:txBody>
      </p:sp>
      <p:sp>
        <p:nvSpPr>
          <p:cNvPr id="20" name="Shape 18"/>
          <p:cNvSpPr/>
          <p:nvPr/>
        </p:nvSpPr>
        <p:spPr>
          <a:xfrm>
            <a:off x="640080" y="5074920"/>
            <a:ext cx="10908792" cy="1005840"/>
          </a:xfrm>
          <a:prstGeom prst="roundRect">
            <a:avLst>
              <a:gd name="adj" fmla="val 5455"/>
            </a:avLst>
          </a:prstGeom>
          <a:solidFill>
            <a:srgbClr val="141C26"/>
          </a:solidFill>
          <a:ln w="12700">
            <a:solidFill>
              <a:srgbClr val="141C26"/>
            </a:solidFill>
            <a:prstDash val="solid"/>
          </a:ln>
        </p:spPr>
      </p:sp>
      <p:sp>
        <p:nvSpPr>
          <p:cNvPr id="21" name="Text 19"/>
          <p:cNvSpPr txBox="1"/>
          <p:nvPr/>
        </p:nvSpPr>
        <p:spPr>
          <a:xfrm>
            <a:off x="1005840" y="5074920"/>
            <a:ext cx="10177272"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35 minutes. Check the build's console output to confirm which node executed it — that line is the proof the agent is being used.</a:t>
            </a:r>
            <a:endParaRPr lang="en-US" sz="14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141C26"/>
        </a:solidFill>
      </p:bgPr>
    </p:bg>
    <p:spTree>
      <p:nvGrpSpPr>
        <p:cNvPr id="1" name=""/>
        <p:cNvGrpSpPr/>
        <p:nvPr/>
      </p:nvGrpSpPr>
      <p:grpSpPr>
        <a:xfrm>
          <a:off x="0" y="0"/>
          <a:ext cx="0" cy="0"/>
          <a:chOff x="0" y="0"/>
          <a:chExt cx="0" cy="0"/>
        </a:xfrm>
      </p:grpSpPr>
      <p:sp>
        <p:nvSpPr>
          <p:cNvPr id="2" name="Shape 0"/>
          <p:cNvSpPr/>
          <p:nvPr/>
        </p:nvSpPr>
        <p:spPr>
          <a:xfrm>
            <a:off x="8778240" y="-1737360"/>
            <a:ext cx="5852160" cy="5852160"/>
          </a:xfrm>
          <a:prstGeom prst="ellipse">
            <a:avLst/>
          </a:prstGeom>
          <a:solidFill>
            <a:srgbClr val="2C3E50"/>
          </a:solidFill>
          <a:ln w="12700">
            <a:solidFill>
              <a:srgbClr val="2C3E50"/>
            </a:solidFill>
            <a:prstDash val="solid"/>
          </a:ln>
        </p:spPr>
      </p:sp>
      <p:sp>
        <p:nvSpPr>
          <p:cNvPr id="3" name="Shape 1"/>
          <p:cNvSpPr/>
          <p:nvPr/>
        </p:nvSpPr>
        <p:spPr>
          <a:xfrm>
            <a:off x="10058400" y="3657600"/>
            <a:ext cx="3657600" cy="3657600"/>
          </a:xfrm>
          <a:prstGeom prst="ellipse">
            <a:avLst/>
          </a:prstGeom>
          <a:solidFill>
            <a:srgbClr val="1F5673"/>
          </a:solidFill>
          <a:ln w="12700">
            <a:solidFill>
              <a:srgbClr val="1F5673"/>
            </a:solidFill>
            <a:prstDash val="solid"/>
          </a:ln>
        </p:spPr>
      </p:sp>
      <p:sp>
        <p:nvSpPr>
          <p:cNvPr id="4" name="Text 2"/>
          <p:cNvSpPr txBox="1"/>
          <p:nvPr/>
        </p:nvSpPr>
        <p:spPr>
          <a:xfrm>
            <a:off x="640080" y="1691640"/>
            <a:ext cx="7680960" cy="274320"/>
          </a:xfrm>
          <a:prstGeom prst="rect">
            <a:avLst/>
          </a:prstGeom>
          <a:noFill/>
          <a:ln/>
        </p:spPr>
        <p:txBody>
          <a:bodyPr wrap="square" lIns="0" tIns="0" rIns="0" bIns="0" rtlCol="0" anchor="ctr"/>
          <a:lstStyle/>
          <a:p>
            <a:pPr indent="0" marL="0">
              <a:buNone/>
            </a:pPr>
            <a:r>
              <a:rPr lang="en-US" sz="1250" b="1" spc="300" kern="0" dirty="0">
                <a:solidFill>
                  <a:srgbClr val="6FB3D2"/>
                </a:solidFill>
                <a:latin typeface="Calibri" pitchFamily="34" charset="0"/>
                <a:ea typeface="Calibri" pitchFamily="34" charset="-122"/>
                <a:cs typeface="Calibri" pitchFamily="34" charset="-120"/>
              </a:rPr>
              <a:t>SESSION 03  ·  2 HOURS</a:t>
            </a:r>
            <a:endParaRPr lang="en-US" sz="1250" dirty="0"/>
          </a:p>
        </p:txBody>
      </p:sp>
      <p:sp>
        <p:nvSpPr>
          <p:cNvPr id="5" name="Text 3"/>
          <p:cNvSpPr txBox="1"/>
          <p:nvPr/>
        </p:nvSpPr>
        <p:spPr>
          <a:xfrm>
            <a:off x="640080" y="2057400"/>
            <a:ext cx="7863840" cy="1371600"/>
          </a:xfrm>
          <a:prstGeom prst="rect">
            <a:avLst/>
          </a:prstGeom>
          <a:noFill/>
          <a:ln/>
        </p:spPr>
        <p:txBody>
          <a:bodyPr wrap="square" lIns="0" tIns="0" rIns="0" bIns="0" rtlCol="0" anchor="ctr"/>
          <a:lstStyle/>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Deployment, triggers</a:t>
            </a:r>
            <a:endParaRPr lang="en-US" sz="4000" dirty="0"/>
          </a:p>
          <a:p>
            <a:pPr indent="0" marL="0">
              <a:lnSpc>
                <a:spcPct val="100000"/>
              </a:lnSpc>
              <a:buNone/>
            </a:pPr>
            <a:r>
              <a:rPr lang="en-US" sz="4000" b="1" dirty="0">
                <a:solidFill>
                  <a:srgbClr val="FFFFFF"/>
                </a:solidFill>
                <a:latin typeface="Cambria" pitchFamily="34" charset="0"/>
                <a:ea typeface="Cambria" pitchFamily="34" charset="-122"/>
                <a:cs typeface="Cambria" pitchFamily="34" charset="-120"/>
              </a:rPr>
              <a:t>and administration</a:t>
            </a:r>
            <a:endParaRPr lang="en-US" sz="4000" dirty="0"/>
          </a:p>
        </p:txBody>
      </p:sp>
      <p:sp>
        <p:nvSpPr>
          <p:cNvPr id="6" name="Text 4"/>
          <p:cNvSpPr txBox="1"/>
          <p:nvPr/>
        </p:nvSpPr>
        <p:spPr>
          <a:xfrm>
            <a:off x="640080" y="3429000"/>
            <a:ext cx="7132320" cy="457200"/>
          </a:xfrm>
          <a:prstGeom prst="rect">
            <a:avLst/>
          </a:prstGeom>
          <a:noFill/>
          <a:ln/>
        </p:spPr>
        <p:txBody>
          <a:bodyPr wrap="square" lIns="0" tIns="0" rIns="0" bIns="0" rtlCol="0" anchor="ctr"/>
          <a:lstStyle/>
          <a:p>
            <a:pPr indent="0" marL="0">
              <a:buNone/>
            </a:pPr>
            <a:r>
              <a:rPr lang="en-US" sz="1550" dirty="0">
                <a:solidFill>
                  <a:srgbClr val="AAB4C0"/>
                </a:solidFill>
                <a:latin typeface="Calibri" pitchFamily="34" charset="0"/>
                <a:ea typeface="Calibri" pitchFamily="34" charset="-122"/>
                <a:cs typeface="Calibri" pitchFamily="34" charset="-120"/>
              </a:rPr>
              <a:t>Getting the artifact onto a running server, reacting to events, and keeping Jenkins healthy.</a:t>
            </a:r>
            <a:endParaRPr lang="en-US" sz="1550" dirty="0"/>
          </a:p>
        </p:txBody>
      </p:sp>
      <p:sp>
        <p:nvSpPr>
          <p:cNvPr id="7" name="Shape 5"/>
          <p:cNvSpPr/>
          <p:nvPr/>
        </p:nvSpPr>
        <p:spPr>
          <a:xfrm>
            <a:off x="640080" y="4114800"/>
            <a:ext cx="3419856" cy="1234440"/>
          </a:xfrm>
          <a:prstGeom prst="roundRect">
            <a:avLst>
              <a:gd name="adj" fmla="val 4444"/>
            </a:avLst>
          </a:prstGeom>
          <a:solidFill>
            <a:srgbClr val="2C3E50"/>
          </a:solidFill>
          <a:ln w="12700">
            <a:solidFill>
              <a:srgbClr val="3D5165"/>
            </a:solidFill>
            <a:prstDash val="solid"/>
          </a:ln>
        </p:spPr>
      </p:sp>
      <p:sp>
        <p:nvSpPr>
          <p:cNvPr id="8" name="Text 6"/>
          <p:cNvSpPr txBox="1"/>
          <p:nvPr/>
        </p:nvSpPr>
        <p:spPr>
          <a:xfrm>
            <a:off x="896112"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01</a:t>
            </a:r>
            <a:endParaRPr lang="en-US" sz="1150" dirty="0"/>
          </a:p>
        </p:txBody>
      </p:sp>
      <p:sp>
        <p:nvSpPr>
          <p:cNvPr id="9" name="Text 7"/>
          <p:cNvSpPr txBox="1"/>
          <p:nvPr/>
        </p:nvSpPr>
        <p:spPr>
          <a:xfrm>
            <a:off x="896112"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Tomcat setup and automated deployment</a:t>
            </a:r>
            <a:endParaRPr lang="en-US" sz="1350" dirty="0"/>
          </a:p>
        </p:txBody>
      </p:sp>
      <p:sp>
        <p:nvSpPr>
          <p:cNvPr id="10" name="Shape 8"/>
          <p:cNvSpPr/>
          <p:nvPr/>
        </p:nvSpPr>
        <p:spPr>
          <a:xfrm>
            <a:off x="4384548" y="4114800"/>
            <a:ext cx="3419856" cy="1234440"/>
          </a:xfrm>
          <a:prstGeom prst="roundRect">
            <a:avLst>
              <a:gd name="adj" fmla="val 4444"/>
            </a:avLst>
          </a:prstGeom>
          <a:solidFill>
            <a:srgbClr val="2C3E50"/>
          </a:solidFill>
          <a:ln w="12700">
            <a:solidFill>
              <a:srgbClr val="3D5165"/>
            </a:solidFill>
            <a:prstDash val="solid"/>
          </a:ln>
        </p:spPr>
      </p:sp>
      <p:sp>
        <p:nvSpPr>
          <p:cNvPr id="11" name="Text 9"/>
          <p:cNvSpPr txBox="1"/>
          <p:nvPr/>
        </p:nvSpPr>
        <p:spPr>
          <a:xfrm>
            <a:off x="4640580"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02</a:t>
            </a:r>
            <a:endParaRPr lang="en-US" sz="1150" dirty="0"/>
          </a:p>
        </p:txBody>
      </p:sp>
      <p:sp>
        <p:nvSpPr>
          <p:cNvPr id="12" name="Text 10"/>
          <p:cNvSpPr txBox="1"/>
          <p:nvPr/>
        </p:nvSpPr>
        <p:spPr>
          <a:xfrm>
            <a:off x="4640580"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Build triggers and email notifications</a:t>
            </a:r>
            <a:endParaRPr lang="en-US" sz="1350" dirty="0"/>
          </a:p>
        </p:txBody>
      </p:sp>
      <p:sp>
        <p:nvSpPr>
          <p:cNvPr id="13" name="Shape 11"/>
          <p:cNvSpPr/>
          <p:nvPr/>
        </p:nvSpPr>
        <p:spPr>
          <a:xfrm>
            <a:off x="8129016" y="4114800"/>
            <a:ext cx="3419856" cy="1234440"/>
          </a:xfrm>
          <a:prstGeom prst="roundRect">
            <a:avLst>
              <a:gd name="adj" fmla="val 4444"/>
            </a:avLst>
          </a:prstGeom>
          <a:solidFill>
            <a:srgbClr val="2C3E50"/>
          </a:solidFill>
          <a:ln w="12700">
            <a:solidFill>
              <a:srgbClr val="3D5165"/>
            </a:solidFill>
            <a:prstDash val="solid"/>
          </a:ln>
        </p:spPr>
      </p:sp>
      <p:sp>
        <p:nvSpPr>
          <p:cNvPr id="14" name="Text 12"/>
          <p:cNvSpPr txBox="1"/>
          <p:nvPr/>
        </p:nvSpPr>
        <p:spPr>
          <a:xfrm>
            <a:off x="8385048" y="4279392"/>
            <a:ext cx="2907792" cy="274320"/>
          </a:xfrm>
          <a:prstGeom prst="rect">
            <a:avLst/>
          </a:prstGeom>
          <a:noFill/>
          <a:ln/>
        </p:spPr>
        <p:txBody>
          <a:bodyPr wrap="square" lIns="0" tIns="0" rIns="0" bIns="0" rtlCol="0" anchor="ctr"/>
          <a:lstStyle/>
          <a:p>
            <a:pPr indent="0" marL="0">
              <a:buNone/>
            </a:pPr>
            <a:r>
              <a:rPr lang="en-US" sz="1150" b="1" spc="150" kern="0" dirty="0">
                <a:solidFill>
                  <a:srgbClr val="6FB3D2"/>
                </a:solidFill>
                <a:latin typeface="Calibri" pitchFamily="34" charset="0"/>
                <a:ea typeface="Calibri" pitchFamily="34" charset="-122"/>
                <a:cs typeface="Calibri" pitchFamily="34" charset="-120"/>
              </a:rPr>
              <a:t>03</a:t>
            </a:r>
            <a:endParaRPr lang="en-US" sz="1150" dirty="0"/>
          </a:p>
        </p:txBody>
      </p:sp>
      <p:sp>
        <p:nvSpPr>
          <p:cNvPr id="15" name="Text 13"/>
          <p:cNvSpPr txBox="1"/>
          <p:nvPr/>
        </p:nvSpPr>
        <p:spPr>
          <a:xfrm>
            <a:off x="8385048" y="4590288"/>
            <a:ext cx="2907792" cy="640080"/>
          </a:xfrm>
          <a:prstGeom prst="rect">
            <a:avLst/>
          </a:prstGeom>
          <a:noFill/>
          <a:ln/>
        </p:spPr>
        <p:txBody>
          <a:bodyPr wrap="square" lIns="0" tIns="0" rIns="0" bIns="0" rtlCol="0" anchor="ctr"/>
          <a:lstStyle/>
          <a:p>
            <a:pPr indent="0" marL="0">
              <a:lnSpc>
                <a:spcPct val="106000"/>
              </a:lnSpc>
              <a:buNone/>
            </a:pPr>
            <a:r>
              <a:rPr lang="en-US" sz="1350" dirty="0">
                <a:solidFill>
                  <a:srgbClr val="DBE2EA"/>
                </a:solidFill>
                <a:latin typeface="Calibri" pitchFamily="34" charset="0"/>
                <a:ea typeface="Calibri" pitchFamily="34" charset="-122"/>
                <a:cs typeface="Calibri" pitchFamily="34" charset="-120"/>
              </a:rPr>
              <a:t>Security, backup and management</a:t>
            </a:r>
            <a:endParaRPr lang="en-US" sz="13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DEPLOYMENT</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Configuring Tomcat for automated deployment</a:t>
            </a:r>
            <a:endParaRPr lang="en-US" sz="3100" dirty="0"/>
          </a:p>
        </p:txBody>
      </p:sp>
      <p:sp>
        <p:nvSpPr>
          <p:cNvPr id="4" name="Shape 2"/>
          <p:cNvSpPr/>
          <p:nvPr/>
        </p:nvSpPr>
        <p:spPr>
          <a:xfrm>
            <a:off x="640080" y="1481328"/>
            <a:ext cx="5669280" cy="2286000"/>
          </a:xfrm>
          <a:prstGeom prst="roundRect">
            <a:avLst>
              <a:gd name="adj" fmla="val 2000"/>
            </a:avLst>
          </a:prstGeom>
          <a:solidFill>
            <a:srgbClr val="141C26"/>
          </a:solidFill>
          <a:ln w="12700">
            <a:solidFill>
              <a:srgbClr val="2C3E50"/>
            </a:solidFill>
            <a:prstDash val="solid"/>
          </a:ln>
        </p:spPr>
      </p:sp>
      <p:sp>
        <p:nvSpPr>
          <p:cNvPr id="5" name="Text 3"/>
          <p:cNvSpPr txBox="1"/>
          <p:nvPr/>
        </p:nvSpPr>
        <p:spPr>
          <a:xfrm>
            <a:off x="896112" y="1682496"/>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INSTALL AND START</a:t>
            </a:r>
            <a:endParaRPr lang="en-US" sz="1250" dirty="0"/>
          </a:p>
        </p:txBody>
      </p:sp>
      <p:sp>
        <p:nvSpPr>
          <p:cNvPr id="6" name="Text 4"/>
          <p:cNvSpPr txBox="1"/>
          <p:nvPr/>
        </p:nvSpPr>
        <p:spPr>
          <a:xfrm>
            <a:off x="896112" y="2084832"/>
            <a:ext cx="5157216" cy="1517904"/>
          </a:xfrm>
          <a:prstGeom prst="rect">
            <a:avLst/>
          </a:prstGeom>
          <a:noFill/>
          <a:ln/>
        </p:spPr>
        <p:txBody>
          <a:bodyPr wrap="square" lIns="0" tIns="0" rIns="0" bIns="0" rtlCol="0" anchor="t"/>
          <a:lstStyle/>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sudo apt install tomcat10          # or download the tarball</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sudo systemctl enable --now tomcat10</a:t>
            </a:r>
            <a:endParaRPr lang="en-US" sz="1050" dirty="0"/>
          </a:p>
          <a:p>
            <a:pPr indent="0" marL="0">
              <a:lnSpc>
                <a:spcPct val="118000"/>
              </a:lnSpc>
              <a:buNone/>
            </a:pP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default port 8080 — change it if Jenkins is already there</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conf/server.xml:  &lt;Connector port="8090" … /&gt;</a:t>
            </a:r>
            <a:endParaRPr lang="en-US" sz="1050" dirty="0"/>
          </a:p>
        </p:txBody>
      </p:sp>
      <p:sp>
        <p:nvSpPr>
          <p:cNvPr id="7" name="Shape 5"/>
          <p:cNvSpPr/>
          <p:nvPr/>
        </p:nvSpPr>
        <p:spPr>
          <a:xfrm>
            <a:off x="6675120" y="1481328"/>
            <a:ext cx="4873752" cy="2286000"/>
          </a:xfrm>
          <a:prstGeom prst="roundRect">
            <a:avLst>
              <a:gd name="adj" fmla="val 2000"/>
            </a:avLst>
          </a:prstGeom>
          <a:solidFill>
            <a:srgbClr val="141C26"/>
          </a:solidFill>
          <a:ln w="12700">
            <a:solidFill>
              <a:srgbClr val="2C3E50"/>
            </a:solidFill>
            <a:prstDash val="solid"/>
          </a:ln>
        </p:spPr>
      </p:sp>
      <p:sp>
        <p:nvSpPr>
          <p:cNvPr id="8" name="Text 6"/>
          <p:cNvSpPr txBox="1"/>
          <p:nvPr/>
        </p:nvSpPr>
        <p:spPr>
          <a:xfrm>
            <a:off x="6931152" y="1682496"/>
            <a:ext cx="4361688"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conf/tomcat-users.xml</a:t>
            </a:r>
            <a:endParaRPr lang="en-US" sz="1250" dirty="0"/>
          </a:p>
        </p:txBody>
      </p:sp>
      <p:sp>
        <p:nvSpPr>
          <p:cNvPr id="9" name="Text 7"/>
          <p:cNvSpPr txBox="1"/>
          <p:nvPr/>
        </p:nvSpPr>
        <p:spPr>
          <a:xfrm>
            <a:off x="6931152" y="2084832"/>
            <a:ext cx="4361688" cy="1517904"/>
          </a:xfrm>
          <a:prstGeom prst="rect">
            <a:avLst/>
          </a:prstGeom>
          <a:noFill/>
          <a:ln/>
        </p:spPr>
        <p:txBody>
          <a:bodyPr wrap="square" lIns="0" tIns="0" rIns="0" bIns="0" rtlCol="0" anchor="t"/>
          <a:lstStyle/>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&lt;role rolename="manager-script"/&gt;</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&lt;user username="deployer"</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password="…"</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roles="manager-script"/&gt;</a:t>
            </a:r>
            <a:endParaRPr lang="en-US" sz="1050" dirty="0"/>
          </a:p>
        </p:txBody>
      </p:sp>
      <p:sp>
        <p:nvSpPr>
          <p:cNvPr id="10" name="Shape 8"/>
          <p:cNvSpPr/>
          <p:nvPr/>
        </p:nvSpPr>
        <p:spPr>
          <a:xfrm>
            <a:off x="640080" y="393192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1" name="Shape 9"/>
          <p:cNvSpPr/>
          <p:nvPr/>
        </p:nvSpPr>
        <p:spPr>
          <a:xfrm>
            <a:off x="877824" y="4169664"/>
            <a:ext cx="420624" cy="420624"/>
          </a:xfrm>
          <a:prstGeom prst="ellipse">
            <a:avLst/>
          </a:prstGeom>
          <a:solidFill>
            <a:srgbClr val="1F5673"/>
          </a:solidFill>
          <a:ln w="12700">
            <a:solidFill>
              <a:srgbClr val="1F5673"/>
            </a:solidFill>
            <a:prstDash val="solid"/>
          </a:ln>
        </p:spPr>
      </p:sp>
      <p:sp>
        <p:nvSpPr>
          <p:cNvPr id="12" name="Text 10"/>
          <p:cNvSpPr txBox="1"/>
          <p:nvPr/>
        </p:nvSpPr>
        <p:spPr>
          <a:xfrm>
            <a:off x="877824"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3" name="Text 11"/>
          <p:cNvSpPr txBox="1"/>
          <p:nvPr/>
        </p:nvSpPr>
        <p:spPr>
          <a:xfrm>
            <a:off x="877824" y="471830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The manager application</a:t>
            </a:r>
            <a:endParaRPr lang="en-US" sz="1350" dirty="0"/>
          </a:p>
        </p:txBody>
      </p:sp>
      <p:sp>
        <p:nvSpPr>
          <p:cNvPr id="14" name="Text 12"/>
          <p:cNvSpPr txBox="1"/>
          <p:nvPr/>
        </p:nvSpPr>
        <p:spPr>
          <a:xfrm>
            <a:off x="877824" y="506577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Tomcat's manager app accepts a WAR over HTTP and deploys it. Jenkins uses that endpoint rather than copying files.</a:t>
            </a:r>
            <a:endParaRPr lang="en-US" sz="1150" dirty="0"/>
          </a:p>
        </p:txBody>
      </p:sp>
      <p:sp>
        <p:nvSpPr>
          <p:cNvPr id="15" name="Shape 13"/>
          <p:cNvSpPr/>
          <p:nvPr/>
        </p:nvSpPr>
        <p:spPr>
          <a:xfrm>
            <a:off x="3456432" y="393192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6" name="Shape 14"/>
          <p:cNvSpPr/>
          <p:nvPr/>
        </p:nvSpPr>
        <p:spPr>
          <a:xfrm>
            <a:off x="3694176" y="4169664"/>
            <a:ext cx="420624" cy="420624"/>
          </a:xfrm>
          <a:prstGeom prst="ellipse">
            <a:avLst/>
          </a:prstGeom>
          <a:solidFill>
            <a:srgbClr val="1F5673"/>
          </a:solidFill>
          <a:ln w="12700">
            <a:solidFill>
              <a:srgbClr val="1F5673"/>
            </a:solidFill>
            <a:prstDash val="solid"/>
          </a:ln>
        </p:spPr>
      </p:sp>
      <p:sp>
        <p:nvSpPr>
          <p:cNvPr id="17" name="Text 15"/>
          <p:cNvSpPr txBox="1"/>
          <p:nvPr/>
        </p:nvSpPr>
        <p:spPr>
          <a:xfrm>
            <a:off x="3694176"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8" name="Text 16"/>
          <p:cNvSpPr txBox="1"/>
          <p:nvPr/>
        </p:nvSpPr>
        <p:spPr>
          <a:xfrm>
            <a:off x="3694176" y="471830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manager-script, not manager-gui</a:t>
            </a:r>
            <a:endParaRPr lang="en-US" sz="1350" dirty="0"/>
          </a:p>
        </p:txBody>
      </p:sp>
      <p:sp>
        <p:nvSpPr>
          <p:cNvPr id="19" name="Text 17"/>
          <p:cNvSpPr txBox="1"/>
          <p:nvPr/>
        </p:nvSpPr>
        <p:spPr>
          <a:xfrm>
            <a:off x="3694176" y="506577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script role is the one that allows programmatic deployment. Grant only what the deployment needs.</a:t>
            </a:r>
            <a:endParaRPr lang="en-US" sz="1150" dirty="0"/>
          </a:p>
        </p:txBody>
      </p:sp>
      <p:sp>
        <p:nvSpPr>
          <p:cNvPr id="20" name="Shape 18"/>
          <p:cNvSpPr/>
          <p:nvPr/>
        </p:nvSpPr>
        <p:spPr>
          <a:xfrm>
            <a:off x="6272784" y="393192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1" name="Shape 19"/>
          <p:cNvSpPr/>
          <p:nvPr/>
        </p:nvSpPr>
        <p:spPr>
          <a:xfrm>
            <a:off x="6510528" y="4169664"/>
            <a:ext cx="420624" cy="420624"/>
          </a:xfrm>
          <a:prstGeom prst="ellipse">
            <a:avLst/>
          </a:prstGeom>
          <a:solidFill>
            <a:srgbClr val="1F5673"/>
          </a:solidFill>
          <a:ln w="12700">
            <a:solidFill>
              <a:srgbClr val="1F5673"/>
            </a:solidFill>
            <a:prstDash val="solid"/>
          </a:ln>
        </p:spPr>
      </p:sp>
      <p:sp>
        <p:nvSpPr>
          <p:cNvPr id="22" name="Text 20"/>
          <p:cNvSpPr txBox="1"/>
          <p:nvPr/>
        </p:nvSpPr>
        <p:spPr>
          <a:xfrm>
            <a:off x="6510528"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Text 21"/>
          <p:cNvSpPr txBox="1"/>
          <p:nvPr/>
        </p:nvSpPr>
        <p:spPr>
          <a:xfrm>
            <a:off x="6510528" y="471830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Port conflicts</a:t>
            </a:r>
            <a:endParaRPr lang="en-US" sz="1350" dirty="0"/>
          </a:p>
        </p:txBody>
      </p:sp>
      <p:sp>
        <p:nvSpPr>
          <p:cNvPr id="24" name="Text 22"/>
          <p:cNvSpPr txBox="1"/>
          <p:nvPr/>
        </p:nvSpPr>
        <p:spPr>
          <a:xfrm>
            <a:off x="6510528" y="506577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Jenkins and Tomcat both default to 8080. Move one of them before you start, or nothing will work.</a:t>
            </a:r>
            <a:endParaRPr lang="en-US" sz="1150" dirty="0"/>
          </a:p>
        </p:txBody>
      </p:sp>
      <p:sp>
        <p:nvSpPr>
          <p:cNvPr id="25" name="Shape 23"/>
          <p:cNvSpPr/>
          <p:nvPr/>
        </p:nvSpPr>
        <p:spPr>
          <a:xfrm>
            <a:off x="9089136" y="3931920"/>
            <a:ext cx="2514600" cy="2057400"/>
          </a:xfrm>
          <a:prstGeom prst="roundRect">
            <a:avLst>
              <a:gd name="adj" fmla="val 266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6" name="Shape 24"/>
          <p:cNvSpPr/>
          <p:nvPr/>
        </p:nvSpPr>
        <p:spPr>
          <a:xfrm>
            <a:off x="9326880" y="4169664"/>
            <a:ext cx="420624" cy="420624"/>
          </a:xfrm>
          <a:prstGeom prst="ellipse">
            <a:avLst/>
          </a:prstGeom>
          <a:solidFill>
            <a:srgbClr val="1F5673"/>
          </a:solidFill>
          <a:ln w="12700">
            <a:solidFill>
              <a:srgbClr val="1F5673"/>
            </a:solidFill>
            <a:prstDash val="solid"/>
          </a:ln>
        </p:spPr>
      </p:sp>
      <p:sp>
        <p:nvSpPr>
          <p:cNvPr id="27" name="Text 25"/>
          <p:cNvSpPr txBox="1"/>
          <p:nvPr/>
        </p:nvSpPr>
        <p:spPr>
          <a:xfrm>
            <a:off x="9326880" y="416966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8" name="Text 26"/>
          <p:cNvSpPr txBox="1"/>
          <p:nvPr/>
        </p:nvSpPr>
        <p:spPr>
          <a:xfrm>
            <a:off x="9326880" y="4718304"/>
            <a:ext cx="2039112" cy="310896"/>
          </a:xfrm>
          <a:prstGeom prst="rect">
            <a:avLst/>
          </a:prstGeom>
          <a:noFill/>
          <a:ln/>
        </p:spPr>
        <p:txBody>
          <a:bodyPr wrap="square" lIns="0" tIns="0" rIns="0" bIns="0" rtlCol="0" anchor="ctr"/>
          <a:lstStyle/>
          <a:p>
            <a:pPr indent="0" marL="0">
              <a:buNone/>
            </a:pPr>
            <a:r>
              <a:rPr lang="en-US" sz="1350" b="1" dirty="0">
                <a:solidFill>
                  <a:srgbClr val="141C26"/>
                </a:solidFill>
                <a:latin typeface="Calibri" pitchFamily="34" charset="0"/>
                <a:ea typeface="Calibri" pitchFamily="34" charset="-122"/>
                <a:cs typeface="Calibri" pitchFamily="34" charset="-120"/>
              </a:rPr>
              <a:t>Never reuse admin accounts</a:t>
            </a:r>
            <a:endParaRPr lang="en-US" sz="1350" dirty="0"/>
          </a:p>
        </p:txBody>
      </p:sp>
      <p:sp>
        <p:nvSpPr>
          <p:cNvPr id="29" name="Text 27"/>
          <p:cNvSpPr txBox="1"/>
          <p:nvPr/>
        </p:nvSpPr>
        <p:spPr>
          <a:xfrm>
            <a:off x="9326880" y="5065776"/>
            <a:ext cx="2039112" cy="85039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Create a dedicated deployer user with a strong password, and store it as a Jenkins credential.</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DEPLOYMENT</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Deploying to Tomcat from Jenkins</a:t>
            </a:r>
            <a:endParaRPr lang="en-US" sz="3100" dirty="0"/>
          </a:p>
        </p:txBody>
      </p:sp>
      <p:sp>
        <p:nvSpPr>
          <p:cNvPr id="4" name="Shape 2"/>
          <p:cNvSpPr/>
          <p:nvPr/>
        </p:nvSpPr>
        <p:spPr>
          <a:xfrm>
            <a:off x="640080" y="1572768"/>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10512"/>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Deploy to container plugin</a:t>
            </a:r>
            <a:endParaRPr lang="en-US" sz="1400" dirty="0"/>
          </a:p>
        </p:txBody>
      </p:sp>
      <p:sp>
        <p:nvSpPr>
          <p:cNvPr id="8" name="Text 6"/>
          <p:cNvSpPr txBox="1"/>
          <p:nvPr/>
        </p:nvSpPr>
        <p:spPr>
          <a:xfrm>
            <a:off x="877824" y="2706624"/>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A post-build action in a freestyle job, or a step in a pipeline. Point it at the WAR, the manager URL and a credential.</a:t>
            </a:r>
            <a:endParaRPr lang="en-US" sz="1200" dirty="0"/>
          </a:p>
        </p:txBody>
      </p:sp>
      <p:sp>
        <p:nvSpPr>
          <p:cNvPr id="9" name="Shape 7"/>
          <p:cNvSpPr/>
          <p:nvPr/>
        </p:nvSpPr>
        <p:spPr>
          <a:xfrm>
            <a:off x="4384548" y="1572768"/>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10512"/>
            <a:ext cx="420624" cy="420624"/>
          </a:xfrm>
          <a:prstGeom prst="ellipse">
            <a:avLst/>
          </a:prstGeom>
          <a:solidFill>
            <a:srgbClr val="1F5673"/>
          </a:solidFill>
          <a:ln w="12700">
            <a:solidFill>
              <a:srgbClr val="1F5673"/>
            </a:solidFill>
            <a:prstDash val="solid"/>
          </a:ln>
        </p:spPr>
      </p:sp>
      <p:sp>
        <p:nvSpPr>
          <p:cNvPr id="11" name="Text 9"/>
          <p:cNvSpPr txBox="1"/>
          <p:nvPr/>
        </p:nvSpPr>
        <p:spPr>
          <a:xfrm>
            <a:off x="4622292"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22292"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curl to the manager API</a:t>
            </a:r>
            <a:endParaRPr lang="en-US" sz="1400" dirty="0"/>
          </a:p>
        </p:txBody>
      </p:sp>
      <p:sp>
        <p:nvSpPr>
          <p:cNvPr id="13" name="Text 11"/>
          <p:cNvSpPr txBox="1"/>
          <p:nvPr/>
        </p:nvSpPr>
        <p:spPr>
          <a:xfrm>
            <a:off x="4622292" y="2706624"/>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No plugin needed — a single HTTP PUT. Transparent, scriptable, and easy to debug.</a:t>
            </a:r>
            <a:endParaRPr lang="en-US" sz="1200" dirty="0"/>
          </a:p>
        </p:txBody>
      </p:sp>
      <p:sp>
        <p:nvSpPr>
          <p:cNvPr id="14" name="Shape 12"/>
          <p:cNvSpPr/>
          <p:nvPr/>
        </p:nvSpPr>
        <p:spPr>
          <a:xfrm>
            <a:off x="8129016" y="1572768"/>
            <a:ext cx="3419856" cy="1691640"/>
          </a:xfrm>
          <a:prstGeom prst="roundRect">
            <a:avLst>
              <a:gd name="adj" fmla="val 3243"/>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10512"/>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366760"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66760"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Maven cargo plugin</a:t>
            </a:r>
            <a:endParaRPr lang="en-US" sz="1400" dirty="0"/>
          </a:p>
        </p:txBody>
      </p:sp>
      <p:sp>
        <p:nvSpPr>
          <p:cNvPr id="18" name="Text 16"/>
          <p:cNvSpPr txBox="1"/>
          <p:nvPr/>
        </p:nvSpPr>
        <p:spPr>
          <a:xfrm>
            <a:off x="8366760" y="2706624"/>
            <a:ext cx="2944368" cy="48463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Deployment configured in the POM rather than in Jenkins. Useful when developers deploy locally too.</a:t>
            </a:r>
            <a:endParaRPr lang="en-US" sz="1200" dirty="0"/>
          </a:p>
        </p:txBody>
      </p:sp>
      <p:sp>
        <p:nvSpPr>
          <p:cNvPr id="19" name="Shape 17"/>
          <p:cNvSpPr/>
          <p:nvPr/>
        </p:nvSpPr>
        <p:spPr>
          <a:xfrm>
            <a:off x="640080" y="3364992"/>
            <a:ext cx="6583680" cy="2907792"/>
          </a:xfrm>
          <a:prstGeom prst="roundRect">
            <a:avLst>
              <a:gd name="adj" fmla="val 1572"/>
            </a:avLst>
          </a:prstGeom>
          <a:solidFill>
            <a:srgbClr val="141C26"/>
          </a:solidFill>
          <a:ln w="12700">
            <a:solidFill>
              <a:srgbClr val="2C3E50"/>
            </a:solidFill>
            <a:prstDash val="solid"/>
          </a:ln>
        </p:spPr>
      </p:sp>
      <p:sp>
        <p:nvSpPr>
          <p:cNvPr id="20" name="Text 18"/>
          <p:cNvSpPr txBox="1"/>
          <p:nvPr/>
        </p:nvSpPr>
        <p:spPr>
          <a:xfrm>
            <a:off x="896112" y="3566160"/>
            <a:ext cx="60716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PIPELINE STAGE — BOTH APPROACHES</a:t>
            </a:r>
            <a:endParaRPr lang="en-US" sz="1250" dirty="0"/>
          </a:p>
        </p:txBody>
      </p:sp>
      <p:sp>
        <p:nvSpPr>
          <p:cNvPr id="21" name="Text 19"/>
          <p:cNvSpPr txBox="1"/>
          <p:nvPr/>
        </p:nvSpPr>
        <p:spPr>
          <a:xfrm>
            <a:off x="896112" y="3968496"/>
            <a:ext cx="6071616" cy="2139696"/>
          </a:xfrm>
          <a:prstGeom prst="rect">
            <a:avLst/>
          </a:prstGeom>
          <a:noFill/>
          <a:ln/>
        </p:spPr>
        <p:txBody>
          <a:bodyPr wrap="square" lIns="0" tIns="0" rIns="0" bIns="0" rtlCol="0" anchor="t"/>
          <a:lstStyle/>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stage('Deploy') {</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when { branch 'main' }</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steps {</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 plugin-based</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deploy adapters: [tomcat9(</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credentialsId: 'tomcat-deployer',</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url: 'http://tomcat-host:8090')],</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war: 'target/*.war', contextPath: 'invoice'</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 or plain curl</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 sh 'curl -u $USER:$PASS -T target/app.war …'</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  }</a:t>
            </a:r>
            <a:endParaRPr lang="en-US" sz="1050" dirty="0"/>
          </a:p>
          <a:p>
            <a:pPr indent="0" marL="0">
              <a:lnSpc>
                <a:spcPct val="108000"/>
              </a:lnSpc>
              <a:buNone/>
            </a:pPr>
            <a:r>
              <a:rPr lang="en-US" sz="1050" dirty="0">
                <a:solidFill>
                  <a:srgbClr val="E3E9EF"/>
                </a:solidFill>
                <a:latin typeface="Courier New" pitchFamily="34" charset="0"/>
                <a:ea typeface="Courier New" pitchFamily="34" charset="-122"/>
                <a:cs typeface="Courier New" pitchFamily="34" charset="-120"/>
              </a:rPr>
              <a:t>}</a:t>
            </a:r>
            <a:endParaRPr lang="en-US" sz="1050" dirty="0"/>
          </a:p>
        </p:txBody>
      </p:sp>
      <p:sp>
        <p:nvSpPr>
          <p:cNvPr id="22" name="Shape 20"/>
          <p:cNvSpPr/>
          <p:nvPr/>
        </p:nvSpPr>
        <p:spPr>
          <a:xfrm>
            <a:off x="7452360" y="3429000"/>
            <a:ext cx="4096512" cy="804672"/>
          </a:xfrm>
          <a:prstGeom prst="roundRect">
            <a:avLst>
              <a:gd name="adj" fmla="val 5682"/>
            </a:avLst>
          </a:prstGeom>
          <a:solidFill>
            <a:srgbClr val="F1F4F7"/>
          </a:solidFill>
          <a:ln w="12700">
            <a:solidFill>
              <a:srgbClr val="DBE2EA"/>
            </a:solidFill>
            <a:prstDash val="solid"/>
          </a:ln>
        </p:spPr>
      </p:sp>
      <p:sp>
        <p:nvSpPr>
          <p:cNvPr id="23" name="Text 21"/>
          <p:cNvSpPr txBox="1"/>
          <p:nvPr/>
        </p:nvSpPr>
        <p:spPr>
          <a:xfrm>
            <a:off x="7680960" y="3483864"/>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Deploy the tested artifact</a:t>
            </a:r>
            <a:endParaRPr lang="en-US" sz="1250" dirty="0"/>
          </a:p>
        </p:txBody>
      </p:sp>
      <p:sp>
        <p:nvSpPr>
          <p:cNvPr id="24" name="Text 22"/>
          <p:cNvSpPr txBox="1"/>
          <p:nvPr/>
        </p:nvSpPr>
        <p:spPr>
          <a:xfrm>
            <a:off x="7680960" y="3739896"/>
            <a:ext cx="3657600" cy="438912"/>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Use the WAR produced earlier in this pipeline — never rebuild it for the deploy stage.</a:t>
            </a:r>
            <a:endParaRPr lang="en-US" sz="1050" dirty="0"/>
          </a:p>
        </p:txBody>
      </p:sp>
      <p:sp>
        <p:nvSpPr>
          <p:cNvPr id="25" name="Shape 23"/>
          <p:cNvSpPr/>
          <p:nvPr/>
        </p:nvSpPr>
        <p:spPr>
          <a:xfrm>
            <a:off x="7452360" y="4325112"/>
            <a:ext cx="4096512" cy="804672"/>
          </a:xfrm>
          <a:prstGeom prst="roundRect">
            <a:avLst>
              <a:gd name="adj" fmla="val 5682"/>
            </a:avLst>
          </a:prstGeom>
          <a:solidFill>
            <a:srgbClr val="FFFFFF"/>
          </a:solidFill>
          <a:ln w="12700">
            <a:solidFill>
              <a:srgbClr val="DBE2EA"/>
            </a:solidFill>
            <a:prstDash val="solid"/>
          </a:ln>
        </p:spPr>
      </p:sp>
      <p:sp>
        <p:nvSpPr>
          <p:cNvPr id="26" name="Text 24"/>
          <p:cNvSpPr txBox="1"/>
          <p:nvPr/>
        </p:nvSpPr>
        <p:spPr>
          <a:xfrm>
            <a:off x="7680960" y="4379976"/>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Guard the stage</a:t>
            </a:r>
            <a:endParaRPr lang="en-US" sz="1250" dirty="0"/>
          </a:p>
        </p:txBody>
      </p:sp>
      <p:sp>
        <p:nvSpPr>
          <p:cNvPr id="27" name="Text 25"/>
          <p:cNvSpPr txBox="1"/>
          <p:nvPr/>
        </p:nvSpPr>
        <p:spPr>
          <a:xfrm>
            <a:off x="7680960" y="4636008"/>
            <a:ext cx="3657600" cy="438912"/>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A when block keeps deployments to the branch that is meant to deploy.</a:t>
            </a:r>
            <a:endParaRPr lang="en-US" sz="1050" dirty="0"/>
          </a:p>
        </p:txBody>
      </p:sp>
      <p:sp>
        <p:nvSpPr>
          <p:cNvPr id="28" name="Shape 26"/>
          <p:cNvSpPr/>
          <p:nvPr/>
        </p:nvSpPr>
        <p:spPr>
          <a:xfrm>
            <a:off x="7452360" y="5221224"/>
            <a:ext cx="4096512" cy="804672"/>
          </a:xfrm>
          <a:prstGeom prst="roundRect">
            <a:avLst>
              <a:gd name="adj" fmla="val 5682"/>
            </a:avLst>
          </a:prstGeom>
          <a:solidFill>
            <a:srgbClr val="F1F4F7"/>
          </a:solidFill>
          <a:ln w="12700">
            <a:solidFill>
              <a:srgbClr val="DBE2EA"/>
            </a:solidFill>
            <a:prstDash val="solid"/>
          </a:ln>
        </p:spPr>
      </p:sp>
      <p:sp>
        <p:nvSpPr>
          <p:cNvPr id="29" name="Text 27"/>
          <p:cNvSpPr txBox="1"/>
          <p:nvPr/>
        </p:nvSpPr>
        <p:spPr>
          <a:xfrm>
            <a:off x="7680960" y="5276088"/>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Verify afterwards</a:t>
            </a:r>
            <a:endParaRPr lang="en-US" sz="1250" dirty="0"/>
          </a:p>
        </p:txBody>
      </p:sp>
      <p:sp>
        <p:nvSpPr>
          <p:cNvPr id="30" name="Text 28"/>
          <p:cNvSpPr txBox="1"/>
          <p:nvPr/>
        </p:nvSpPr>
        <p:spPr>
          <a:xfrm>
            <a:off x="7680960" y="5532120"/>
            <a:ext cx="3657600" cy="438912"/>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Add a smoke test: curl the health endpoint and fail the build if it does not answer.</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PUTTING IT TOGETHER</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A complete CI/CD pipeline</a:t>
            </a:r>
            <a:endParaRPr lang="en-US" sz="3100" dirty="0"/>
          </a:p>
        </p:txBody>
      </p:sp>
      <p:sp>
        <p:nvSpPr>
          <p:cNvPr id="4" name="Shape 2"/>
          <p:cNvSpPr/>
          <p:nvPr/>
        </p:nvSpPr>
        <p:spPr>
          <a:xfrm>
            <a:off x="640080" y="1645920"/>
            <a:ext cx="1691640" cy="914400"/>
          </a:xfrm>
          <a:prstGeom prst="chevron">
            <a:avLst/>
          </a:prstGeom>
          <a:solidFill>
            <a:srgbClr val="1F5673"/>
          </a:solidFill>
          <a:ln w="12700">
            <a:solidFill>
              <a:srgbClr val="1F5673"/>
            </a:solidFill>
            <a:prstDash val="solid"/>
          </a:ln>
        </p:spPr>
      </p:sp>
      <p:sp>
        <p:nvSpPr>
          <p:cNvPr id="5" name="Text 3"/>
          <p:cNvSpPr txBox="1"/>
          <p:nvPr/>
        </p:nvSpPr>
        <p:spPr>
          <a:xfrm>
            <a:off x="1024128"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Checkout</a:t>
            </a:r>
            <a:endParaRPr lang="en-US" sz="1300" dirty="0"/>
          </a:p>
        </p:txBody>
      </p:sp>
      <p:sp>
        <p:nvSpPr>
          <p:cNvPr id="6" name="Text 4"/>
          <p:cNvSpPr txBox="1"/>
          <p:nvPr/>
        </p:nvSpPr>
        <p:spPr>
          <a:xfrm>
            <a:off x="594360"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Clone the repository</a:t>
            </a:r>
            <a:endParaRPr lang="en-US" sz="1050" dirty="0"/>
          </a:p>
        </p:txBody>
      </p:sp>
      <p:sp>
        <p:nvSpPr>
          <p:cNvPr id="7" name="Shape 5"/>
          <p:cNvSpPr/>
          <p:nvPr/>
        </p:nvSpPr>
        <p:spPr>
          <a:xfrm>
            <a:off x="2450592" y="1645920"/>
            <a:ext cx="1691640" cy="914400"/>
          </a:xfrm>
          <a:prstGeom prst="chevron">
            <a:avLst/>
          </a:prstGeom>
          <a:solidFill>
            <a:srgbClr val="1F5673"/>
          </a:solidFill>
          <a:ln w="12700">
            <a:solidFill>
              <a:srgbClr val="1F5673"/>
            </a:solidFill>
            <a:prstDash val="solid"/>
          </a:ln>
        </p:spPr>
      </p:sp>
      <p:sp>
        <p:nvSpPr>
          <p:cNvPr id="8" name="Text 6"/>
          <p:cNvSpPr txBox="1"/>
          <p:nvPr/>
        </p:nvSpPr>
        <p:spPr>
          <a:xfrm>
            <a:off x="2834640"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Build</a:t>
            </a:r>
            <a:endParaRPr lang="en-US" sz="1300" dirty="0"/>
          </a:p>
        </p:txBody>
      </p:sp>
      <p:sp>
        <p:nvSpPr>
          <p:cNvPr id="9" name="Text 7"/>
          <p:cNvSpPr txBox="1"/>
          <p:nvPr/>
        </p:nvSpPr>
        <p:spPr>
          <a:xfrm>
            <a:off x="2404872"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mvn clean package</a:t>
            </a:r>
            <a:endParaRPr lang="en-US" sz="1050" dirty="0"/>
          </a:p>
        </p:txBody>
      </p:sp>
      <p:sp>
        <p:nvSpPr>
          <p:cNvPr id="10" name="Shape 8"/>
          <p:cNvSpPr/>
          <p:nvPr/>
        </p:nvSpPr>
        <p:spPr>
          <a:xfrm>
            <a:off x="4261104" y="1645920"/>
            <a:ext cx="1691640" cy="914400"/>
          </a:xfrm>
          <a:prstGeom prst="chevron">
            <a:avLst/>
          </a:prstGeom>
          <a:solidFill>
            <a:srgbClr val="1F5673"/>
          </a:solidFill>
          <a:ln w="12700">
            <a:solidFill>
              <a:srgbClr val="1F5673"/>
            </a:solidFill>
            <a:prstDash val="solid"/>
          </a:ln>
        </p:spPr>
      </p:sp>
      <p:sp>
        <p:nvSpPr>
          <p:cNvPr id="11" name="Text 9"/>
          <p:cNvSpPr txBox="1"/>
          <p:nvPr/>
        </p:nvSpPr>
        <p:spPr>
          <a:xfrm>
            <a:off x="4645152"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Test</a:t>
            </a:r>
            <a:endParaRPr lang="en-US" sz="1300" dirty="0"/>
          </a:p>
        </p:txBody>
      </p:sp>
      <p:sp>
        <p:nvSpPr>
          <p:cNvPr id="12" name="Text 10"/>
          <p:cNvSpPr txBox="1"/>
          <p:nvPr/>
        </p:nvSpPr>
        <p:spPr>
          <a:xfrm>
            <a:off x="4215384"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Unit tests, publish results</a:t>
            </a:r>
            <a:endParaRPr lang="en-US" sz="1050" dirty="0"/>
          </a:p>
        </p:txBody>
      </p:sp>
      <p:sp>
        <p:nvSpPr>
          <p:cNvPr id="13" name="Shape 11"/>
          <p:cNvSpPr/>
          <p:nvPr/>
        </p:nvSpPr>
        <p:spPr>
          <a:xfrm>
            <a:off x="6071616" y="1645920"/>
            <a:ext cx="1691640" cy="914400"/>
          </a:xfrm>
          <a:prstGeom prst="chevron">
            <a:avLst/>
          </a:prstGeom>
          <a:solidFill>
            <a:srgbClr val="2C3E50"/>
          </a:solidFill>
          <a:ln w="12700">
            <a:solidFill>
              <a:srgbClr val="2C3E50"/>
            </a:solidFill>
            <a:prstDash val="solid"/>
          </a:ln>
        </p:spPr>
      </p:sp>
      <p:sp>
        <p:nvSpPr>
          <p:cNvPr id="14" name="Text 12"/>
          <p:cNvSpPr txBox="1"/>
          <p:nvPr/>
        </p:nvSpPr>
        <p:spPr>
          <a:xfrm>
            <a:off x="6455664"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Archive</a:t>
            </a:r>
            <a:endParaRPr lang="en-US" sz="1300" dirty="0"/>
          </a:p>
        </p:txBody>
      </p:sp>
      <p:sp>
        <p:nvSpPr>
          <p:cNvPr id="15" name="Text 13"/>
          <p:cNvSpPr txBox="1"/>
          <p:nvPr/>
        </p:nvSpPr>
        <p:spPr>
          <a:xfrm>
            <a:off x="6025896"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Keep the WAR as an artifact</a:t>
            </a:r>
            <a:endParaRPr lang="en-US" sz="1050" dirty="0"/>
          </a:p>
        </p:txBody>
      </p:sp>
      <p:sp>
        <p:nvSpPr>
          <p:cNvPr id="16" name="Shape 14"/>
          <p:cNvSpPr/>
          <p:nvPr/>
        </p:nvSpPr>
        <p:spPr>
          <a:xfrm>
            <a:off x="7882128" y="1645920"/>
            <a:ext cx="1691640" cy="914400"/>
          </a:xfrm>
          <a:prstGeom prst="chevron">
            <a:avLst/>
          </a:prstGeom>
          <a:solidFill>
            <a:srgbClr val="2C3E50"/>
          </a:solidFill>
          <a:ln w="12700">
            <a:solidFill>
              <a:srgbClr val="2C3E50"/>
            </a:solidFill>
            <a:prstDash val="solid"/>
          </a:ln>
        </p:spPr>
      </p:sp>
      <p:sp>
        <p:nvSpPr>
          <p:cNvPr id="17" name="Text 15"/>
          <p:cNvSpPr txBox="1"/>
          <p:nvPr/>
        </p:nvSpPr>
        <p:spPr>
          <a:xfrm>
            <a:off x="8266176"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Deploy</a:t>
            </a:r>
            <a:endParaRPr lang="en-US" sz="1300" dirty="0"/>
          </a:p>
        </p:txBody>
      </p:sp>
      <p:sp>
        <p:nvSpPr>
          <p:cNvPr id="18" name="Text 16"/>
          <p:cNvSpPr txBox="1"/>
          <p:nvPr/>
        </p:nvSpPr>
        <p:spPr>
          <a:xfrm>
            <a:off x="7836408"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Push to Tomcat</a:t>
            </a:r>
            <a:endParaRPr lang="en-US" sz="1050" dirty="0"/>
          </a:p>
        </p:txBody>
      </p:sp>
      <p:sp>
        <p:nvSpPr>
          <p:cNvPr id="19" name="Shape 17"/>
          <p:cNvSpPr/>
          <p:nvPr/>
        </p:nvSpPr>
        <p:spPr>
          <a:xfrm>
            <a:off x="9692640" y="1645920"/>
            <a:ext cx="1691640" cy="914400"/>
          </a:xfrm>
          <a:prstGeom prst="chevron">
            <a:avLst/>
          </a:prstGeom>
          <a:solidFill>
            <a:srgbClr val="141C26"/>
          </a:solidFill>
          <a:ln w="12700">
            <a:solidFill>
              <a:srgbClr val="141C26"/>
            </a:solidFill>
            <a:prstDash val="solid"/>
          </a:ln>
        </p:spPr>
      </p:sp>
      <p:sp>
        <p:nvSpPr>
          <p:cNvPr id="20" name="Text 18"/>
          <p:cNvSpPr txBox="1"/>
          <p:nvPr/>
        </p:nvSpPr>
        <p:spPr>
          <a:xfrm>
            <a:off x="10076688" y="1645920"/>
            <a:ext cx="1188720" cy="9144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Verify</a:t>
            </a:r>
            <a:endParaRPr lang="en-US" sz="1300" dirty="0"/>
          </a:p>
        </p:txBody>
      </p:sp>
      <p:sp>
        <p:nvSpPr>
          <p:cNvPr id="21" name="Text 19"/>
          <p:cNvSpPr txBox="1"/>
          <p:nvPr/>
        </p:nvSpPr>
        <p:spPr>
          <a:xfrm>
            <a:off x="9646920" y="2651760"/>
            <a:ext cx="1783080" cy="457200"/>
          </a:xfrm>
          <a:prstGeom prst="rect">
            <a:avLst/>
          </a:prstGeom>
          <a:noFill/>
          <a:ln/>
        </p:spPr>
        <p:txBody>
          <a:bodyPr wrap="square" lIns="0" tIns="0" rIns="0" bIns="0" rtlCol="0" anchor="ctr"/>
          <a:lstStyle/>
          <a:p>
            <a:pPr algn="ctr" indent="0" marL="0">
              <a:buNone/>
            </a:pPr>
            <a:r>
              <a:rPr lang="en-US" sz="1050" dirty="0">
                <a:solidFill>
                  <a:srgbClr val="667081"/>
                </a:solidFill>
                <a:latin typeface="Calibri" pitchFamily="34" charset="0"/>
                <a:ea typeface="Calibri" pitchFamily="34" charset="-122"/>
                <a:cs typeface="Calibri" pitchFamily="34" charset="-120"/>
              </a:rPr>
              <a:t>Smoke test the URL</a:t>
            </a:r>
            <a:endParaRPr lang="en-US" sz="1050" dirty="0"/>
          </a:p>
        </p:txBody>
      </p:sp>
      <p:sp>
        <p:nvSpPr>
          <p:cNvPr id="22" name="Shape 20"/>
          <p:cNvSpPr/>
          <p:nvPr/>
        </p:nvSpPr>
        <p:spPr>
          <a:xfrm>
            <a:off x="640080" y="3246120"/>
            <a:ext cx="10908792" cy="2377440"/>
          </a:xfrm>
          <a:prstGeom prst="roundRect">
            <a:avLst>
              <a:gd name="adj" fmla="val 1923"/>
            </a:avLst>
          </a:prstGeom>
          <a:solidFill>
            <a:srgbClr val="141C26"/>
          </a:solidFill>
          <a:ln w="12700">
            <a:solidFill>
              <a:srgbClr val="2C3E50"/>
            </a:solidFill>
            <a:prstDash val="solid"/>
          </a:ln>
        </p:spPr>
      </p:sp>
      <p:sp>
        <p:nvSpPr>
          <p:cNvPr id="23" name="Text 21"/>
          <p:cNvSpPr txBox="1"/>
          <p:nvPr/>
        </p:nvSpPr>
        <p:spPr>
          <a:xfrm>
            <a:off x="896112" y="3447288"/>
            <a:ext cx="10396728"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THE STAGES THAT MATTER, IN ONE Jenkinsfile</a:t>
            </a:r>
            <a:endParaRPr lang="en-US" sz="1250" dirty="0"/>
          </a:p>
        </p:txBody>
      </p:sp>
      <p:sp>
        <p:nvSpPr>
          <p:cNvPr id="24" name="Text 22"/>
          <p:cNvSpPr txBox="1"/>
          <p:nvPr/>
        </p:nvSpPr>
        <p:spPr>
          <a:xfrm>
            <a:off x="896112" y="3849624"/>
            <a:ext cx="10396728" cy="1609344"/>
          </a:xfrm>
          <a:prstGeom prst="rect">
            <a:avLst/>
          </a:prstGeom>
          <a:noFill/>
          <a:ln/>
        </p:spPr>
        <p:txBody>
          <a:bodyPr wrap="square" lIns="0" tIns="0" rIns="0" bIns="0" rtlCol="0" anchor="t"/>
          <a:lstStyle/>
          <a:p>
            <a:pPr indent="0" marL="0">
              <a:lnSpc>
                <a:spcPct val="110000"/>
              </a:lnSpc>
              <a:buNone/>
            </a:pPr>
            <a:r>
              <a:rPr lang="en-US" sz="1050" dirty="0">
                <a:solidFill>
                  <a:srgbClr val="E3E9EF"/>
                </a:solidFill>
                <a:latin typeface="Courier New" pitchFamily="34" charset="0"/>
                <a:ea typeface="Courier New" pitchFamily="34" charset="-122"/>
                <a:cs typeface="Courier New" pitchFamily="34" charset="-120"/>
              </a:rPr>
              <a:t>stage('Archive') { steps { archiveArtifacts artifacts: 'target/*.war' } }</a:t>
            </a:r>
            <a:endParaRPr lang="en-US" sz="1050" dirty="0"/>
          </a:p>
          <a:p>
            <a:pPr indent="0" marL="0">
              <a:lnSpc>
                <a:spcPct val="110000"/>
              </a:lnSpc>
              <a:buNone/>
            </a:pPr>
            <a:endParaRPr lang="en-US" sz="1050" dirty="0"/>
          </a:p>
          <a:p>
            <a:pPr indent="0" marL="0">
              <a:lnSpc>
                <a:spcPct val="110000"/>
              </a:lnSpc>
              <a:buNone/>
            </a:pPr>
            <a:r>
              <a:rPr lang="en-US" sz="1050" dirty="0">
                <a:solidFill>
                  <a:srgbClr val="E3E9EF"/>
                </a:solidFill>
                <a:latin typeface="Courier New" pitchFamily="34" charset="0"/>
                <a:ea typeface="Courier New" pitchFamily="34" charset="-122"/>
                <a:cs typeface="Courier New" pitchFamily="34" charset="-120"/>
              </a:rPr>
              <a:t>stage('Deploy')  { when { branch 'main' }</a:t>
            </a:r>
            <a:endParaRPr lang="en-US" sz="1050" dirty="0"/>
          </a:p>
          <a:p>
            <a:pPr indent="0" marL="0">
              <a:lnSpc>
                <a:spcPct val="110000"/>
              </a:lnSpc>
              <a:buNone/>
            </a:pPr>
            <a:r>
              <a:rPr lang="en-US" sz="1050" dirty="0">
                <a:solidFill>
                  <a:srgbClr val="E3E9EF"/>
                </a:solidFill>
                <a:latin typeface="Courier New" pitchFamily="34" charset="0"/>
                <a:ea typeface="Courier New" pitchFamily="34" charset="-122"/>
                <a:cs typeface="Courier New" pitchFamily="34" charset="-120"/>
              </a:rPr>
              <a:t>                   steps { deploy … } }</a:t>
            </a:r>
            <a:endParaRPr lang="en-US" sz="1050" dirty="0"/>
          </a:p>
          <a:p>
            <a:pPr indent="0" marL="0">
              <a:lnSpc>
                <a:spcPct val="110000"/>
              </a:lnSpc>
              <a:buNone/>
            </a:pPr>
            <a:endParaRPr lang="en-US" sz="1050" dirty="0"/>
          </a:p>
          <a:p>
            <a:pPr indent="0" marL="0">
              <a:lnSpc>
                <a:spcPct val="110000"/>
              </a:lnSpc>
              <a:buNone/>
            </a:pPr>
            <a:r>
              <a:rPr lang="en-US" sz="1050" dirty="0">
                <a:solidFill>
                  <a:srgbClr val="E3E9EF"/>
                </a:solidFill>
                <a:latin typeface="Courier New" pitchFamily="34" charset="0"/>
                <a:ea typeface="Courier New" pitchFamily="34" charset="-122"/>
                <a:cs typeface="Courier New" pitchFamily="34" charset="-120"/>
              </a:rPr>
              <a:t>stage('Verify')  { steps { sh 'curl -f http://tomcat-host:8090/invoice/health' } }</a:t>
            </a:r>
            <a:endParaRPr lang="en-US" sz="1050" dirty="0"/>
          </a:p>
          <a:p>
            <a:pPr indent="0" marL="0">
              <a:lnSpc>
                <a:spcPct val="110000"/>
              </a:lnSpc>
              <a:buNone/>
            </a:pPr>
            <a:endParaRPr lang="en-US" sz="1050" dirty="0"/>
          </a:p>
          <a:p>
            <a:pPr indent="0" marL="0">
              <a:lnSpc>
                <a:spcPct val="110000"/>
              </a:lnSpc>
              <a:buNone/>
            </a:pPr>
            <a:r>
              <a:rPr lang="en-US" sz="1050" dirty="0">
                <a:solidFill>
                  <a:srgbClr val="E3E9EF"/>
                </a:solidFill>
                <a:latin typeface="Courier New" pitchFamily="34" charset="0"/>
                <a:ea typeface="Courier New" pitchFamily="34" charset="-122"/>
                <a:cs typeface="Courier New" pitchFamily="34" charset="-120"/>
              </a:rPr>
              <a:t>post { failure { mail to: 'team@company.com', subject: "FAILED: ${env.JOB_NAME} #${env.BUILD_NUMBER}" } }</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TRIGGERS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What starts a build</a:t>
            </a:r>
            <a:endParaRPr lang="en-US" sz="3100" dirty="0"/>
          </a:p>
        </p:txBody>
      </p:sp>
      <p:sp>
        <p:nvSpPr>
          <p:cNvPr id="4" name="Shape 2"/>
          <p:cNvSpPr/>
          <p:nvPr/>
        </p:nvSpPr>
        <p:spPr>
          <a:xfrm>
            <a:off x="640080" y="1481328"/>
            <a:ext cx="10908792" cy="457200"/>
          </a:xfrm>
          <a:prstGeom prst="roundRect">
            <a:avLst>
              <a:gd name="adj" fmla="val 8000"/>
            </a:avLst>
          </a:prstGeom>
          <a:solidFill>
            <a:srgbClr val="F1F4F7"/>
          </a:solidFill>
          <a:ln w="12700">
            <a:solidFill>
              <a:srgbClr val="DBE2EA"/>
            </a:solidFill>
            <a:prstDash val="solid"/>
          </a:ln>
        </p:spPr>
      </p:sp>
      <p:sp>
        <p:nvSpPr>
          <p:cNvPr id="5" name="Text 3"/>
          <p:cNvSpPr txBox="1"/>
          <p:nvPr/>
        </p:nvSpPr>
        <p:spPr>
          <a:xfrm>
            <a:off x="822960" y="1481328"/>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Webhook from SCM</a:t>
            </a:r>
            <a:endParaRPr lang="en-US" sz="1250" dirty="0"/>
          </a:p>
        </p:txBody>
      </p:sp>
      <p:sp>
        <p:nvSpPr>
          <p:cNvPr id="6" name="Text 4"/>
          <p:cNvSpPr txBox="1"/>
          <p:nvPr/>
        </p:nvSpPr>
        <p:spPr>
          <a:xfrm>
            <a:off x="4023360" y="1481328"/>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The repository notifies Jenkins on push — fastest, and the usual choice</a:t>
            </a:r>
            <a:endParaRPr lang="en-US" sz="1250" dirty="0"/>
          </a:p>
        </p:txBody>
      </p:sp>
      <p:sp>
        <p:nvSpPr>
          <p:cNvPr id="7" name="Shape 5"/>
          <p:cNvSpPr/>
          <p:nvPr/>
        </p:nvSpPr>
        <p:spPr>
          <a:xfrm>
            <a:off x="640080" y="1993392"/>
            <a:ext cx="10908792" cy="457200"/>
          </a:xfrm>
          <a:prstGeom prst="roundRect">
            <a:avLst>
              <a:gd name="adj" fmla="val 8000"/>
            </a:avLst>
          </a:prstGeom>
          <a:solidFill>
            <a:srgbClr val="FFFFFF"/>
          </a:solidFill>
          <a:ln w="12700">
            <a:solidFill>
              <a:srgbClr val="DBE2EA"/>
            </a:solidFill>
            <a:prstDash val="solid"/>
          </a:ln>
        </p:spPr>
      </p:sp>
      <p:sp>
        <p:nvSpPr>
          <p:cNvPr id="8" name="Text 6"/>
          <p:cNvSpPr txBox="1"/>
          <p:nvPr/>
        </p:nvSpPr>
        <p:spPr>
          <a:xfrm>
            <a:off x="822960" y="1993392"/>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Poll SCM  (H/5 * * * *)</a:t>
            </a:r>
            <a:endParaRPr lang="en-US" sz="1250" dirty="0"/>
          </a:p>
        </p:txBody>
      </p:sp>
      <p:sp>
        <p:nvSpPr>
          <p:cNvPr id="9" name="Text 7"/>
          <p:cNvSpPr txBox="1"/>
          <p:nvPr/>
        </p:nvSpPr>
        <p:spPr>
          <a:xfrm>
            <a:off x="4023360" y="1993392"/>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Jenkins asks the repository for changes on a schedule; builds only if something changed</a:t>
            </a:r>
            <a:endParaRPr lang="en-US" sz="1250" dirty="0"/>
          </a:p>
        </p:txBody>
      </p:sp>
      <p:sp>
        <p:nvSpPr>
          <p:cNvPr id="10" name="Shape 8"/>
          <p:cNvSpPr/>
          <p:nvPr/>
        </p:nvSpPr>
        <p:spPr>
          <a:xfrm>
            <a:off x="640080" y="2505456"/>
            <a:ext cx="10908792" cy="457200"/>
          </a:xfrm>
          <a:prstGeom prst="roundRect">
            <a:avLst>
              <a:gd name="adj" fmla="val 8000"/>
            </a:avLst>
          </a:prstGeom>
          <a:solidFill>
            <a:srgbClr val="F1F4F7"/>
          </a:solidFill>
          <a:ln w="12700">
            <a:solidFill>
              <a:srgbClr val="DBE2EA"/>
            </a:solidFill>
            <a:prstDash val="solid"/>
          </a:ln>
        </p:spPr>
      </p:sp>
      <p:sp>
        <p:nvSpPr>
          <p:cNvPr id="11" name="Text 9"/>
          <p:cNvSpPr txBox="1"/>
          <p:nvPr/>
        </p:nvSpPr>
        <p:spPr>
          <a:xfrm>
            <a:off x="822960" y="2505456"/>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Build periodically  (H 2 * * *)</a:t>
            </a:r>
            <a:endParaRPr lang="en-US" sz="1250" dirty="0"/>
          </a:p>
        </p:txBody>
      </p:sp>
      <p:sp>
        <p:nvSpPr>
          <p:cNvPr id="12" name="Text 10"/>
          <p:cNvSpPr txBox="1"/>
          <p:nvPr/>
        </p:nvSpPr>
        <p:spPr>
          <a:xfrm>
            <a:off x="4023360" y="2505456"/>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Runs on a timer whether or not anything changed — nightly builds and scheduled reports</a:t>
            </a:r>
            <a:endParaRPr lang="en-US" sz="1250" dirty="0"/>
          </a:p>
        </p:txBody>
      </p:sp>
      <p:sp>
        <p:nvSpPr>
          <p:cNvPr id="13" name="Shape 11"/>
          <p:cNvSpPr/>
          <p:nvPr/>
        </p:nvSpPr>
        <p:spPr>
          <a:xfrm>
            <a:off x="640080" y="3017520"/>
            <a:ext cx="10908792" cy="457200"/>
          </a:xfrm>
          <a:prstGeom prst="roundRect">
            <a:avLst>
              <a:gd name="adj" fmla="val 8000"/>
            </a:avLst>
          </a:prstGeom>
          <a:solidFill>
            <a:srgbClr val="FFFFFF"/>
          </a:solidFill>
          <a:ln w="12700">
            <a:solidFill>
              <a:srgbClr val="DBE2EA"/>
            </a:solidFill>
            <a:prstDash val="solid"/>
          </a:ln>
        </p:spPr>
      </p:sp>
      <p:sp>
        <p:nvSpPr>
          <p:cNvPr id="14" name="Text 12"/>
          <p:cNvSpPr txBox="1"/>
          <p:nvPr/>
        </p:nvSpPr>
        <p:spPr>
          <a:xfrm>
            <a:off x="822960" y="3017520"/>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Upstream / downstream</a:t>
            </a:r>
            <a:endParaRPr lang="en-US" sz="1250" dirty="0"/>
          </a:p>
        </p:txBody>
      </p:sp>
      <p:sp>
        <p:nvSpPr>
          <p:cNvPr id="15" name="Text 13"/>
          <p:cNvSpPr txBox="1"/>
          <p:nvPr/>
        </p:nvSpPr>
        <p:spPr>
          <a:xfrm>
            <a:off x="4023360" y="3017520"/>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Build B starts when build A succeeds — chaining related projects</a:t>
            </a:r>
            <a:endParaRPr lang="en-US" sz="1250" dirty="0"/>
          </a:p>
        </p:txBody>
      </p:sp>
      <p:sp>
        <p:nvSpPr>
          <p:cNvPr id="16" name="Shape 14"/>
          <p:cNvSpPr/>
          <p:nvPr/>
        </p:nvSpPr>
        <p:spPr>
          <a:xfrm>
            <a:off x="640080" y="3529584"/>
            <a:ext cx="10908792" cy="457200"/>
          </a:xfrm>
          <a:prstGeom prst="roundRect">
            <a:avLst>
              <a:gd name="adj" fmla="val 8000"/>
            </a:avLst>
          </a:prstGeom>
          <a:solidFill>
            <a:srgbClr val="F1F4F7"/>
          </a:solidFill>
          <a:ln w="12700">
            <a:solidFill>
              <a:srgbClr val="DBE2EA"/>
            </a:solidFill>
            <a:prstDash val="solid"/>
          </a:ln>
        </p:spPr>
      </p:sp>
      <p:sp>
        <p:nvSpPr>
          <p:cNvPr id="17" name="Text 15"/>
          <p:cNvSpPr txBox="1"/>
          <p:nvPr/>
        </p:nvSpPr>
        <p:spPr>
          <a:xfrm>
            <a:off x="822960" y="3529584"/>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Remote trigger via URL</a:t>
            </a:r>
            <a:endParaRPr lang="en-US" sz="1250" dirty="0"/>
          </a:p>
        </p:txBody>
      </p:sp>
      <p:sp>
        <p:nvSpPr>
          <p:cNvPr id="18" name="Text 16"/>
          <p:cNvSpPr txBox="1"/>
          <p:nvPr/>
        </p:nvSpPr>
        <p:spPr>
          <a:xfrm>
            <a:off x="4023360" y="3529584"/>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An authenticated HTTP call with a token, for triggering from other systems</a:t>
            </a:r>
            <a:endParaRPr lang="en-US" sz="1250" dirty="0"/>
          </a:p>
        </p:txBody>
      </p:sp>
      <p:sp>
        <p:nvSpPr>
          <p:cNvPr id="19" name="Shape 17"/>
          <p:cNvSpPr/>
          <p:nvPr/>
        </p:nvSpPr>
        <p:spPr>
          <a:xfrm>
            <a:off x="640080" y="4041648"/>
            <a:ext cx="10908792" cy="457200"/>
          </a:xfrm>
          <a:prstGeom prst="roundRect">
            <a:avLst>
              <a:gd name="adj" fmla="val 8000"/>
            </a:avLst>
          </a:prstGeom>
          <a:solidFill>
            <a:srgbClr val="FFFFFF"/>
          </a:solidFill>
          <a:ln w="12700">
            <a:solidFill>
              <a:srgbClr val="DBE2EA"/>
            </a:solidFill>
            <a:prstDash val="solid"/>
          </a:ln>
        </p:spPr>
      </p:sp>
      <p:sp>
        <p:nvSpPr>
          <p:cNvPr id="20" name="Text 18"/>
          <p:cNvSpPr txBox="1"/>
          <p:nvPr/>
        </p:nvSpPr>
        <p:spPr>
          <a:xfrm>
            <a:off x="822960" y="4041648"/>
            <a:ext cx="3108960" cy="457200"/>
          </a:xfrm>
          <a:prstGeom prst="rect">
            <a:avLst/>
          </a:prstGeom>
          <a:noFill/>
          <a:ln/>
        </p:spPr>
        <p:txBody>
          <a:bodyPr wrap="square" lIns="0" tIns="0" rIns="0" bIns="0" rtlCol="0" anchor="ctr"/>
          <a:lstStyle/>
          <a:p>
            <a:pPr indent="0" marL="0">
              <a:buNone/>
            </a:pPr>
            <a:r>
              <a:rPr lang="en-US" sz="1250" b="1" dirty="0">
                <a:solidFill>
                  <a:srgbClr val="1F5673"/>
                </a:solidFill>
                <a:latin typeface="Courier New" pitchFamily="34" charset="0"/>
                <a:ea typeface="Courier New" pitchFamily="34" charset="-122"/>
                <a:cs typeface="Courier New" pitchFamily="34" charset="-120"/>
              </a:rPr>
              <a:t>Manual with parameters</a:t>
            </a:r>
            <a:endParaRPr lang="en-US" sz="1250" dirty="0"/>
          </a:p>
        </p:txBody>
      </p:sp>
      <p:sp>
        <p:nvSpPr>
          <p:cNvPr id="21" name="Text 19"/>
          <p:cNvSpPr txBox="1"/>
          <p:nvPr/>
        </p:nvSpPr>
        <p:spPr>
          <a:xfrm>
            <a:off x="4023360" y="4041648"/>
            <a:ext cx="7342632" cy="457200"/>
          </a:xfrm>
          <a:prstGeom prst="rect">
            <a:avLst/>
          </a:prstGeom>
          <a:noFill/>
          <a:ln/>
        </p:spPr>
        <p:txBody>
          <a:bodyPr wrap="square" lIns="0" tIns="0" rIns="0" bIns="0" rtlCol="0" anchor="ctr"/>
          <a:lstStyle/>
          <a:p>
            <a:pPr indent="0" marL="0">
              <a:buNone/>
            </a:pPr>
            <a:r>
              <a:rPr lang="en-US" sz="1250" dirty="0">
                <a:solidFill>
                  <a:srgbClr val="28313B"/>
                </a:solidFill>
                <a:latin typeface="Calibri" pitchFamily="34" charset="0"/>
                <a:ea typeface="Calibri" pitchFamily="34" charset="-122"/>
                <a:cs typeface="Calibri" pitchFamily="34" charset="-120"/>
              </a:rPr>
              <a:t>A human starts it and supplies values such as the target environment</a:t>
            </a:r>
            <a:endParaRPr lang="en-US" sz="1250" dirty="0"/>
          </a:p>
        </p:txBody>
      </p:sp>
      <p:sp>
        <p:nvSpPr>
          <p:cNvPr id="22" name="Shape 20"/>
          <p:cNvSpPr/>
          <p:nvPr/>
        </p:nvSpPr>
        <p:spPr>
          <a:xfrm>
            <a:off x="640080" y="4526280"/>
            <a:ext cx="5669280" cy="1554480"/>
          </a:xfrm>
          <a:prstGeom prst="roundRect">
            <a:avLst>
              <a:gd name="adj" fmla="val 2941"/>
            </a:avLst>
          </a:prstGeom>
          <a:solidFill>
            <a:srgbClr val="141C26"/>
          </a:solidFill>
          <a:ln w="12700">
            <a:solidFill>
              <a:srgbClr val="2C3E50"/>
            </a:solidFill>
            <a:prstDash val="solid"/>
          </a:ln>
        </p:spPr>
      </p:sp>
      <p:sp>
        <p:nvSpPr>
          <p:cNvPr id="23" name="Text 21"/>
          <p:cNvSpPr txBox="1"/>
          <p:nvPr/>
        </p:nvSpPr>
        <p:spPr>
          <a:xfrm>
            <a:off x="896112" y="4727448"/>
            <a:ext cx="51572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CRON SYNTAX IN A PIPELINE</a:t>
            </a:r>
            <a:endParaRPr lang="en-US" sz="1250" dirty="0"/>
          </a:p>
        </p:txBody>
      </p:sp>
      <p:sp>
        <p:nvSpPr>
          <p:cNvPr id="24" name="Text 22"/>
          <p:cNvSpPr txBox="1"/>
          <p:nvPr/>
        </p:nvSpPr>
        <p:spPr>
          <a:xfrm>
            <a:off x="896112" y="5129784"/>
            <a:ext cx="5157216" cy="786384"/>
          </a:xfrm>
          <a:prstGeom prst="rect">
            <a:avLst/>
          </a:prstGeom>
          <a:noFill/>
          <a:ln/>
        </p:spPr>
        <p:txBody>
          <a:bodyPr wrap="square" lIns="0" tIns="0" rIns="0" bIns="0" rtlCol="0" anchor="t"/>
          <a:lstStyle/>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triggers {</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cron('H 2 * * 1-5')      // ~2am, weekdays</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  pollSCM('H/15 * * * *')  // every 15 minutes</a:t>
            </a:r>
            <a:endParaRPr lang="en-US" sz="1100" dirty="0"/>
          </a:p>
          <a:p>
            <a:pPr indent="0" marL="0">
              <a:lnSpc>
                <a:spcPct val="118000"/>
              </a:lnSpc>
              <a:buNone/>
            </a:pPr>
            <a:r>
              <a:rPr lang="en-US" sz="1100" dirty="0">
                <a:solidFill>
                  <a:srgbClr val="E3E9EF"/>
                </a:solidFill>
                <a:latin typeface="Courier New" pitchFamily="34" charset="0"/>
                <a:ea typeface="Courier New" pitchFamily="34" charset="-122"/>
                <a:cs typeface="Courier New" pitchFamily="34" charset="-120"/>
              </a:rPr>
              <a:t>}</a:t>
            </a:r>
            <a:endParaRPr lang="en-US" sz="1100" dirty="0"/>
          </a:p>
        </p:txBody>
      </p:sp>
      <p:sp>
        <p:nvSpPr>
          <p:cNvPr id="25" name="Shape 23"/>
          <p:cNvSpPr/>
          <p:nvPr/>
        </p:nvSpPr>
        <p:spPr>
          <a:xfrm>
            <a:off x="6675120" y="4526280"/>
            <a:ext cx="4873752" cy="1554480"/>
          </a:xfrm>
          <a:prstGeom prst="roundRect">
            <a:avLst>
              <a:gd name="adj" fmla="val 3529"/>
            </a:avLst>
          </a:prstGeom>
          <a:solidFill>
            <a:srgbClr val="EAF1F6"/>
          </a:solidFill>
          <a:ln w="12700">
            <a:solidFill>
              <a:srgbClr val="1F5673"/>
            </a:solidFill>
            <a:prstDash val="solid"/>
          </a:ln>
        </p:spPr>
      </p:sp>
      <p:sp>
        <p:nvSpPr>
          <p:cNvPr id="26" name="Text 24"/>
          <p:cNvSpPr txBox="1"/>
          <p:nvPr/>
        </p:nvSpPr>
        <p:spPr>
          <a:xfrm>
            <a:off x="6949440" y="4681728"/>
            <a:ext cx="4325112" cy="274320"/>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Always use H</a:t>
            </a:r>
            <a:endParaRPr lang="en-US" sz="1400" dirty="0"/>
          </a:p>
        </p:txBody>
      </p:sp>
      <p:sp>
        <p:nvSpPr>
          <p:cNvPr id="27" name="Text 25"/>
          <p:cNvSpPr txBox="1"/>
          <p:nvPr/>
        </p:nvSpPr>
        <p:spPr>
          <a:xfrm>
            <a:off x="6949440" y="5010912"/>
            <a:ext cx="4325112" cy="960120"/>
          </a:xfrm>
          <a:prstGeom prst="rect">
            <a:avLst/>
          </a:prstGeom>
          <a:noFill/>
          <a:ln/>
        </p:spPr>
        <p:txBody>
          <a:bodyPr wrap="square" lIns="0" tIns="0" rIns="0" bIns="0" rtlCol="0" anchor="ctr"/>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H means "hash" — Jenkins spreads jobs across the interval instead of starting fifty builds at exactly 2:00. Writing 0 2 * * * on every job creates a thundering herd every night.</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NOTIFICATIONS</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Email and other feedback</a:t>
            </a:r>
            <a:endParaRPr lang="en-US" sz="3100" dirty="0"/>
          </a:p>
        </p:txBody>
      </p:sp>
      <p:sp>
        <p:nvSpPr>
          <p:cNvPr id="4" name="Shape 2"/>
          <p:cNvSpPr/>
          <p:nvPr/>
        </p:nvSpPr>
        <p:spPr>
          <a:xfrm>
            <a:off x="640080" y="1572768"/>
            <a:ext cx="3419856"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10512"/>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Configure SMTP</a:t>
            </a:r>
            <a:endParaRPr lang="en-US" sz="1400" dirty="0"/>
          </a:p>
        </p:txBody>
      </p:sp>
      <p:sp>
        <p:nvSpPr>
          <p:cNvPr id="8" name="Text 6"/>
          <p:cNvSpPr txBox="1"/>
          <p:nvPr/>
        </p:nvSpPr>
        <p:spPr>
          <a:xfrm>
            <a:off x="877824" y="2706624"/>
            <a:ext cx="2944368" cy="62179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Manage Jenkins → System → E-mail Notification. Set the server, port, credentials and TLS, then use "Test configuration".</a:t>
            </a:r>
            <a:endParaRPr lang="en-US" sz="1200" dirty="0"/>
          </a:p>
        </p:txBody>
      </p:sp>
      <p:sp>
        <p:nvSpPr>
          <p:cNvPr id="9" name="Shape 7"/>
          <p:cNvSpPr/>
          <p:nvPr/>
        </p:nvSpPr>
        <p:spPr>
          <a:xfrm>
            <a:off x="4384548" y="1572768"/>
            <a:ext cx="3419856"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10512"/>
            <a:ext cx="420624" cy="420624"/>
          </a:xfrm>
          <a:prstGeom prst="ellipse">
            <a:avLst/>
          </a:prstGeom>
          <a:solidFill>
            <a:srgbClr val="1F5673"/>
          </a:solidFill>
          <a:ln w="12700">
            <a:solidFill>
              <a:srgbClr val="1F5673"/>
            </a:solidFill>
            <a:prstDash val="solid"/>
          </a:ln>
        </p:spPr>
      </p:sp>
      <p:sp>
        <p:nvSpPr>
          <p:cNvPr id="11" name="Text 9"/>
          <p:cNvSpPr txBox="1"/>
          <p:nvPr/>
        </p:nvSpPr>
        <p:spPr>
          <a:xfrm>
            <a:off x="4622292"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22292"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Set the system address</a:t>
            </a:r>
            <a:endParaRPr lang="en-US" sz="1400" dirty="0"/>
          </a:p>
        </p:txBody>
      </p:sp>
      <p:sp>
        <p:nvSpPr>
          <p:cNvPr id="13" name="Text 11"/>
          <p:cNvSpPr txBox="1"/>
          <p:nvPr/>
        </p:nvSpPr>
        <p:spPr>
          <a:xfrm>
            <a:off x="4622292" y="2706624"/>
            <a:ext cx="2944368" cy="62179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From address, and the Jenkins URL — links in the email are built from it.</a:t>
            </a:r>
            <a:endParaRPr lang="en-US" sz="1200" dirty="0"/>
          </a:p>
        </p:txBody>
      </p:sp>
      <p:sp>
        <p:nvSpPr>
          <p:cNvPr id="14" name="Shape 12"/>
          <p:cNvSpPr/>
          <p:nvPr/>
        </p:nvSpPr>
        <p:spPr>
          <a:xfrm>
            <a:off x="8129016" y="1572768"/>
            <a:ext cx="3419856" cy="1828800"/>
          </a:xfrm>
          <a:prstGeom prst="roundRect">
            <a:avLst>
              <a:gd name="adj" fmla="val 3000"/>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10512"/>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366760" y="18105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66760" y="2359152"/>
            <a:ext cx="2944368" cy="310896"/>
          </a:xfrm>
          <a:prstGeom prst="rect">
            <a:avLst/>
          </a:prstGeom>
          <a:noFill/>
          <a:ln/>
        </p:spPr>
        <p:txBody>
          <a:bodyPr wrap="square" lIns="0" tIns="0" rIns="0" bIns="0" rtlCol="0" anchor="ctr"/>
          <a:lstStyle/>
          <a:p>
            <a:pPr indent="0" marL="0">
              <a:buNone/>
            </a:pPr>
            <a:r>
              <a:rPr lang="en-US" sz="1400" b="1" dirty="0">
                <a:solidFill>
                  <a:srgbClr val="141C26"/>
                </a:solidFill>
                <a:latin typeface="Calibri" pitchFamily="34" charset="0"/>
                <a:ea typeface="Calibri" pitchFamily="34" charset="-122"/>
                <a:cs typeface="Calibri" pitchFamily="34" charset="-120"/>
              </a:rPr>
              <a:t>Install Email Extension</a:t>
            </a:r>
            <a:endParaRPr lang="en-US" sz="1400" dirty="0"/>
          </a:p>
        </p:txBody>
      </p:sp>
      <p:sp>
        <p:nvSpPr>
          <p:cNvPr id="18" name="Text 16"/>
          <p:cNvSpPr txBox="1"/>
          <p:nvPr/>
        </p:nvSpPr>
        <p:spPr>
          <a:xfrm>
            <a:off x="8366760" y="2706624"/>
            <a:ext cx="2944368" cy="621792"/>
          </a:xfrm>
          <a:prstGeom prst="rect">
            <a:avLst/>
          </a:prstGeom>
          <a:noFill/>
          <a:ln/>
        </p:spPr>
        <p:txBody>
          <a:bodyPr wrap="square" lIns="0" tIns="0" rIns="0" bIns="0" rtlCol="0" anchor="t"/>
          <a:lstStyle/>
          <a:p>
            <a:pPr indent="0" marL="0">
              <a:lnSpc>
                <a:spcPct val="105000"/>
              </a:lnSpc>
              <a:buNone/>
            </a:pPr>
            <a:r>
              <a:rPr lang="en-US" sz="1200" dirty="0">
                <a:solidFill>
                  <a:srgbClr val="28313B"/>
                </a:solidFill>
                <a:latin typeface="Calibri" pitchFamily="34" charset="0"/>
                <a:ea typeface="Calibri" pitchFamily="34" charset="-122"/>
                <a:cs typeface="Calibri" pitchFamily="34" charset="-120"/>
              </a:rPr>
              <a:t>The extended plugin gives per-result triggers, templates and richer recipient rules than core email.</a:t>
            </a:r>
            <a:endParaRPr lang="en-US" sz="1200" dirty="0"/>
          </a:p>
        </p:txBody>
      </p:sp>
      <p:sp>
        <p:nvSpPr>
          <p:cNvPr id="19" name="Shape 17"/>
          <p:cNvSpPr/>
          <p:nvPr/>
        </p:nvSpPr>
        <p:spPr>
          <a:xfrm>
            <a:off x="640080" y="3611880"/>
            <a:ext cx="6583680" cy="2468880"/>
          </a:xfrm>
          <a:prstGeom prst="roundRect">
            <a:avLst>
              <a:gd name="adj" fmla="val 1852"/>
            </a:avLst>
          </a:prstGeom>
          <a:solidFill>
            <a:srgbClr val="141C26"/>
          </a:solidFill>
          <a:ln w="12700">
            <a:solidFill>
              <a:srgbClr val="2C3E50"/>
            </a:solidFill>
            <a:prstDash val="solid"/>
          </a:ln>
        </p:spPr>
      </p:sp>
      <p:sp>
        <p:nvSpPr>
          <p:cNvPr id="20" name="Text 18"/>
          <p:cNvSpPr txBox="1"/>
          <p:nvPr/>
        </p:nvSpPr>
        <p:spPr>
          <a:xfrm>
            <a:off x="896112" y="3813048"/>
            <a:ext cx="6071616" cy="274320"/>
          </a:xfrm>
          <a:prstGeom prst="rect">
            <a:avLst/>
          </a:prstGeom>
          <a:noFill/>
          <a:ln/>
        </p:spPr>
        <p:txBody>
          <a:bodyPr wrap="square" lIns="0" tIns="0" rIns="0" bIns="0" rtlCol="0" anchor="ctr"/>
          <a:lstStyle/>
          <a:p>
            <a:pPr indent="0" marL="0">
              <a:buNone/>
            </a:pPr>
            <a:r>
              <a:rPr lang="en-US" sz="1250" b="1" spc="120" kern="0" dirty="0">
                <a:solidFill>
                  <a:srgbClr val="6FB3D2"/>
                </a:solidFill>
                <a:latin typeface="Calibri" pitchFamily="34" charset="0"/>
                <a:ea typeface="Calibri" pitchFamily="34" charset="-122"/>
                <a:cs typeface="Calibri" pitchFamily="34" charset="-120"/>
              </a:rPr>
              <a:t>NOTIFYING FROM A PIPELINE</a:t>
            </a:r>
            <a:endParaRPr lang="en-US" sz="1250" dirty="0"/>
          </a:p>
        </p:txBody>
      </p:sp>
      <p:sp>
        <p:nvSpPr>
          <p:cNvPr id="21" name="Text 19"/>
          <p:cNvSpPr txBox="1"/>
          <p:nvPr/>
        </p:nvSpPr>
        <p:spPr>
          <a:xfrm>
            <a:off x="896112" y="4215384"/>
            <a:ext cx="6071616" cy="1700784"/>
          </a:xfrm>
          <a:prstGeom prst="rect">
            <a:avLst/>
          </a:prstGeom>
          <a:noFill/>
          <a:ln/>
        </p:spPr>
        <p:txBody>
          <a:bodyPr wrap="square" lIns="0" tIns="0" rIns="0" bIns="0" rtlCol="0" anchor="t"/>
          <a:lstStyle/>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post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failure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mail to: 'team@company.com',</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subject: "FAILED: ${env.JOB_NAME} #${env.BUILD_NUMBER}",</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body: "See ${env.BUILD_URL}"</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fixed   { mail to: 'team@company.com', subject: 'Back to normal'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  always  { junit 'target/surefire-reports/*.xml' }</a:t>
            </a:r>
            <a:endParaRPr lang="en-US" sz="1050" dirty="0"/>
          </a:p>
          <a:p>
            <a:pPr indent="0" marL="0">
              <a:lnSpc>
                <a:spcPct val="118000"/>
              </a:lnSpc>
              <a:buNone/>
            </a:pPr>
            <a:r>
              <a:rPr lang="en-US" sz="1050" dirty="0">
                <a:solidFill>
                  <a:srgbClr val="E3E9EF"/>
                </a:solidFill>
                <a:latin typeface="Courier New" pitchFamily="34" charset="0"/>
                <a:ea typeface="Courier New" pitchFamily="34" charset="-122"/>
                <a:cs typeface="Courier New" pitchFamily="34" charset="-120"/>
              </a:rPr>
              <a:t>}</a:t>
            </a:r>
            <a:endParaRPr lang="en-US" sz="1050" dirty="0"/>
          </a:p>
        </p:txBody>
      </p:sp>
      <p:sp>
        <p:nvSpPr>
          <p:cNvPr id="22" name="Shape 20"/>
          <p:cNvSpPr/>
          <p:nvPr/>
        </p:nvSpPr>
        <p:spPr>
          <a:xfrm>
            <a:off x="7452360" y="3611880"/>
            <a:ext cx="4096512" cy="777240"/>
          </a:xfrm>
          <a:prstGeom prst="roundRect">
            <a:avLst>
              <a:gd name="adj" fmla="val 5882"/>
            </a:avLst>
          </a:prstGeom>
          <a:solidFill>
            <a:srgbClr val="F1F4F7"/>
          </a:solidFill>
          <a:ln w="12700">
            <a:solidFill>
              <a:srgbClr val="DBE2EA"/>
            </a:solidFill>
            <a:prstDash val="solid"/>
          </a:ln>
        </p:spPr>
      </p:sp>
      <p:sp>
        <p:nvSpPr>
          <p:cNvPr id="23" name="Text 21"/>
          <p:cNvSpPr txBox="1"/>
          <p:nvPr/>
        </p:nvSpPr>
        <p:spPr>
          <a:xfrm>
            <a:off x="7680960" y="3666744"/>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Notify on change, not always</a:t>
            </a:r>
            <a:endParaRPr lang="en-US" sz="1250" dirty="0"/>
          </a:p>
        </p:txBody>
      </p:sp>
      <p:sp>
        <p:nvSpPr>
          <p:cNvPr id="24" name="Text 22"/>
          <p:cNvSpPr txBox="1"/>
          <p:nvPr/>
        </p:nvSpPr>
        <p:spPr>
          <a:xfrm>
            <a:off x="7680960" y="3922776"/>
            <a:ext cx="3657600" cy="411480"/>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Mail on failure and on fixed. A green email after every build trains people to filter Jenkins away.</a:t>
            </a:r>
            <a:endParaRPr lang="en-US" sz="1050" dirty="0"/>
          </a:p>
        </p:txBody>
      </p:sp>
      <p:sp>
        <p:nvSpPr>
          <p:cNvPr id="25" name="Shape 23"/>
          <p:cNvSpPr/>
          <p:nvPr/>
        </p:nvSpPr>
        <p:spPr>
          <a:xfrm>
            <a:off x="7452360" y="4471416"/>
            <a:ext cx="4096512" cy="777240"/>
          </a:xfrm>
          <a:prstGeom prst="roundRect">
            <a:avLst>
              <a:gd name="adj" fmla="val 5882"/>
            </a:avLst>
          </a:prstGeom>
          <a:solidFill>
            <a:srgbClr val="FFFFFF"/>
          </a:solidFill>
          <a:ln w="12700">
            <a:solidFill>
              <a:srgbClr val="DBE2EA"/>
            </a:solidFill>
            <a:prstDash val="solid"/>
          </a:ln>
        </p:spPr>
      </p:sp>
      <p:sp>
        <p:nvSpPr>
          <p:cNvPr id="26" name="Text 24"/>
          <p:cNvSpPr txBox="1"/>
          <p:nvPr/>
        </p:nvSpPr>
        <p:spPr>
          <a:xfrm>
            <a:off x="7680960" y="4526280"/>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Tell people what to do</a:t>
            </a:r>
            <a:endParaRPr lang="en-US" sz="1250" dirty="0"/>
          </a:p>
        </p:txBody>
      </p:sp>
      <p:sp>
        <p:nvSpPr>
          <p:cNvPr id="27" name="Text 25"/>
          <p:cNvSpPr txBox="1"/>
          <p:nvPr/>
        </p:nvSpPr>
        <p:spPr>
          <a:xfrm>
            <a:off x="7680960" y="4782312"/>
            <a:ext cx="3657600" cy="411480"/>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Include the job, the build number and a direct link to the console output.</a:t>
            </a:r>
            <a:endParaRPr lang="en-US" sz="1050" dirty="0"/>
          </a:p>
        </p:txBody>
      </p:sp>
      <p:sp>
        <p:nvSpPr>
          <p:cNvPr id="28" name="Shape 26"/>
          <p:cNvSpPr/>
          <p:nvPr/>
        </p:nvSpPr>
        <p:spPr>
          <a:xfrm>
            <a:off x="7452360" y="5330952"/>
            <a:ext cx="4096512" cy="777240"/>
          </a:xfrm>
          <a:prstGeom prst="roundRect">
            <a:avLst>
              <a:gd name="adj" fmla="val 5882"/>
            </a:avLst>
          </a:prstGeom>
          <a:solidFill>
            <a:srgbClr val="F1F4F7"/>
          </a:solidFill>
          <a:ln w="12700">
            <a:solidFill>
              <a:srgbClr val="DBE2EA"/>
            </a:solidFill>
            <a:prstDash val="solid"/>
          </a:ln>
        </p:spPr>
      </p:sp>
      <p:sp>
        <p:nvSpPr>
          <p:cNvPr id="29" name="Text 27"/>
          <p:cNvSpPr txBox="1"/>
          <p:nvPr/>
        </p:nvSpPr>
        <p:spPr>
          <a:xfrm>
            <a:off x="7680960" y="5385816"/>
            <a:ext cx="3657600" cy="256032"/>
          </a:xfrm>
          <a:prstGeom prst="rect">
            <a:avLst/>
          </a:prstGeom>
          <a:noFill/>
          <a:ln/>
        </p:spPr>
        <p:txBody>
          <a:bodyPr wrap="square" lIns="0" tIns="0" rIns="0" bIns="0" rtlCol="0" anchor="ctr"/>
          <a:lstStyle/>
          <a:p>
            <a:pPr indent="0" marL="0">
              <a:buNone/>
            </a:pPr>
            <a:r>
              <a:rPr lang="en-US" sz="1250" b="1" dirty="0">
                <a:solidFill>
                  <a:srgbClr val="141C26"/>
                </a:solidFill>
                <a:latin typeface="Calibri" pitchFamily="34" charset="0"/>
                <a:ea typeface="Calibri" pitchFamily="34" charset="-122"/>
                <a:cs typeface="Calibri" pitchFamily="34" charset="-120"/>
              </a:rPr>
              <a:t>Consider chat instead</a:t>
            </a:r>
            <a:endParaRPr lang="en-US" sz="1250" dirty="0"/>
          </a:p>
        </p:txBody>
      </p:sp>
      <p:sp>
        <p:nvSpPr>
          <p:cNvPr id="30" name="Text 28"/>
          <p:cNvSpPr txBox="1"/>
          <p:nvPr/>
        </p:nvSpPr>
        <p:spPr>
          <a:xfrm>
            <a:off x="7680960" y="5641848"/>
            <a:ext cx="3657600" cy="411480"/>
          </a:xfrm>
          <a:prstGeom prst="rect">
            <a:avLst/>
          </a:prstGeom>
          <a:noFill/>
          <a:ln/>
        </p:spPr>
        <p:txBody>
          <a:bodyPr wrap="square" lIns="0" tIns="0" rIns="0" bIns="0" rtlCol="0" anchor="ctr"/>
          <a:lstStyle/>
          <a:p>
            <a:pPr indent="0" marL="0">
              <a:lnSpc>
                <a:spcPct val="103000"/>
              </a:lnSpc>
              <a:buNone/>
            </a:pPr>
            <a:r>
              <a:rPr lang="en-US" sz="1050" dirty="0">
                <a:solidFill>
                  <a:srgbClr val="28313B"/>
                </a:solidFill>
                <a:latin typeface="Calibri" pitchFamily="34" charset="0"/>
                <a:ea typeface="Calibri" pitchFamily="34" charset="-122"/>
                <a:cs typeface="Calibri" pitchFamily="34" charset="-120"/>
              </a:rPr>
              <a:t>Slack or Teams plugins put the result where the team already is, and are harder to ignore.</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ADMINISTRATION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Keeping Jenkins healthy</a:t>
            </a:r>
            <a:endParaRPr lang="en-US" sz="3100" dirty="0"/>
          </a:p>
        </p:txBody>
      </p:sp>
      <p:sp>
        <p:nvSpPr>
          <p:cNvPr id="4" name="Shape 2"/>
          <p:cNvSpPr/>
          <p:nvPr/>
        </p:nvSpPr>
        <p:spPr>
          <a:xfrm>
            <a:off x="640080"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877824" y="1865376"/>
            <a:ext cx="420624" cy="420624"/>
          </a:xfrm>
          <a:prstGeom prst="ellipse">
            <a:avLst/>
          </a:prstGeom>
          <a:solidFill>
            <a:srgbClr val="1F5673"/>
          </a:solidFill>
          <a:ln w="12700">
            <a:solidFill>
              <a:srgbClr val="1F5673"/>
            </a:solidFill>
            <a:prstDash val="solid"/>
          </a:ln>
        </p:spPr>
      </p:sp>
      <p:sp>
        <p:nvSpPr>
          <p:cNvPr id="6" name="Text 4"/>
          <p:cNvSpPr txBox="1"/>
          <p:nvPr/>
        </p:nvSpPr>
        <p:spPr>
          <a:xfrm>
            <a:off x="877824"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877824"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Security</a:t>
            </a:r>
            <a:endParaRPr lang="en-US" sz="1450" dirty="0"/>
          </a:p>
        </p:txBody>
      </p:sp>
      <p:sp>
        <p:nvSpPr>
          <p:cNvPr id="8" name="Text 6"/>
          <p:cNvSpPr txBox="1"/>
          <p:nvPr/>
        </p:nvSpPr>
        <p:spPr>
          <a:xfrm>
            <a:off x="877824"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Enable an authentication realm and an authorisation strategy. Matrix or role-based authorisation lets you grant read, build and configure separately.</a:t>
            </a:r>
            <a:endParaRPr lang="en-US" sz="1150" dirty="0"/>
          </a:p>
        </p:txBody>
      </p:sp>
      <p:sp>
        <p:nvSpPr>
          <p:cNvPr id="9" name="Shape 7"/>
          <p:cNvSpPr/>
          <p:nvPr/>
        </p:nvSpPr>
        <p:spPr>
          <a:xfrm>
            <a:off x="4384548"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0" name="Shape 8"/>
          <p:cNvSpPr/>
          <p:nvPr/>
        </p:nvSpPr>
        <p:spPr>
          <a:xfrm>
            <a:off x="4622292" y="1865376"/>
            <a:ext cx="420624" cy="420624"/>
          </a:xfrm>
          <a:prstGeom prst="ellipse">
            <a:avLst/>
          </a:prstGeom>
          <a:solidFill>
            <a:srgbClr val="1F5673"/>
          </a:solidFill>
          <a:ln w="12700">
            <a:solidFill>
              <a:srgbClr val="1F5673"/>
            </a:solidFill>
            <a:prstDash val="solid"/>
          </a:ln>
        </p:spPr>
      </p:sp>
      <p:sp>
        <p:nvSpPr>
          <p:cNvPr id="11" name="Text 9"/>
          <p:cNvSpPr txBox="1"/>
          <p:nvPr/>
        </p:nvSpPr>
        <p:spPr>
          <a:xfrm>
            <a:off x="4622292"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4622292"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Backups</a:t>
            </a:r>
            <a:endParaRPr lang="en-US" sz="1450" dirty="0"/>
          </a:p>
        </p:txBody>
      </p:sp>
      <p:sp>
        <p:nvSpPr>
          <p:cNvPr id="13" name="Text 11"/>
          <p:cNvSpPr txBox="1"/>
          <p:nvPr/>
        </p:nvSpPr>
        <p:spPr>
          <a:xfrm>
            <a:off x="4622292"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JENKINS_HOME is the whole instance. Back it up on a schedule, and rehearse a restore — an untested backup is a hope, not a plan.</a:t>
            </a:r>
            <a:endParaRPr lang="en-US" sz="1150" dirty="0"/>
          </a:p>
        </p:txBody>
      </p:sp>
      <p:sp>
        <p:nvSpPr>
          <p:cNvPr id="14" name="Shape 12"/>
          <p:cNvSpPr/>
          <p:nvPr/>
        </p:nvSpPr>
        <p:spPr>
          <a:xfrm>
            <a:off x="8129016" y="162763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5" name="Shape 13"/>
          <p:cNvSpPr/>
          <p:nvPr/>
        </p:nvSpPr>
        <p:spPr>
          <a:xfrm>
            <a:off x="8366760" y="1865376"/>
            <a:ext cx="420624" cy="420624"/>
          </a:xfrm>
          <a:prstGeom prst="ellipse">
            <a:avLst/>
          </a:prstGeom>
          <a:solidFill>
            <a:srgbClr val="1F5673"/>
          </a:solidFill>
          <a:ln w="12700">
            <a:solidFill>
              <a:srgbClr val="1F5673"/>
            </a:solidFill>
            <a:prstDash val="solid"/>
          </a:ln>
        </p:spPr>
      </p:sp>
      <p:sp>
        <p:nvSpPr>
          <p:cNvPr id="16" name="Text 14"/>
          <p:cNvSpPr txBox="1"/>
          <p:nvPr/>
        </p:nvSpPr>
        <p:spPr>
          <a:xfrm>
            <a:off x="8366760" y="186537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8366760" y="241401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Housekeeping</a:t>
            </a:r>
            <a:endParaRPr lang="en-US" sz="1450" dirty="0"/>
          </a:p>
        </p:txBody>
      </p:sp>
      <p:sp>
        <p:nvSpPr>
          <p:cNvPr id="18" name="Text 16"/>
          <p:cNvSpPr txBox="1"/>
          <p:nvPr/>
        </p:nvSpPr>
        <p:spPr>
          <a:xfrm>
            <a:off x="8366760" y="276148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Discard old builds per job, or disks fill silently. Archived artifacts are usually the biggest consumer.</a:t>
            </a:r>
            <a:endParaRPr lang="en-US" sz="1150" dirty="0"/>
          </a:p>
        </p:txBody>
      </p:sp>
      <p:sp>
        <p:nvSpPr>
          <p:cNvPr id="19" name="Shape 17"/>
          <p:cNvSpPr/>
          <p:nvPr/>
        </p:nvSpPr>
        <p:spPr>
          <a:xfrm>
            <a:off x="640080"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0" name="Shape 18"/>
          <p:cNvSpPr/>
          <p:nvPr/>
        </p:nvSpPr>
        <p:spPr>
          <a:xfrm>
            <a:off x="877824" y="3968496"/>
            <a:ext cx="420624" cy="420624"/>
          </a:xfrm>
          <a:prstGeom prst="ellipse">
            <a:avLst/>
          </a:prstGeom>
          <a:solidFill>
            <a:srgbClr val="1F5673"/>
          </a:solidFill>
          <a:ln w="12700">
            <a:solidFill>
              <a:srgbClr val="1F5673"/>
            </a:solidFill>
            <a:prstDash val="solid"/>
          </a:ln>
        </p:spPr>
      </p:sp>
      <p:sp>
        <p:nvSpPr>
          <p:cNvPr id="21" name="Text 19"/>
          <p:cNvSpPr txBox="1"/>
          <p:nvPr/>
        </p:nvSpPr>
        <p:spPr>
          <a:xfrm>
            <a:off x="877824"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877824"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Monitoring</a:t>
            </a:r>
            <a:endParaRPr lang="en-US" sz="1450" dirty="0"/>
          </a:p>
        </p:txBody>
      </p:sp>
      <p:sp>
        <p:nvSpPr>
          <p:cNvPr id="23" name="Text 21"/>
          <p:cNvSpPr txBox="1"/>
          <p:nvPr/>
        </p:nvSpPr>
        <p:spPr>
          <a:xfrm>
            <a:off x="877824"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Watch disk space, queue length, executor usage and controller memory. The built-in monitoring plugin covers most of it.</a:t>
            </a:r>
            <a:endParaRPr lang="en-US" sz="1150" dirty="0"/>
          </a:p>
        </p:txBody>
      </p:sp>
      <p:sp>
        <p:nvSpPr>
          <p:cNvPr id="24" name="Shape 22"/>
          <p:cNvSpPr/>
          <p:nvPr/>
        </p:nvSpPr>
        <p:spPr>
          <a:xfrm>
            <a:off x="4384548"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25" name="Shape 23"/>
          <p:cNvSpPr/>
          <p:nvPr/>
        </p:nvSpPr>
        <p:spPr>
          <a:xfrm>
            <a:off x="4622292" y="3968496"/>
            <a:ext cx="420624" cy="420624"/>
          </a:xfrm>
          <a:prstGeom prst="ellipse">
            <a:avLst/>
          </a:prstGeom>
          <a:solidFill>
            <a:srgbClr val="1F5673"/>
          </a:solidFill>
          <a:ln w="12700">
            <a:solidFill>
              <a:srgbClr val="1F5673"/>
            </a:solidFill>
            <a:prstDash val="solid"/>
          </a:ln>
        </p:spPr>
      </p:sp>
      <p:sp>
        <p:nvSpPr>
          <p:cNvPr id="26" name="Text 24"/>
          <p:cNvSpPr txBox="1"/>
          <p:nvPr/>
        </p:nvSpPr>
        <p:spPr>
          <a:xfrm>
            <a:off x="4622292"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4622292"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Updates</a:t>
            </a:r>
            <a:endParaRPr lang="en-US" sz="1450" dirty="0"/>
          </a:p>
        </p:txBody>
      </p:sp>
      <p:sp>
        <p:nvSpPr>
          <p:cNvPr id="28" name="Text 26"/>
          <p:cNvSpPr txBox="1"/>
          <p:nvPr/>
        </p:nvSpPr>
        <p:spPr>
          <a:xfrm>
            <a:off x="4622292"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Apply Jenkins LTS and plugin security updates deliberately, with a backup first and a test instance where possible.</a:t>
            </a:r>
            <a:endParaRPr lang="en-US" sz="1150" dirty="0"/>
          </a:p>
        </p:txBody>
      </p:sp>
      <p:sp>
        <p:nvSpPr>
          <p:cNvPr id="29" name="Shape 27"/>
          <p:cNvSpPr/>
          <p:nvPr/>
        </p:nvSpPr>
        <p:spPr>
          <a:xfrm>
            <a:off x="8129016" y="3730752"/>
            <a:ext cx="3419856" cy="1920240"/>
          </a:xfrm>
          <a:prstGeom prst="roundRect">
            <a:avLst>
              <a:gd name="adj" fmla="val 2857"/>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30" name="Shape 28"/>
          <p:cNvSpPr/>
          <p:nvPr/>
        </p:nvSpPr>
        <p:spPr>
          <a:xfrm>
            <a:off x="8366760" y="3968496"/>
            <a:ext cx="420624" cy="420624"/>
          </a:xfrm>
          <a:prstGeom prst="ellipse">
            <a:avLst/>
          </a:prstGeom>
          <a:solidFill>
            <a:srgbClr val="1F5673"/>
          </a:solidFill>
          <a:ln w="12700">
            <a:solidFill>
              <a:srgbClr val="1F5673"/>
            </a:solidFill>
            <a:prstDash val="solid"/>
          </a:ln>
        </p:spPr>
      </p:sp>
      <p:sp>
        <p:nvSpPr>
          <p:cNvPr id="31" name="Text 29"/>
          <p:cNvSpPr txBox="1"/>
          <p:nvPr/>
        </p:nvSpPr>
        <p:spPr>
          <a:xfrm>
            <a:off x="8366760" y="396849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32" name="Text 30"/>
          <p:cNvSpPr txBox="1"/>
          <p:nvPr/>
        </p:nvSpPr>
        <p:spPr>
          <a:xfrm>
            <a:off x="8366760" y="4517136"/>
            <a:ext cx="2944368" cy="310896"/>
          </a:xfrm>
          <a:prstGeom prst="rect">
            <a:avLst/>
          </a:prstGeom>
          <a:noFill/>
          <a:ln/>
        </p:spPr>
        <p:txBody>
          <a:bodyPr wrap="square" lIns="0" tIns="0" rIns="0" bIns="0" rtlCol="0" anchor="ctr"/>
          <a:lstStyle/>
          <a:p>
            <a:pPr indent="0" marL="0">
              <a:buNone/>
            </a:pPr>
            <a:r>
              <a:rPr lang="en-US" sz="1450" b="1" dirty="0">
                <a:solidFill>
                  <a:srgbClr val="141C26"/>
                </a:solidFill>
                <a:latin typeface="Calibri" pitchFamily="34" charset="0"/>
                <a:ea typeface="Calibri" pitchFamily="34" charset="-122"/>
                <a:cs typeface="Calibri" pitchFamily="34" charset="-120"/>
              </a:rPr>
              <a:t>Configuration as code</a:t>
            </a:r>
            <a:endParaRPr lang="en-US" sz="1450" dirty="0"/>
          </a:p>
        </p:txBody>
      </p:sp>
      <p:sp>
        <p:nvSpPr>
          <p:cNvPr id="33" name="Text 31"/>
          <p:cNvSpPr txBox="1"/>
          <p:nvPr/>
        </p:nvSpPr>
        <p:spPr>
          <a:xfrm>
            <a:off x="8366760" y="4864608"/>
            <a:ext cx="2944368" cy="713232"/>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JCasC plugin describes the whole instance in YAML, so Jenkins itself can be rebuilt from a repository.</a:t>
            </a:r>
            <a:endParaRPr lang="en-US" sz="1150" dirty="0"/>
          </a:p>
        </p:txBody>
      </p:sp>
      <p:sp>
        <p:nvSpPr>
          <p:cNvPr id="34" name="Shape 32"/>
          <p:cNvSpPr/>
          <p:nvPr/>
        </p:nvSpPr>
        <p:spPr>
          <a:xfrm>
            <a:off x="640080" y="5760720"/>
            <a:ext cx="10908792" cy="548640"/>
          </a:xfrm>
          <a:prstGeom prst="roundRect">
            <a:avLst>
              <a:gd name="adj" fmla="val 10000"/>
            </a:avLst>
          </a:prstGeom>
          <a:solidFill>
            <a:srgbClr val="141C26"/>
          </a:solidFill>
          <a:ln w="12700">
            <a:solidFill>
              <a:srgbClr val="141C26"/>
            </a:solidFill>
            <a:prstDash val="solid"/>
          </a:ln>
        </p:spPr>
      </p:sp>
      <p:sp>
        <p:nvSpPr>
          <p:cNvPr id="35" name="Text 33"/>
          <p:cNvSpPr txBox="1"/>
          <p:nvPr/>
        </p:nvSpPr>
        <p:spPr>
          <a:xfrm>
            <a:off x="1005840" y="5760720"/>
            <a:ext cx="10177272" cy="548640"/>
          </a:xfrm>
          <a:prstGeom prst="rect">
            <a:avLst/>
          </a:prstGeom>
          <a:noFill/>
          <a:ln/>
        </p:spPr>
        <p:txBody>
          <a:bodyPr wrap="square" lIns="0" tIns="0" rIns="0" bIns="0" rtlCol="0" anchor="ctr"/>
          <a:lstStyle/>
          <a:p>
            <a:pPr indent="0" marL="0">
              <a:buNone/>
            </a:pPr>
            <a:r>
              <a:rPr lang="en-US" sz="1350" dirty="0">
                <a:solidFill>
                  <a:srgbClr val="FFFFFF"/>
                </a:solidFill>
                <a:latin typeface="Calibri" pitchFamily="34" charset="0"/>
                <a:ea typeface="Calibri" pitchFamily="34" charset="-122"/>
                <a:cs typeface="Calibri" pitchFamily="34" charset="-120"/>
              </a:rPr>
              <a:t>The test that matters: if this server disappeared right now, how long would it take to rebuild it — and do you know, or are you guessing?</a:t>
            </a:r>
            <a:endParaRPr lang="en-US" sz="13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PRACTICE</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Habits that keep pipelines trustworthy</a:t>
            </a:r>
            <a:endParaRPr lang="en-US" sz="3100" dirty="0"/>
          </a:p>
        </p:txBody>
      </p:sp>
      <p:sp>
        <p:nvSpPr>
          <p:cNvPr id="4" name="Text 2"/>
          <p:cNvSpPr txBox="1"/>
          <p:nvPr/>
        </p:nvSpPr>
        <p:spPr>
          <a:xfrm>
            <a:off x="640080" y="1463040"/>
            <a:ext cx="5303520" cy="310896"/>
          </a:xfrm>
          <a:prstGeom prst="rect">
            <a:avLst/>
          </a:prstGeom>
          <a:noFill/>
          <a:ln/>
        </p:spPr>
        <p:txBody>
          <a:bodyPr wrap="square" lIns="0" tIns="0" rIns="0" bIns="0" rtlCol="0" anchor="ctr"/>
          <a:lstStyle/>
          <a:p>
            <a:pPr indent="0" marL="0">
              <a:buNone/>
            </a:pPr>
            <a:r>
              <a:rPr lang="en-US" sz="1500" b="1" spc="150" kern="0" dirty="0">
                <a:solidFill>
                  <a:srgbClr val="2F7A4F"/>
                </a:solidFill>
                <a:latin typeface="Calibri" pitchFamily="34" charset="0"/>
                <a:ea typeface="Calibri" pitchFamily="34" charset="-122"/>
                <a:cs typeface="Calibri" pitchFamily="34" charset="-120"/>
              </a:rPr>
              <a:t>Do</a:t>
            </a:r>
            <a:endParaRPr lang="en-US" sz="1500" dirty="0"/>
          </a:p>
        </p:txBody>
      </p:sp>
      <p:sp>
        <p:nvSpPr>
          <p:cNvPr id="5" name="Shape 3"/>
          <p:cNvSpPr/>
          <p:nvPr/>
        </p:nvSpPr>
        <p:spPr>
          <a:xfrm>
            <a:off x="640080" y="1847088"/>
            <a:ext cx="5303520" cy="960120"/>
          </a:xfrm>
          <a:prstGeom prst="roundRect">
            <a:avLst>
              <a:gd name="adj" fmla="val 5714"/>
            </a:avLst>
          </a:prstGeom>
          <a:solidFill>
            <a:srgbClr val="EDF3EE"/>
          </a:solidFill>
          <a:ln w="12700">
            <a:solidFill>
              <a:srgbClr val="CADCD0"/>
            </a:solidFill>
            <a:prstDash val="solid"/>
          </a:ln>
          <a:effectLst>
            <a:outerShdw sx="100000" sy="100000" kx="0" ky="0" algn="bl" rotWithShape="0" blurRad="127000" dist="25400" dir="5400000">
              <a:srgbClr val="141C26">
                <a:alpha val="12000"/>
              </a:srgbClr>
            </a:outerShdw>
          </a:effectLst>
        </p:spPr>
      </p:sp>
      <p:sp>
        <p:nvSpPr>
          <p:cNvPr id="6" name="Text 4"/>
          <p:cNvSpPr txBox="1"/>
          <p:nvPr/>
        </p:nvSpPr>
        <p:spPr>
          <a:xfrm>
            <a:off x="877824" y="2103120"/>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Keep the Jenkinsfile in the repository</a:t>
            </a:r>
            <a:endParaRPr lang="en-US" sz="1300" dirty="0"/>
          </a:p>
        </p:txBody>
      </p:sp>
      <p:sp>
        <p:nvSpPr>
          <p:cNvPr id="7" name="Text 5"/>
          <p:cNvSpPr txBox="1"/>
          <p:nvPr/>
        </p:nvSpPr>
        <p:spPr>
          <a:xfrm>
            <a:off x="877824" y="2450592"/>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The pipeline changes with the code it builds, and goes through review like anything else.</a:t>
            </a:r>
            <a:endParaRPr lang="en-US" sz="1150" dirty="0"/>
          </a:p>
        </p:txBody>
      </p:sp>
      <p:sp>
        <p:nvSpPr>
          <p:cNvPr id="8" name="Shape 6"/>
          <p:cNvSpPr/>
          <p:nvPr/>
        </p:nvSpPr>
        <p:spPr>
          <a:xfrm>
            <a:off x="640080" y="2907792"/>
            <a:ext cx="5303520" cy="960120"/>
          </a:xfrm>
          <a:prstGeom prst="roundRect">
            <a:avLst>
              <a:gd name="adj" fmla="val 5714"/>
            </a:avLst>
          </a:prstGeom>
          <a:solidFill>
            <a:srgbClr val="EDF3EE"/>
          </a:solidFill>
          <a:ln w="12700">
            <a:solidFill>
              <a:srgbClr val="CADCD0"/>
            </a:solidFill>
            <a:prstDash val="solid"/>
          </a:ln>
          <a:effectLst>
            <a:outerShdw sx="100000" sy="100000" kx="0" ky="0" algn="bl" rotWithShape="0" blurRad="127000" dist="25400" dir="5400000">
              <a:srgbClr val="141C26">
                <a:alpha val="12000"/>
              </a:srgbClr>
            </a:outerShdw>
          </a:effectLst>
        </p:spPr>
      </p:sp>
      <p:sp>
        <p:nvSpPr>
          <p:cNvPr id="9" name="Text 7"/>
          <p:cNvSpPr txBox="1"/>
          <p:nvPr/>
        </p:nvSpPr>
        <p:spPr>
          <a:xfrm>
            <a:off x="877824" y="3163824"/>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Run builds on agents, not the controller</a:t>
            </a:r>
            <a:endParaRPr lang="en-US" sz="1300" dirty="0"/>
          </a:p>
        </p:txBody>
      </p:sp>
      <p:sp>
        <p:nvSpPr>
          <p:cNvPr id="10" name="Text 8"/>
          <p:cNvSpPr txBox="1"/>
          <p:nvPr/>
        </p:nvSpPr>
        <p:spPr>
          <a:xfrm>
            <a:off x="877824" y="3511296"/>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Set controller executors to zero. Build code is untrusted code.</a:t>
            </a:r>
            <a:endParaRPr lang="en-US" sz="1150" dirty="0"/>
          </a:p>
        </p:txBody>
      </p:sp>
      <p:sp>
        <p:nvSpPr>
          <p:cNvPr id="11" name="Shape 9"/>
          <p:cNvSpPr/>
          <p:nvPr/>
        </p:nvSpPr>
        <p:spPr>
          <a:xfrm>
            <a:off x="640080" y="3968496"/>
            <a:ext cx="5303520" cy="960120"/>
          </a:xfrm>
          <a:prstGeom prst="roundRect">
            <a:avLst>
              <a:gd name="adj" fmla="val 5714"/>
            </a:avLst>
          </a:prstGeom>
          <a:solidFill>
            <a:srgbClr val="EDF3EE"/>
          </a:solidFill>
          <a:ln w="12700">
            <a:solidFill>
              <a:srgbClr val="CADCD0"/>
            </a:solidFill>
            <a:prstDash val="solid"/>
          </a:ln>
          <a:effectLst>
            <a:outerShdw sx="100000" sy="100000" kx="0" ky="0" algn="bl" rotWithShape="0" blurRad="127000" dist="25400" dir="5400000">
              <a:srgbClr val="141C26">
                <a:alpha val="12000"/>
              </a:srgbClr>
            </a:outerShdw>
          </a:effectLst>
        </p:spPr>
      </p:sp>
      <p:sp>
        <p:nvSpPr>
          <p:cNvPr id="12" name="Text 10"/>
          <p:cNvSpPr txBox="1"/>
          <p:nvPr/>
        </p:nvSpPr>
        <p:spPr>
          <a:xfrm>
            <a:off x="877824" y="4224528"/>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Keep builds under ten minutes</a:t>
            </a:r>
            <a:endParaRPr lang="en-US" sz="1300" dirty="0"/>
          </a:p>
        </p:txBody>
      </p:sp>
      <p:sp>
        <p:nvSpPr>
          <p:cNvPr id="13" name="Text 11"/>
          <p:cNvSpPr txBox="1"/>
          <p:nvPr/>
        </p:nvSpPr>
        <p:spPr>
          <a:xfrm>
            <a:off x="877824" y="4572000"/>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Parallelise tests and cache dependencies. Slow feedback gets ignored.</a:t>
            </a:r>
            <a:endParaRPr lang="en-US" sz="1150" dirty="0"/>
          </a:p>
        </p:txBody>
      </p:sp>
      <p:sp>
        <p:nvSpPr>
          <p:cNvPr id="14" name="Shape 12"/>
          <p:cNvSpPr/>
          <p:nvPr/>
        </p:nvSpPr>
        <p:spPr>
          <a:xfrm>
            <a:off x="640080" y="5029200"/>
            <a:ext cx="5303520" cy="960120"/>
          </a:xfrm>
          <a:prstGeom prst="roundRect">
            <a:avLst>
              <a:gd name="adj" fmla="val 5714"/>
            </a:avLst>
          </a:prstGeom>
          <a:solidFill>
            <a:srgbClr val="EDF3EE"/>
          </a:solidFill>
          <a:ln w="12700">
            <a:solidFill>
              <a:srgbClr val="CADCD0"/>
            </a:solidFill>
            <a:prstDash val="solid"/>
          </a:ln>
          <a:effectLst>
            <a:outerShdw sx="100000" sy="100000" kx="0" ky="0" algn="bl" rotWithShape="0" blurRad="127000" dist="25400" dir="5400000">
              <a:srgbClr val="141C26">
                <a:alpha val="12000"/>
              </a:srgbClr>
            </a:outerShdw>
          </a:effectLst>
        </p:spPr>
      </p:sp>
      <p:sp>
        <p:nvSpPr>
          <p:cNvPr id="15" name="Text 13"/>
          <p:cNvSpPr txBox="1"/>
          <p:nvPr/>
        </p:nvSpPr>
        <p:spPr>
          <a:xfrm>
            <a:off x="877824" y="5285232"/>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Fail loudly and fix immediately</a:t>
            </a:r>
            <a:endParaRPr lang="en-US" sz="1300" dirty="0"/>
          </a:p>
        </p:txBody>
      </p:sp>
      <p:sp>
        <p:nvSpPr>
          <p:cNvPr id="16" name="Text 14"/>
          <p:cNvSpPr txBox="1"/>
          <p:nvPr/>
        </p:nvSpPr>
        <p:spPr>
          <a:xfrm>
            <a:off x="877824" y="5632704"/>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red mainline is everyone's problem; repairing it takes priority over new work.</a:t>
            </a:r>
            <a:endParaRPr lang="en-US" sz="1150" dirty="0"/>
          </a:p>
        </p:txBody>
      </p:sp>
      <p:sp>
        <p:nvSpPr>
          <p:cNvPr id="17" name="Text 15"/>
          <p:cNvSpPr txBox="1"/>
          <p:nvPr/>
        </p:nvSpPr>
        <p:spPr>
          <a:xfrm>
            <a:off x="6245352" y="1463040"/>
            <a:ext cx="5303520" cy="310896"/>
          </a:xfrm>
          <a:prstGeom prst="rect">
            <a:avLst/>
          </a:prstGeom>
          <a:noFill/>
          <a:ln/>
        </p:spPr>
        <p:txBody>
          <a:bodyPr wrap="square" lIns="0" tIns="0" rIns="0" bIns="0" rtlCol="0" anchor="ctr"/>
          <a:lstStyle/>
          <a:p>
            <a:pPr indent="0" marL="0">
              <a:buNone/>
            </a:pPr>
            <a:r>
              <a:rPr lang="en-US" sz="1500" b="1" spc="150" kern="0" dirty="0">
                <a:solidFill>
                  <a:srgbClr val="A8392C"/>
                </a:solidFill>
                <a:latin typeface="Calibri" pitchFamily="34" charset="0"/>
                <a:ea typeface="Calibri" pitchFamily="34" charset="-122"/>
                <a:cs typeface="Calibri" pitchFamily="34" charset="-120"/>
              </a:rPr>
              <a:t>Avoid</a:t>
            </a:r>
            <a:endParaRPr lang="en-US" sz="1500" dirty="0"/>
          </a:p>
        </p:txBody>
      </p:sp>
      <p:sp>
        <p:nvSpPr>
          <p:cNvPr id="18" name="Shape 16"/>
          <p:cNvSpPr/>
          <p:nvPr/>
        </p:nvSpPr>
        <p:spPr>
          <a:xfrm>
            <a:off x="6245352" y="1847088"/>
            <a:ext cx="5303520" cy="960120"/>
          </a:xfrm>
          <a:prstGeom prst="roundRect">
            <a:avLst>
              <a:gd name="adj" fmla="val 5714"/>
            </a:avLst>
          </a:prstGeom>
          <a:solidFill>
            <a:srgbClr val="F8EEEC"/>
          </a:solidFill>
          <a:ln w="12700">
            <a:solidFill>
              <a:srgbClr val="E6CCC7"/>
            </a:solidFill>
            <a:prstDash val="solid"/>
          </a:ln>
          <a:effectLst>
            <a:outerShdw sx="100000" sy="100000" kx="0" ky="0" algn="bl" rotWithShape="0" blurRad="127000" dist="25400" dir="5400000">
              <a:srgbClr val="141C26">
                <a:alpha val="12000"/>
              </a:srgbClr>
            </a:outerShdw>
          </a:effectLst>
        </p:spPr>
      </p:sp>
      <p:sp>
        <p:nvSpPr>
          <p:cNvPr id="19" name="Text 17"/>
          <p:cNvSpPr txBox="1"/>
          <p:nvPr/>
        </p:nvSpPr>
        <p:spPr>
          <a:xfrm>
            <a:off x="6483096" y="2103120"/>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Secrets in the Jenkinsfile or job config</a:t>
            </a:r>
            <a:endParaRPr lang="en-US" sz="1300" dirty="0"/>
          </a:p>
        </p:txBody>
      </p:sp>
      <p:sp>
        <p:nvSpPr>
          <p:cNvPr id="20" name="Text 18"/>
          <p:cNvSpPr txBox="1"/>
          <p:nvPr/>
        </p:nvSpPr>
        <p:spPr>
          <a:xfrm>
            <a:off x="6483096" y="2450592"/>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Use credentials with IDs. Anything else ends up in Git and in build logs.</a:t>
            </a:r>
            <a:endParaRPr lang="en-US" sz="1150" dirty="0"/>
          </a:p>
        </p:txBody>
      </p:sp>
      <p:sp>
        <p:nvSpPr>
          <p:cNvPr id="21" name="Shape 19"/>
          <p:cNvSpPr/>
          <p:nvPr/>
        </p:nvSpPr>
        <p:spPr>
          <a:xfrm>
            <a:off x="6245352" y="2907792"/>
            <a:ext cx="5303520" cy="960120"/>
          </a:xfrm>
          <a:prstGeom prst="roundRect">
            <a:avLst>
              <a:gd name="adj" fmla="val 5714"/>
            </a:avLst>
          </a:prstGeom>
          <a:solidFill>
            <a:srgbClr val="F8EEEC"/>
          </a:solidFill>
          <a:ln w="12700">
            <a:solidFill>
              <a:srgbClr val="E6CCC7"/>
            </a:solidFill>
            <a:prstDash val="solid"/>
          </a:ln>
          <a:effectLst>
            <a:outerShdw sx="100000" sy="100000" kx="0" ky="0" algn="bl" rotWithShape="0" blurRad="127000" dist="25400" dir="5400000">
              <a:srgbClr val="141C26">
                <a:alpha val="12000"/>
              </a:srgbClr>
            </a:outerShdw>
          </a:effectLst>
        </p:spPr>
      </p:sp>
      <p:sp>
        <p:nvSpPr>
          <p:cNvPr id="22" name="Text 20"/>
          <p:cNvSpPr txBox="1"/>
          <p:nvPr/>
        </p:nvSpPr>
        <p:spPr>
          <a:xfrm>
            <a:off x="6483096" y="3163824"/>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Manual steps inside an automated pipeline</a:t>
            </a:r>
            <a:endParaRPr lang="en-US" sz="1300" dirty="0"/>
          </a:p>
        </p:txBody>
      </p:sp>
      <p:sp>
        <p:nvSpPr>
          <p:cNvPr id="23" name="Text 21"/>
          <p:cNvSpPr txBox="1"/>
          <p:nvPr/>
        </p:nvSpPr>
        <p:spPr>
          <a:xfrm>
            <a:off x="6483096" y="3511296"/>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A pipeline that needs someone to click something at 2am is not automation.</a:t>
            </a:r>
            <a:endParaRPr lang="en-US" sz="1150" dirty="0"/>
          </a:p>
        </p:txBody>
      </p:sp>
      <p:sp>
        <p:nvSpPr>
          <p:cNvPr id="24" name="Shape 22"/>
          <p:cNvSpPr/>
          <p:nvPr/>
        </p:nvSpPr>
        <p:spPr>
          <a:xfrm>
            <a:off x="6245352" y="3968496"/>
            <a:ext cx="5303520" cy="960120"/>
          </a:xfrm>
          <a:prstGeom prst="roundRect">
            <a:avLst>
              <a:gd name="adj" fmla="val 5714"/>
            </a:avLst>
          </a:prstGeom>
          <a:solidFill>
            <a:srgbClr val="F8EEEC"/>
          </a:solidFill>
          <a:ln w="12700">
            <a:solidFill>
              <a:srgbClr val="E6CCC7"/>
            </a:solidFill>
            <a:prstDash val="solid"/>
          </a:ln>
          <a:effectLst>
            <a:outerShdw sx="100000" sy="100000" kx="0" ky="0" algn="bl" rotWithShape="0" blurRad="127000" dist="25400" dir="5400000">
              <a:srgbClr val="141C26">
                <a:alpha val="12000"/>
              </a:srgbClr>
            </a:outerShdw>
          </a:effectLst>
        </p:spPr>
      </p:sp>
      <p:sp>
        <p:nvSpPr>
          <p:cNvPr id="25" name="Text 23"/>
          <p:cNvSpPr txBox="1"/>
          <p:nvPr/>
        </p:nvSpPr>
        <p:spPr>
          <a:xfrm>
            <a:off x="6483096" y="4224528"/>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Snowflake controllers</a:t>
            </a:r>
            <a:endParaRPr lang="en-US" sz="1300" dirty="0"/>
          </a:p>
        </p:txBody>
      </p:sp>
      <p:sp>
        <p:nvSpPr>
          <p:cNvPr id="26" name="Text 24"/>
          <p:cNvSpPr txBox="1"/>
          <p:nvPr/>
        </p:nvSpPr>
        <p:spPr>
          <a:xfrm>
            <a:off x="6483096" y="4572000"/>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Instances configured by hand over years cannot be rebuilt. Use JCasC and back up JENKINS_HOME.</a:t>
            </a:r>
            <a:endParaRPr lang="en-US" sz="1150" dirty="0"/>
          </a:p>
        </p:txBody>
      </p:sp>
      <p:sp>
        <p:nvSpPr>
          <p:cNvPr id="27" name="Shape 25"/>
          <p:cNvSpPr/>
          <p:nvPr/>
        </p:nvSpPr>
        <p:spPr>
          <a:xfrm>
            <a:off x="6245352" y="5029200"/>
            <a:ext cx="5303520" cy="960120"/>
          </a:xfrm>
          <a:prstGeom prst="roundRect">
            <a:avLst>
              <a:gd name="adj" fmla="val 5714"/>
            </a:avLst>
          </a:prstGeom>
          <a:solidFill>
            <a:srgbClr val="F8EEEC"/>
          </a:solidFill>
          <a:ln w="12700">
            <a:solidFill>
              <a:srgbClr val="E6CCC7"/>
            </a:solidFill>
            <a:prstDash val="solid"/>
          </a:ln>
          <a:effectLst>
            <a:outerShdw sx="100000" sy="100000" kx="0" ky="0" algn="bl" rotWithShape="0" blurRad="127000" dist="25400" dir="5400000">
              <a:srgbClr val="141C26">
                <a:alpha val="12000"/>
              </a:srgbClr>
            </a:outerShdw>
          </a:effectLst>
        </p:spPr>
      </p:sp>
      <p:sp>
        <p:nvSpPr>
          <p:cNvPr id="28" name="Text 26"/>
          <p:cNvSpPr txBox="1"/>
          <p:nvPr/>
        </p:nvSpPr>
        <p:spPr>
          <a:xfrm>
            <a:off x="6483096" y="5285232"/>
            <a:ext cx="4828032" cy="310896"/>
          </a:xfrm>
          <a:prstGeom prst="rect">
            <a:avLst/>
          </a:prstGeom>
          <a:noFill/>
          <a:ln/>
        </p:spPr>
        <p:txBody>
          <a:bodyPr wrap="square" lIns="0" tIns="0" rIns="0" bIns="0" rtlCol="0" anchor="ctr"/>
          <a:lstStyle/>
          <a:p>
            <a:pPr indent="0" marL="0">
              <a:buNone/>
            </a:pPr>
            <a:r>
              <a:rPr lang="en-US" sz="1300" b="1" dirty="0">
                <a:solidFill>
                  <a:srgbClr val="141C26"/>
                </a:solidFill>
                <a:latin typeface="Calibri" pitchFamily="34" charset="0"/>
                <a:ea typeface="Calibri" pitchFamily="34" charset="-122"/>
                <a:cs typeface="Calibri" pitchFamily="34" charset="-120"/>
              </a:rPr>
              <a:t>Ignoring flaky tests</a:t>
            </a:r>
            <a:endParaRPr lang="en-US" sz="1300" dirty="0"/>
          </a:p>
        </p:txBody>
      </p:sp>
      <p:sp>
        <p:nvSpPr>
          <p:cNvPr id="29" name="Text 27"/>
          <p:cNvSpPr txBox="1"/>
          <p:nvPr/>
        </p:nvSpPr>
        <p:spPr>
          <a:xfrm>
            <a:off x="6483096" y="5632704"/>
            <a:ext cx="4828032" cy="283464"/>
          </a:xfrm>
          <a:prstGeom prst="rect">
            <a:avLst/>
          </a:prstGeom>
          <a:noFill/>
          <a:ln/>
        </p:spPr>
        <p:txBody>
          <a:bodyPr wrap="square" lIns="0" tIns="0" rIns="0" bIns="0" rtlCol="0" anchor="t"/>
          <a:lstStyle/>
          <a:p>
            <a:pPr indent="0" marL="0">
              <a:lnSpc>
                <a:spcPct val="105000"/>
              </a:lnSpc>
              <a:buNone/>
            </a:pPr>
            <a:r>
              <a:rPr lang="en-US" sz="1150" dirty="0">
                <a:solidFill>
                  <a:srgbClr val="28313B"/>
                </a:solidFill>
                <a:latin typeface="Calibri" pitchFamily="34" charset="0"/>
                <a:ea typeface="Calibri" pitchFamily="34" charset="-122"/>
                <a:cs typeface="Calibri" pitchFamily="34" charset="-120"/>
              </a:rPr>
              <a:t>Intermittent failures teach the team to re-run builds until they pass, which destroys trust in the signal.</a:t>
            </a:r>
            <a:endParaRPr lang="en-US" sz="1150" dirty="0"/>
          </a:p>
        </p:txBody>
      </p:sp>
      <p:sp>
        <p:nvSpPr>
          <p:cNvPr id="30" name="Text 28"/>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Every item above serves one goal: when the pipeline says green, everyone believes it.</a:t>
            </a:r>
            <a:endParaRPr lang="en-US" sz="10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TROUBLESHOOTING</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Problems you will hit, and the fix</a:t>
            </a:r>
            <a:endParaRPr lang="en-US" sz="3100" dirty="0"/>
          </a:p>
        </p:txBody>
      </p:sp>
      <p:sp>
        <p:nvSpPr>
          <p:cNvPr id="4" name="Shape 2"/>
          <p:cNvSpPr/>
          <p:nvPr/>
        </p:nvSpPr>
        <p:spPr>
          <a:xfrm>
            <a:off x="640080" y="1481328"/>
            <a:ext cx="3931920" cy="502920"/>
          </a:xfrm>
          <a:prstGeom prst="roundRect">
            <a:avLst>
              <a:gd name="adj" fmla="val 9091"/>
            </a:avLst>
          </a:prstGeom>
          <a:solidFill>
            <a:srgbClr val="2C3E50"/>
          </a:solidFill>
          <a:ln w="12700">
            <a:solidFill>
              <a:srgbClr val="2C3E50"/>
            </a:solidFill>
            <a:prstDash val="solid"/>
          </a:ln>
        </p:spPr>
      </p:sp>
      <p:sp>
        <p:nvSpPr>
          <p:cNvPr id="5" name="Shape 3"/>
          <p:cNvSpPr/>
          <p:nvPr/>
        </p:nvSpPr>
        <p:spPr>
          <a:xfrm>
            <a:off x="4663440" y="1481328"/>
            <a:ext cx="3566160" cy="502920"/>
          </a:xfrm>
          <a:prstGeom prst="roundRect">
            <a:avLst>
              <a:gd name="adj" fmla="val 9091"/>
            </a:avLst>
          </a:prstGeom>
          <a:solidFill>
            <a:srgbClr val="1F5673"/>
          </a:solidFill>
          <a:ln w="12700">
            <a:solidFill>
              <a:srgbClr val="1F5673"/>
            </a:solidFill>
            <a:prstDash val="solid"/>
          </a:ln>
        </p:spPr>
      </p:sp>
      <p:sp>
        <p:nvSpPr>
          <p:cNvPr id="6" name="Shape 4"/>
          <p:cNvSpPr/>
          <p:nvPr/>
        </p:nvSpPr>
        <p:spPr>
          <a:xfrm>
            <a:off x="8321040" y="1481328"/>
            <a:ext cx="3227832" cy="502920"/>
          </a:xfrm>
          <a:prstGeom prst="roundRect">
            <a:avLst>
              <a:gd name="adj" fmla="val 9091"/>
            </a:avLst>
          </a:prstGeom>
          <a:solidFill>
            <a:srgbClr val="141C26"/>
          </a:solidFill>
          <a:ln w="12700">
            <a:solidFill>
              <a:srgbClr val="141C26"/>
            </a:solidFill>
            <a:prstDash val="solid"/>
          </a:ln>
        </p:spPr>
      </p:sp>
      <p:sp>
        <p:nvSpPr>
          <p:cNvPr id="7" name="Text 5"/>
          <p:cNvSpPr txBox="1"/>
          <p:nvPr/>
        </p:nvSpPr>
        <p:spPr>
          <a:xfrm>
            <a:off x="822960" y="1481328"/>
            <a:ext cx="356616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Symptom</a:t>
            </a:r>
            <a:endParaRPr lang="en-US" sz="1350" dirty="0"/>
          </a:p>
        </p:txBody>
      </p:sp>
      <p:sp>
        <p:nvSpPr>
          <p:cNvPr id="8" name="Text 6"/>
          <p:cNvSpPr txBox="1"/>
          <p:nvPr/>
        </p:nvSpPr>
        <p:spPr>
          <a:xfrm>
            <a:off x="4846320" y="1481328"/>
            <a:ext cx="3200400"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Likely cause</a:t>
            </a:r>
            <a:endParaRPr lang="en-US" sz="1350" dirty="0"/>
          </a:p>
        </p:txBody>
      </p:sp>
      <p:sp>
        <p:nvSpPr>
          <p:cNvPr id="9" name="Text 7"/>
          <p:cNvSpPr txBox="1"/>
          <p:nvPr/>
        </p:nvSpPr>
        <p:spPr>
          <a:xfrm>
            <a:off x="8503920" y="1481328"/>
            <a:ext cx="2862072" cy="5029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What to do</a:t>
            </a:r>
            <a:endParaRPr lang="en-US" sz="1350" dirty="0"/>
          </a:p>
        </p:txBody>
      </p:sp>
      <p:sp>
        <p:nvSpPr>
          <p:cNvPr id="10" name="Shape 8"/>
          <p:cNvSpPr/>
          <p:nvPr/>
        </p:nvSpPr>
        <p:spPr>
          <a:xfrm>
            <a:off x="640080" y="2121408"/>
            <a:ext cx="10908792" cy="585216"/>
          </a:xfrm>
          <a:prstGeom prst="roundRect">
            <a:avLst>
              <a:gd name="adj" fmla="val 6250"/>
            </a:avLst>
          </a:prstGeom>
          <a:solidFill>
            <a:srgbClr val="F1F4F7"/>
          </a:solidFill>
          <a:ln w="12700">
            <a:solidFill>
              <a:srgbClr val="DBE2EA"/>
            </a:solidFill>
            <a:prstDash val="solid"/>
          </a:ln>
        </p:spPr>
      </p:sp>
      <p:sp>
        <p:nvSpPr>
          <p:cNvPr id="11" name="Text 9"/>
          <p:cNvSpPr txBox="1"/>
          <p:nvPr/>
        </p:nvSpPr>
        <p:spPr>
          <a:xfrm>
            <a:off x="822960" y="2121408"/>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Agent shows offline</a:t>
            </a:r>
            <a:endParaRPr lang="en-US" sz="1200" dirty="0"/>
          </a:p>
        </p:txBody>
      </p:sp>
      <p:sp>
        <p:nvSpPr>
          <p:cNvPr id="12" name="Text 10"/>
          <p:cNvSpPr txBox="1"/>
          <p:nvPr/>
        </p:nvSpPr>
        <p:spPr>
          <a:xfrm>
            <a:off x="4800600" y="2121408"/>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No Java on the agent, wrong credentials, or a blocked port</a:t>
            </a:r>
            <a:endParaRPr lang="en-US" sz="1100" dirty="0"/>
          </a:p>
        </p:txBody>
      </p:sp>
      <p:sp>
        <p:nvSpPr>
          <p:cNvPr id="13" name="Text 11"/>
          <p:cNvSpPr txBox="1"/>
          <p:nvPr/>
        </p:nvSpPr>
        <p:spPr>
          <a:xfrm>
            <a:off x="8458200" y="2121408"/>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Open the node's log — it states the reason plainly</a:t>
            </a:r>
            <a:endParaRPr lang="en-US" sz="1100" dirty="0"/>
          </a:p>
        </p:txBody>
      </p:sp>
      <p:sp>
        <p:nvSpPr>
          <p:cNvPr id="14" name="Shape 12"/>
          <p:cNvSpPr/>
          <p:nvPr/>
        </p:nvSpPr>
        <p:spPr>
          <a:xfrm>
            <a:off x="640080" y="2779776"/>
            <a:ext cx="10908792" cy="585216"/>
          </a:xfrm>
          <a:prstGeom prst="roundRect">
            <a:avLst>
              <a:gd name="adj" fmla="val 6250"/>
            </a:avLst>
          </a:prstGeom>
          <a:solidFill>
            <a:srgbClr val="FFFFFF"/>
          </a:solidFill>
          <a:ln w="12700">
            <a:solidFill>
              <a:srgbClr val="DBE2EA"/>
            </a:solidFill>
            <a:prstDash val="solid"/>
          </a:ln>
        </p:spPr>
      </p:sp>
      <p:sp>
        <p:nvSpPr>
          <p:cNvPr id="15" name="Text 13"/>
          <p:cNvSpPr txBox="1"/>
          <p:nvPr/>
        </p:nvSpPr>
        <p:spPr>
          <a:xfrm>
            <a:off x="822960" y="2779776"/>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mvn: command not found</a:t>
            </a:r>
            <a:endParaRPr lang="en-US" sz="1200" dirty="0"/>
          </a:p>
        </p:txBody>
      </p:sp>
      <p:sp>
        <p:nvSpPr>
          <p:cNvPr id="16" name="Text 14"/>
          <p:cNvSpPr txBox="1"/>
          <p:nvPr/>
        </p:nvSpPr>
        <p:spPr>
          <a:xfrm>
            <a:off x="4800600" y="2779776"/>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The tool is not installed on that agent, or the name does not match</a:t>
            </a:r>
            <a:endParaRPr lang="en-US" sz="1100" dirty="0"/>
          </a:p>
        </p:txBody>
      </p:sp>
      <p:sp>
        <p:nvSpPr>
          <p:cNvPr id="17" name="Text 15"/>
          <p:cNvSpPr txBox="1"/>
          <p:nvPr/>
        </p:nvSpPr>
        <p:spPr>
          <a:xfrm>
            <a:off x="8458200" y="2779776"/>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Check Tools configuration and the tools block name</a:t>
            </a:r>
            <a:endParaRPr lang="en-US" sz="1100" dirty="0"/>
          </a:p>
        </p:txBody>
      </p:sp>
      <p:sp>
        <p:nvSpPr>
          <p:cNvPr id="18" name="Shape 16"/>
          <p:cNvSpPr/>
          <p:nvPr/>
        </p:nvSpPr>
        <p:spPr>
          <a:xfrm>
            <a:off x="640080" y="3438144"/>
            <a:ext cx="10908792" cy="585216"/>
          </a:xfrm>
          <a:prstGeom prst="roundRect">
            <a:avLst>
              <a:gd name="adj" fmla="val 6250"/>
            </a:avLst>
          </a:prstGeom>
          <a:solidFill>
            <a:srgbClr val="F1F4F7"/>
          </a:solidFill>
          <a:ln w="12700">
            <a:solidFill>
              <a:srgbClr val="DBE2EA"/>
            </a:solidFill>
            <a:prstDash val="solid"/>
          </a:ln>
        </p:spPr>
      </p:sp>
      <p:sp>
        <p:nvSpPr>
          <p:cNvPr id="19" name="Text 17"/>
          <p:cNvSpPr txBox="1"/>
          <p:nvPr/>
        </p:nvSpPr>
        <p:spPr>
          <a:xfrm>
            <a:off x="822960" y="3438144"/>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Build works locally, fails in Jenkins</a:t>
            </a:r>
            <a:endParaRPr lang="en-US" sz="1200" dirty="0"/>
          </a:p>
        </p:txBody>
      </p:sp>
      <p:sp>
        <p:nvSpPr>
          <p:cNvPr id="20" name="Text 18"/>
          <p:cNvSpPr txBox="1"/>
          <p:nvPr/>
        </p:nvSpPr>
        <p:spPr>
          <a:xfrm>
            <a:off x="4800600" y="3438144"/>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A different user, environment or missing tool on the agent</a:t>
            </a:r>
            <a:endParaRPr lang="en-US" sz="1100" dirty="0"/>
          </a:p>
        </p:txBody>
      </p:sp>
      <p:sp>
        <p:nvSpPr>
          <p:cNvPr id="21" name="Text 19"/>
          <p:cNvSpPr txBox="1"/>
          <p:nvPr/>
        </p:nvSpPr>
        <p:spPr>
          <a:xfrm>
            <a:off x="8458200" y="3438144"/>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Print env in the pipeline and compare</a:t>
            </a:r>
            <a:endParaRPr lang="en-US" sz="1100" dirty="0"/>
          </a:p>
        </p:txBody>
      </p:sp>
      <p:sp>
        <p:nvSpPr>
          <p:cNvPr id="22" name="Shape 20"/>
          <p:cNvSpPr/>
          <p:nvPr/>
        </p:nvSpPr>
        <p:spPr>
          <a:xfrm>
            <a:off x="640080" y="4096512"/>
            <a:ext cx="10908792" cy="585216"/>
          </a:xfrm>
          <a:prstGeom prst="roundRect">
            <a:avLst>
              <a:gd name="adj" fmla="val 6250"/>
            </a:avLst>
          </a:prstGeom>
          <a:solidFill>
            <a:srgbClr val="FFFFFF"/>
          </a:solidFill>
          <a:ln w="12700">
            <a:solidFill>
              <a:srgbClr val="DBE2EA"/>
            </a:solidFill>
            <a:prstDash val="solid"/>
          </a:ln>
        </p:spPr>
      </p:sp>
      <p:sp>
        <p:nvSpPr>
          <p:cNvPr id="23" name="Text 21"/>
          <p:cNvSpPr txBox="1"/>
          <p:nvPr/>
        </p:nvSpPr>
        <p:spPr>
          <a:xfrm>
            <a:off x="822960" y="4096512"/>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Webhook never triggers</a:t>
            </a:r>
            <a:endParaRPr lang="en-US" sz="1200" dirty="0"/>
          </a:p>
        </p:txBody>
      </p:sp>
      <p:sp>
        <p:nvSpPr>
          <p:cNvPr id="24" name="Text 22"/>
          <p:cNvSpPr txBox="1"/>
          <p:nvPr/>
        </p:nvSpPr>
        <p:spPr>
          <a:xfrm>
            <a:off x="4800600" y="4096512"/>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Jenkins URL wrong, or Jenkins unreachable from the SCM</a:t>
            </a:r>
            <a:endParaRPr lang="en-US" sz="1100" dirty="0"/>
          </a:p>
        </p:txBody>
      </p:sp>
      <p:sp>
        <p:nvSpPr>
          <p:cNvPr id="25" name="Text 23"/>
          <p:cNvSpPr txBox="1"/>
          <p:nvPr/>
        </p:nvSpPr>
        <p:spPr>
          <a:xfrm>
            <a:off x="8458200" y="4096512"/>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Check the webhook delivery log on the repository side</a:t>
            </a:r>
            <a:endParaRPr lang="en-US" sz="1100" dirty="0"/>
          </a:p>
        </p:txBody>
      </p:sp>
      <p:sp>
        <p:nvSpPr>
          <p:cNvPr id="26" name="Shape 24"/>
          <p:cNvSpPr/>
          <p:nvPr/>
        </p:nvSpPr>
        <p:spPr>
          <a:xfrm>
            <a:off x="640080" y="4754880"/>
            <a:ext cx="10908792" cy="585216"/>
          </a:xfrm>
          <a:prstGeom prst="roundRect">
            <a:avLst>
              <a:gd name="adj" fmla="val 6250"/>
            </a:avLst>
          </a:prstGeom>
          <a:solidFill>
            <a:srgbClr val="F1F4F7"/>
          </a:solidFill>
          <a:ln w="12700">
            <a:solidFill>
              <a:srgbClr val="DBE2EA"/>
            </a:solidFill>
            <a:prstDash val="solid"/>
          </a:ln>
        </p:spPr>
      </p:sp>
      <p:sp>
        <p:nvSpPr>
          <p:cNvPr id="27" name="Text 25"/>
          <p:cNvSpPr txBox="1"/>
          <p:nvPr/>
        </p:nvSpPr>
        <p:spPr>
          <a:xfrm>
            <a:off x="822960" y="4754880"/>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Deployment returns 403</a:t>
            </a:r>
            <a:endParaRPr lang="en-US" sz="1200" dirty="0"/>
          </a:p>
        </p:txBody>
      </p:sp>
      <p:sp>
        <p:nvSpPr>
          <p:cNvPr id="28" name="Text 26"/>
          <p:cNvSpPr txBox="1"/>
          <p:nvPr/>
        </p:nvSpPr>
        <p:spPr>
          <a:xfrm>
            <a:off x="4800600" y="4754880"/>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The Tomcat user lacks manager-script, or credentials are wrong</a:t>
            </a:r>
            <a:endParaRPr lang="en-US" sz="1100" dirty="0"/>
          </a:p>
        </p:txBody>
      </p:sp>
      <p:sp>
        <p:nvSpPr>
          <p:cNvPr id="29" name="Text 27"/>
          <p:cNvSpPr txBox="1"/>
          <p:nvPr/>
        </p:nvSpPr>
        <p:spPr>
          <a:xfrm>
            <a:off x="8458200" y="4754880"/>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Test the manager URL with curl from the agent</a:t>
            </a:r>
            <a:endParaRPr lang="en-US" sz="1100" dirty="0"/>
          </a:p>
        </p:txBody>
      </p:sp>
      <p:sp>
        <p:nvSpPr>
          <p:cNvPr id="30" name="Shape 28"/>
          <p:cNvSpPr/>
          <p:nvPr/>
        </p:nvSpPr>
        <p:spPr>
          <a:xfrm>
            <a:off x="640080" y="5413248"/>
            <a:ext cx="10908792" cy="585216"/>
          </a:xfrm>
          <a:prstGeom prst="roundRect">
            <a:avLst>
              <a:gd name="adj" fmla="val 6250"/>
            </a:avLst>
          </a:prstGeom>
          <a:solidFill>
            <a:srgbClr val="FFFFFF"/>
          </a:solidFill>
          <a:ln w="12700">
            <a:solidFill>
              <a:srgbClr val="DBE2EA"/>
            </a:solidFill>
            <a:prstDash val="solid"/>
          </a:ln>
        </p:spPr>
      </p:sp>
      <p:sp>
        <p:nvSpPr>
          <p:cNvPr id="31" name="Text 29"/>
          <p:cNvSpPr txBox="1"/>
          <p:nvPr/>
        </p:nvSpPr>
        <p:spPr>
          <a:xfrm>
            <a:off x="822960" y="5413248"/>
            <a:ext cx="3657600" cy="585216"/>
          </a:xfrm>
          <a:prstGeom prst="rect">
            <a:avLst/>
          </a:prstGeom>
          <a:noFill/>
          <a:ln/>
        </p:spPr>
        <p:txBody>
          <a:bodyPr wrap="square" lIns="0" tIns="0" rIns="0" bIns="0" rtlCol="0" anchor="ctr"/>
          <a:lstStyle/>
          <a:p>
            <a:pPr indent="0" marL="0">
              <a:buNone/>
            </a:pPr>
            <a:r>
              <a:rPr lang="en-US" sz="1200" b="1" dirty="0">
                <a:solidFill>
                  <a:srgbClr val="A8392C"/>
                </a:solidFill>
                <a:latin typeface="Calibri" pitchFamily="34" charset="0"/>
                <a:ea typeface="Calibri" pitchFamily="34" charset="-122"/>
                <a:cs typeface="Calibri" pitchFamily="34" charset="-120"/>
              </a:rPr>
              <a:t>Disk full on the controller</a:t>
            </a:r>
            <a:endParaRPr lang="en-US" sz="1200" dirty="0"/>
          </a:p>
        </p:txBody>
      </p:sp>
      <p:sp>
        <p:nvSpPr>
          <p:cNvPr id="32" name="Text 30"/>
          <p:cNvSpPr txBox="1"/>
          <p:nvPr/>
        </p:nvSpPr>
        <p:spPr>
          <a:xfrm>
            <a:off x="4800600" y="5413248"/>
            <a:ext cx="333756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Old builds and archived artifacts never discarded</a:t>
            </a:r>
            <a:endParaRPr lang="en-US" sz="1100" dirty="0"/>
          </a:p>
        </p:txBody>
      </p:sp>
      <p:sp>
        <p:nvSpPr>
          <p:cNvPr id="33" name="Text 31"/>
          <p:cNvSpPr txBox="1"/>
          <p:nvPr/>
        </p:nvSpPr>
        <p:spPr>
          <a:xfrm>
            <a:off x="8458200" y="5413248"/>
            <a:ext cx="3017520" cy="585216"/>
          </a:xfrm>
          <a:prstGeom prst="rect">
            <a:avLst/>
          </a:prstGeom>
          <a:noFill/>
          <a:ln/>
        </p:spPr>
        <p:txBody>
          <a:bodyPr wrap="square" lIns="0" tIns="0" rIns="0" bIns="0" rtlCol="0" anchor="ctr"/>
          <a:lstStyle/>
          <a:p>
            <a:pPr indent="0" marL="0">
              <a:buNone/>
            </a:pPr>
            <a:r>
              <a:rPr lang="en-US" sz="1100" dirty="0">
                <a:solidFill>
                  <a:srgbClr val="28313B"/>
                </a:solidFill>
                <a:latin typeface="Calibri" pitchFamily="34" charset="0"/>
                <a:ea typeface="Calibri" pitchFamily="34" charset="-122"/>
                <a:cs typeface="Calibri" pitchFamily="34" charset="-120"/>
              </a:rPr>
              <a:t>Set a build retention policy on every job</a:t>
            </a:r>
            <a:endParaRPr lang="en-US" sz="1100" dirty="0"/>
          </a:p>
        </p:txBody>
      </p:sp>
      <p:sp>
        <p:nvSpPr>
          <p:cNvPr id="34" name="Text 32"/>
          <p:cNvSpPr txBox="1"/>
          <p:nvPr/>
        </p:nvSpPr>
        <p:spPr>
          <a:xfrm>
            <a:off x="640080" y="6327648"/>
            <a:ext cx="10908792" cy="274320"/>
          </a:xfrm>
          <a:prstGeom prst="rect">
            <a:avLst/>
          </a:prstGeom>
          <a:noFill/>
          <a:ln/>
        </p:spPr>
        <p:txBody>
          <a:bodyPr wrap="square" lIns="0" tIns="0" rIns="0" bIns="0" rtlCol="0" anchor="ctr"/>
          <a:lstStyle/>
          <a:p>
            <a:pPr indent="0" marL="0">
              <a:buNone/>
            </a:pPr>
            <a:r>
              <a:rPr lang="en-US" sz="1050" i="1" dirty="0">
                <a:solidFill>
                  <a:srgbClr val="667081"/>
                </a:solidFill>
                <a:latin typeface="Calibri" pitchFamily="34" charset="0"/>
                <a:ea typeface="Calibri" pitchFamily="34" charset="-122"/>
                <a:cs typeface="Calibri" pitchFamily="34" charset="-120"/>
              </a:rPr>
              <a:t>Start with the console output, then the node log, then Manage Jenkins → System Information. In that order.</a:t>
            </a:r>
            <a:endParaRPr lang="en-US" sz="10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1F5673"/>
                </a:solidFill>
                <a:latin typeface="Calibri" pitchFamily="34" charset="0"/>
                <a:ea typeface="Calibri" pitchFamily="34" charset="-122"/>
                <a:cs typeface="Calibri" pitchFamily="34" charset="-120"/>
              </a:rPr>
              <a:t>HANDS-ON</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141C26"/>
                </a:solidFill>
                <a:latin typeface="Cambria" pitchFamily="34" charset="0"/>
                <a:ea typeface="Cambria" pitchFamily="34" charset="-122"/>
                <a:cs typeface="Cambria" pitchFamily="34" charset="-120"/>
              </a:rPr>
              <a:t>Lab 3 — deploy and automate</a:t>
            </a:r>
            <a:endParaRPr lang="en-US" sz="3100" dirty="0"/>
          </a:p>
        </p:txBody>
      </p:sp>
      <p:sp>
        <p:nvSpPr>
          <p:cNvPr id="4" name="Shape 2"/>
          <p:cNvSpPr/>
          <p:nvPr/>
        </p:nvSpPr>
        <p:spPr>
          <a:xfrm>
            <a:off x="640080"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5" name="Shape 3"/>
          <p:cNvSpPr/>
          <p:nvPr/>
        </p:nvSpPr>
        <p:spPr>
          <a:xfrm>
            <a:off x="640080" y="1645920"/>
            <a:ext cx="2514600" cy="640080"/>
          </a:xfrm>
          <a:prstGeom prst="roundRect">
            <a:avLst>
              <a:gd name="adj" fmla="val 8571"/>
            </a:avLst>
          </a:prstGeom>
          <a:solidFill>
            <a:srgbClr val="1F5673"/>
          </a:solidFill>
          <a:ln w="12700">
            <a:solidFill>
              <a:srgbClr val="1F5673"/>
            </a:solidFill>
            <a:prstDash val="solid"/>
          </a:ln>
        </p:spPr>
      </p:sp>
      <p:sp>
        <p:nvSpPr>
          <p:cNvPr id="6" name="Text 4"/>
          <p:cNvSpPr txBox="1"/>
          <p:nvPr/>
        </p:nvSpPr>
        <p:spPr>
          <a:xfrm>
            <a:off x="877824"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Tomcat</a:t>
            </a:r>
            <a:endParaRPr lang="en-US" sz="1450" dirty="0"/>
          </a:p>
        </p:txBody>
      </p:sp>
      <p:sp>
        <p:nvSpPr>
          <p:cNvPr id="7" name="Text 5"/>
          <p:cNvSpPr txBox="1"/>
          <p:nvPr/>
        </p:nvSpPr>
        <p:spPr>
          <a:xfrm>
            <a:off x="877824"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Start Tomcat on a free port</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deployer user with manager-script</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Confirm the manager URL responds</a:t>
            </a:r>
            <a:endParaRPr lang="en-US" sz="1200" dirty="0"/>
          </a:p>
        </p:txBody>
      </p:sp>
      <p:sp>
        <p:nvSpPr>
          <p:cNvPr id="8" name="Shape 6"/>
          <p:cNvSpPr/>
          <p:nvPr/>
        </p:nvSpPr>
        <p:spPr>
          <a:xfrm>
            <a:off x="3456432"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9" name="Shape 7"/>
          <p:cNvSpPr/>
          <p:nvPr/>
        </p:nvSpPr>
        <p:spPr>
          <a:xfrm>
            <a:off x="3456432" y="1645920"/>
            <a:ext cx="2514600" cy="640080"/>
          </a:xfrm>
          <a:prstGeom prst="roundRect">
            <a:avLst>
              <a:gd name="adj" fmla="val 8571"/>
            </a:avLst>
          </a:prstGeom>
          <a:solidFill>
            <a:srgbClr val="1F5673"/>
          </a:solidFill>
          <a:ln w="12700">
            <a:solidFill>
              <a:srgbClr val="1F5673"/>
            </a:solidFill>
            <a:prstDash val="solid"/>
          </a:ln>
        </p:spPr>
      </p:sp>
      <p:sp>
        <p:nvSpPr>
          <p:cNvPr id="10" name="Text 8"/>
          <p:cNvSpPr txBox="1"/>
          <p:nvPr/>
        </p:nvSpPr>
        <p:spPr>
          <a:xfrm>
            <a:off x="3694176"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Deploy</a:t>
            </a:r>
            <a:endParaRPr lang="en-US" sz="1450" dirty="0"/>
          </a:p>
        </p:txBody>
      </p:sp>
      <p:sp>
        <p:nvSpPr>
          <p:cNvPr id="11" name="Text 9"/>
          <p:cNvSpPr txBox="1"/>
          <p:nvPr/>
        </p:nvSpPr>
        <p:spPr>
          <a:xfrm>
            <a:off x="3694176"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Store the Tomcat credential in Jenkins</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Deploy stage to your pipeline</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Open the deployed application in a browser</a:t>
            </a:r>
            <a:endParaRPr lang="en-US" sz="1200" dirty="0"/>
          </a:p>
        </p:txBody>
      </p:sp>
      <p:sp>
        <p:nvSpPr>
          <p:cNvPr id="12" name="Shape 10"/>
          <p:cNvSpPr/>
          <p:nvPr/>
        </p:nvSpPr>
        <p:spPr>
          <a:xfrm>
            <a:off x="6272784"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3" name="Shape 11"/>
          <p:cNvSpPr/>
          <p:nvPr/>
        </p:nvSpPr>
        <p:spPr>
          <a:xfrm>
            <a:off x="6272784" y="1645920"/>
            <a:ext cx="2514600" cy="640080"/>
          </a:xfrm>
          <a:prstGeom prst="roundRect">
            <a:avLst>
              <a:gd name="adj" fmla="val 8571"/>
            </a:avLst>
          </a:prstGeom>
          <a:solidFill>
            <a:srgbClr val="1F5673"/>
          </a:solidFill>
          <a:ln w="12700">
            <a:solidFill>
              <a:srgbClr val="1F5673"/>
            </a:solidFill>
            <a:prstDash val="solid"/>
          </a:ln>
        </p:spPr>
      </p:sp>
      <p:sp>
        <p:nvSpPr>
          <p:cNvPr id="14" name="Text 12"/>
          <p:cNvSpPr txBox="1"/>
          <p:nvPr/>
        </p:nvSpPr>
        <p:spPr>
          <a:xfrm>
            <a:off x="6510528"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Trigger</a:t>
            </a:r>
            <a:endParaRPr lang="en-US" sz="1450" dirty="0"/>
          </a:p>
        </p:txBody>
      </p:sp>
      <p:sp>
        <p:nvSpPr>
          <p:cNvPr id="15" name="Text 13"/>
          <p:cNvSpPr txBox="1"/>
          <p:nvPr/>
        </p:nvSpPr>
        <p:spPr>
          <a:xfrm>
            <a:off x="6510528"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webhook or poll trigger</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Push a commit and watch the build start</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a Verify stage that curls the app</a:t>
            </a:r>
            <a:endParaRPr lang="en-US" sz="1200" dirty="0"/>
          </a:p>
        </p:txBody>
      </p:sp>
      <p:sp>
        <p:nvSpPr>
          <p:cNvPr id="16" name="Shape 14"/>
          <p:cNvSpPr/>
          <p:nvPr/>
        </p:nvSpPr>
        <p:spPr>
          <a:xfrm>
            <a:off x="9089136" y="1645920"/>
            <a:ext cx="2514600" cy="3200400"/>
          </a:xfrm>
          <a:prstGeom prst="roundRect">
            <a:avLst>
              <a:gd name="adj" fmla="val 2182"/>
            </a:avLst>
          </a:prstGeom>
          <a:solidFill>
            <a:srgbClr val="F1F4F7"/>
          </a:solidFill>
          <a:ln w="12700">
            <a:solidFill>
              <a:srgbClr val="DBE2EA"/>
            </a:solidFill>
            <a:prstDash val="solid"/>
          </a:ln>
          <a:effectLst>
            <a:outerShdw sx="100000" sy="100000" kx="0" ky="0" algn="bl" rotWithShape="0" blurRad="127000" dist="25400" dir="5400000">
              <a:srgbClr val="141C26">
                <a:alpha val="12000"/>
              </a:srgbClr>
            </a:outerShdw>
          </a:effectLst>
        </p:spPr>
      </p:sp>
      <p:sp>
        <p:nvSpPr>
          <p:cNvPr id="17" name="Shape 15"/>
          <p:cNvSpPr/>
          <p:nvPr/>
        </p:nvSpPr>
        <p:spPr>
          <a:xfrm>
            <a:off x="9089136" y="1645920"/>
            <a:ext cx="2514600" cy="640080"/>
          </a:xfrm>
          <a:prstGeom prst="roundRect">
            <a:avLst>
              <a:gd name="adj" fmla="val 8571"/>
            </a:avLst>
          </a:prstGeom>
          <a:solidFill>
            <a:srgbClr val="2C3E50"/>
          </a:solidFill>
          <a:ln w="12700">
            <a:solidFill>
              <a:srgbClr val="2C3E50"/>
            </a:solidFill>
            <a:prstDash val="solid"/>
          </a:ln>
        </p:spPr>
      </p:sp>
      <p:sp>
        <p:nvSpPr>
          <p:cNvPr id="18" name="Text 16"/>
          <p:cNvSpPr txBox="1"/>
          <p:nvPr/>
        </p:nvSpPr>
        <p:spPr>
          <a:xfrm>
            <a:off x="9326880" y="1645920"/>
            <a:ext cx="2039112" cy="640080"/>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Notify</a:t>
            </a:r>
            <a:endParaRPr lang="en-US" sz="1450" dirty="0"/>
          </a:p>
        </p:txBody>
      </p:sp>
      <p:sp>
        <p:nvSpPr>
          <p:cNvPr id="19" name="Text 17"/>
          <p:cNvSpPr txBox="1"/>
          <p:nvPr/>
        </p:nvSpPr>
        <p:spPr>
          <a:xfrm>
            <a:off x="9326880" y="2432304"/>
            <a:ext cx="2039112" cy="2194560"/>
          </a:xfrm>
          <a:prstGeom prst="rect">
            <a:avLst/>
          </a:prstGeom>
          <a:noFill/>
          <a:ln/>
        </p:spPr>
        <p:txBody>
          <a:bodyPr wrap="square" lIns="0" tIns="0" rIns="0" bIns="0" rtlCol="0" anchor="t"/>
          <a:lstStyle/>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Configure SMTP</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Add post failure and fixed blocks</a:t>
            </a:r>
            <a:endParaRPr lang="en-US" sz="1200" dirty="0"/>
          </a:p>
          <a:p>
            <a:pPr marL="203200" indent="-203200">
              <a:spcAft>
                <a:spcPts val="900"/>
              </a:spcAft>
              <a:buSzPct val="100000"/>
              <a:buChar char="•"/>
            </a:pPr>
            <a:r>
              <a:rPr lang="en-US" sz="1200" dirty="0">
                <a:solidFill>
                  <a:srgbClr val="28313B"/>
                </a:solidFill>
                <a:latin typeface="Calibri" pitchFamily="34" charset="0"/>
                <a:ea typeface="Calibri" pitchFamily="34" charset="-122"/>
                <a:cs typeface="Calibri" pitchFamily="34" charset="-120"/>
              </a:rPr>
              <a:t>Break the build and confirm the email</a:t>
            </a:r>
            <a:endParaRPr lang="en-US" sz="1200" dirty="0"/>
          </a:p>
        </p:txBody>
      </p:sp>
      <p:sp>
        <p:nvSpPr>
          <p:cNvPr id="20" name="Shape 18"/>
          <p:cNvSpPr/>
          <p:nvPr/>
        </p:nvSpPr>
        <p:spPr>
          <a:xfrm>
            <a:off x="640080" y="5074920"/>
            <a:ext cx="10908792" cy="1005840"/>
          </a:xfrm>
          <a:prstGeom prst="roundRect">
            <a:avLst>
              <a:gd name="adj" fmla="val 5455"/>
            </a:avLst>
          </a:prstGeom>
          <a:solidFill>
            <a:srgbClr val="141C26"/>
          </a:solidFill>
          <a:ln w="12700">
            <a:solidFill>
              <a:srgbClr val="141C26"/>
            </a:solidFill>
            <a:prstDash val="solid"/>
          </a:ln>
        </p:spPr>
      </p:sp>
      <p:sp>
        <p:nvSpPr>
          <p:cNvPr id="21" name="Text 19"/>
          <p:cNvSpPr txBox="1"/>
          <p:nvPr/>
        </p:nvSpPr>
        <p:spPr>
          <a:xfrm>
            <a:off x="1005840" y="5074920"/>
            <a:ext cx="10177272" cy="1005840"/>
          </a:xfrm>
          <a:prstGeom prst="rect">
            <a:avLst/>
          </a:prstGeom>
          <a:noFill/>
          <a:ln/>
        </p:spPr>
        <p:txBody>
          <a:bodyPr wrap="square" lIns="0" tIns="0" rIns="0" bIns="0" rtlCol="0" anchor="ctr"/>
          <a:lstStyle/>
          <a:p>
            <a:pPr indent="0" marL="0">
              <a:buNone/>
            </a:pPr>
            <a:r>
              <a:rPr lang="en-US" sz="1450" dirty="0">
                <a:solidFill>
                  <a:srgbClr val="FFFFFF"/>
                </a:solidFill>
                <a:latin typeface="Calibri" pitchFamily="34" charset="0"/>
                <a:ea typeface="Calibri" pitchFamily="34" charset="-122"/>
                <a:cs typeface="Calibri" pitchFamily="34" charset="-120"/>
              </a:rPr>
              <a:t>40 minutes. Finish with a full run: commit a change, and watch it reach the running application with no manual step.</a:t>
            </a:r>
            <a:endParaRPr lang="en-US" sz="14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141C26"/>
        </a:solidFill>
      </p:bgPr>
    </p:bg>
    <p:spTree>
      <p:nvGrpSpPr>
        <p:cNvPr id="1" name=""/>
        <p:cNvGrpSpPr/>
        <p:nvPr/>
      </p:nvGrpSpPr>
      <p:grpSpPr>
        <a:xfrm>
          <a:off x="0" y="0"/>
          <a:ext cx="0" cy="0"/>
          <a:chOff x="0" y="0"/>
          <a:chExt cx="0" cy="0"/>
        </a:xfrm>
      </p:grpSpPr>
      <p:sp>
        <p:nvSpPr>
          <p:cNvPr id="2" name="Text 0"/>
          <p:cNvSpPr txBox="1"/>
          <p:nvPr/>
        </p:nvSpPr>
        <p:spPr>
          <a:xfrm>
            <a:off x="640080" y="384048"/>
            <a:ext cx="10908792" cy="256032"/>
          </a:xfrm>
          <a:prstGeom prst="rect">
            <a:avLst/>
          </a:prstGeom>
          <a:noFill/>
          <a:ln/>
        </p:spPr>
        <p:txBody>
          <a:bodyPr wrap="square" lIns="0" tIns="0" rIns="0" bIns="0" rtlCol="0" anchor="ctr"/>
          <a:lstStyle/>
          <a:p>
            <a:pPr indent="0" marL="0">
              <a:buNone/>
            </a:pPr>
            <a:r>
              <a:rPr lang="en-US" sz="1150" b="1" spc="200" kern="0" dirty="0">
                <a:solidFill>
                  <a:srgbClr val="6FB3D2"/>
                </a:solidFill>
                <a:latin typeface="Calibri" pitchFamily="34" charset="0"/>
                <a:ea typeface="Calibri" pitchFamily="34" charset="-122"/>
                <a:cs typeface="Calibri" pitchFamily="34" charset="-120"/>
              </a:rPr>
              <a:t>MODULE RECAP</a:t>
            </a:r>
            <a:endParaRPr lang="en-US" sz="1150" dirty="0"/>
          </a:p>
        </p:txBody>
      </p:sp>
      <p:sp>
        <p:nvSpPr>
          <p:cNvPr id="3" name="Text 1"/>
          <p:cNvSpPr txBox="1"/>
          <p:nvPr/>
        </p:nvSpPr>
        <p:spPr>
          <a:xfrm>
            <a:off x="640080" y="658368"/>
            <a:ext cx="10908792" cy="658368"/>
          </a:xfrm>
          <a:prstGeom prst="rect">
            <a:avLst/>
          </a:prstGeom>
          <a:noFill/>
          <a:ln/>
        </p:spPr>
        <p:txBody>
          <a:bodyPr wrap="square" lIns="0" tIns="0" rIns="0" bIns="0" rtlCol="0" anchor="ctr"/>
          <a:lstStyle/>
          <a:p>
            <a:pPr indent="0" marL="0">
              <a:buNone/>
            </a:pPr>
            <a:r>
              <a:rPr lang="en-US" sz="3100" b="1" dirty="0">
                <a:solidFill>
                  <a:srgbClr val="FFFFFF"/>
                </a:solidFill>
                <a:latin typeface="Cambria" pitchFamily="34" charset="0"/>
                <a:ea typeface="Cambria" pitchFamily="34" charset="-122"/>
                <a:cs typeface="Cambria" pitchFamily="34" charset="-120"/>
              </a:rPr>
              <a:t>What you can now do</a:t>
            </a:r>
            <a:endParaRPr lang="en-US" sz="3100" dirty="0"/>
          </a:p>
        </p:txBody>
      </p:sp>
      <p:sp>
        <p:nvSpPr>
          <p:cNvPr id="4" name="Shape 2"/>
          <p:cNvSpPr/>
          <p:nvPr/>
        </p:nvSpPr>
        <p:spPr>
          <a:xfrm>
            <a:off x="640080" y="1572768"/>
            <a:ext cx="10908792" cy="804672"/>
          </a:xfrm>
          <a:prstGeom prst="roundRect">
            <a:avLst>
              <a:gd name="adj" fmla="val 5682"/>
            </a:avLst>
          </a:prstGeom>
          <a:solidFill>
            <a:srgbClr val="2C3E50"/>
          </a:solidFill>
          <a:ln w="12700">
            <a:solidFill>
              <a:srgbClr val="3D5165"/>
            </a:solidFill>
            <a:prstDash val="solid"/>
          </a:ln>
        </p:spPr>
      </p:sp>
      <p:sp>
        <p:nvSpPr>
          <p:cNvPr id="5" name="Shape 3"/>
          <p:cNvSpPr/>
          <p:nvPr/>
        </p:nvSpPr>
        <p:spPr>
          <a:xfrm>
            <a:off x="877824" y="1764792"/>
            <a:ext cx="420624" cy="420624"/>
          </a:xfrm>
          <a:prstGeom prst="ellipse">
            <a:avLst/>
          </a:prstGeom>
          <a:solidFill>
            <a:srgbClr val="6FB3D2"/>
          </a:solidFill>
          <a:ln w="12700">
            <a:solidFill>
              <a:srgbClr val="6FB3D2"/>
            </a:solidFill>
            <a:prstDash val="solid"/>
          </a:ln>
        </p:spPr>
      </p:sp>
      <p:sp>
        <p:nvSpPr>
          <p:cNvPr id="6" name="Text 4"/>
          <p:cNvSpPr txBox="1"/>
          <p:nvPr/>
        </p:nvSpPr>
        <p:spPr>
          <a:xfrm>
            <a:off x="877824" y="1764792"/>
            <a:ext cx="420624" cy="420624"/>
          </a:xfrm>
          <a:prstGeom prst="rect">
            <a:avLst/>
          </a:prstGeom>
          <a:noFill/>
          <a:ln/>
        </p:spPr>
        <p:txBody>
          <a:bodyPr wrap="square" lIns="0" tIns="0" rIns="0" bIns="0" rtlCol="0" anchor="ctr"/>
          <a:lstStyle/>
          <a:p>
            <a:pPr algn="ctr" indent="0" marL="0">
              <a:buNone/>
            </a:pPr>
            <a:r>
              <a:rPr lang="en-US" sz="1300" b="1" dirty="0">
                <a:solidFill>
                  <a:srgbClr val="141C26"/>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499616" y="1572768"/>
            <a:ext cx="3931920" cy="8046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Explain continuous integration</a:t>
            </a:r>
            <a:endParaRPr lang="en-US" sz="1500" dirty="0"/>
          </a:p>
        </p:txBody>
      </p:sp>
      <p:sp>
        <p:nvSpPr>
          <p:cNvPr id="8" name="Text 6"/>
          <p:cNvSpPr txBox="1"/>
          <p:nvPr/>
        </p:nvSpPr>
        <p:spPr>
          <a:xfrm>
            <a:off x="5486400" y="1572768"/>
            <a:ext cx="5788152" cy="804672"/>
          </a:xfrm>
          <a:prstGeom prst="rect">
            <a:avLst/>
          </a:prstGeom>
          <a:noFill/>
          <a:ln/>
        </p:spPr>
        <p:txBody>
          <a:bodyPr wrap="square" lIns="0" tIns="0" rIns="0" bIns="0" rtlCol="0" anchor="ctr"/>
          <a:lstStyle/>
          <a:p>
            <a:pPr indent="0" marL="0">
              <a:buNone/>
            </a:pPr>
            <a:r>
              <a:rPr lang="en-US" sz="1250" dirty="0">
                <a:solidFill>
                  <a:srgbClr val="B0BBC7"/>
                </a:solidFill>
                <a:latin typeface="Calibri" pitchFamily="34" charset="0"/>
                <a:ea typeface="Calibri" pitchFamily="34" charset="-122"/>
                <a:cs typeface="Calibri" pitchFamily="34" charset="-120"/>
              </a:rPr>
              <a:t>Describe how it differs from traditional integration and what practices it requires.</a:t>
            </a:r>
            <a:endParaRPr lang="en-US" sz="1250" dirty="0"/>
          </a:p>
        </p:txBody>
      </p:sp>
      <p:sp>
        <p:nvSpPr>
          <p:cNvPr id="9" name="Shape 7"/>
          <p:cNvSpPr/>
          <p:nvPr/>
        </p:nvSpPr>
        <p:spPr>
          <a:xfrm>
            <a:off x="640080" y="2505456"/>
            <a:ext cx="10908792" cy="804672"/>
          </a:xfrm>
          <a:prstGeom prst="roundRect">
            <a:avLst>
              <a:gd name="adj" fmla="val 5682"/>
            </a:avLst>
          </a:prstGeom>
          <a:solidFill>
            <a:srgbClr val="2C3E50"/>
          </a:solidFill>
          <a:ln w="12700">
            <a:solidFill>
              <a:srgbClr val="3D5165"/>
            </a:solidFill>
            <a:prstDash val="solid"/>
          </a:ln>
        </p:spPr>
      </p:sp>
      <p:sp>
        <p:nvSpPr>
          <p:cNvPr id="10" name="Shape 8"/>
          <p:cNvSpPr/>
          <p:nvPr/>
        </p:nvSpPr>
        <p:spPr>
          <a:xfrm>
            <a:off x="877824" y="2697480"/>
            <a:ext cx="420624" cy="420624"/>
          </a:xfrm>
          <a:prstGeom prst="ellipse">
            <a:avLst/>
          </a:prstGeom>
          <a:solidFill>
            <a:srgbClr val="6FB3D2"/>
          </a:solidFill>
          <a:ln w="12700">
            <a:solidFill>
              <a:srgbClr val="6FB3D2"/>
            </a:solidFill>
            <a:prstDash val="solid"/>
          </a:ln>
        </p:spPr>
      </p:sp>
      <p:sp>
        <p:nvSpPr>
          <p:cNvPr id="11" name="Text 9"/>
          <p:cNvSpPr txBox="1"/>
          <p:nvPr/>
        </p:nvSpPr>
        <p:spPr>
          <a:xfrm>
            <a:off x="877824" y="2697480"/>
            <a:ext cx="420624" cy="420624"/>
          </a:xfrm>
          <a:prstGeom prst="rect">
            <a:avLst/>
          </a:prstGeom>
          <a:noFill/>
          <a:ln/>
        </p:spPr>
        <p:txBody>
          <a:bodyPr wrap="square" lIns="0" tIns="0" rIns="0" bIns="0" rtlCol="0" anchor="ctr"/>
          <a:lstStyle/>
          <a:p>
            <a:pPr algn="ctr" indent="0" marL="0">
              <a:buNone/>
            </a:pPr>
            <a:r>
              <a:rPr lang="en-US" sz="1300" b="1" dirty="0">
                <a:solidFill>
                  <a:srgbClr val="141C26"/>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499616" y="2505456"/>
            <a:ext cx="3931920" cy="8046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Install and configure Jenkins</a:t>
            </a:r>
            <a:endParaRPr lang="en-US" sz="1500" dirty="0"/>
          </a:p>
        </p:txBody>
      </p:sp>
      <p:sp>
        <p:nvSpPr>
          <p:cNvPr id="13" name="Text 11"/>
          <p:cNvSpPr txBox="1"/>
          <p:nvPr/>
        </p:nvSpPr>
        <p:spPr>
          <a:xfrm>
            <a:off x="5486400" y="2505456"/>
            <a:ext cx="5788152" cy="804672"/>
          </a:xfrm>
          <a:prstGeom prst="rect">
            <a:avLst/>
          </a:prstGeom>
          <a:noFill/>
          <a:ln/>
        </p:spPr>
        <p:txBody>
          <a:bodyPr wrap="square" lIns="0" tIns="0" rIns="0" bIns="0" rtlCol="0" anchor="ctr"/>
          <a:lstStyle/>
          <a:p>
            <a:pPr indent="0" marL="0">
              <a:buNone/>
            </a:pPr>
            <a:r>
              <a:rPr lang="en-US" sz="1250" dirty="0">
                <a:solidFill>
                  <a:srgbClr val="B0BBC7"/>
                </a:solidFill>
                <a:latin typeface="Calibri" pitchFamily="34" charset="0"/>
                <a:ea typeface="Calibri" pitchFamily="34" charset="-122"/>
                <a:cs typeface="Calibri" pitchFamily="34" charset="-120"/>
              </a:rPr>
              <a:t>Set it up, manage plugins and tools, and store credentials safely.</a:t>
            </a:r>
            <a:endParaRPr lang="en-US" sz="1250" dirty="0"/>
          </a:p>
        </p:txBody>
      </p:sp>
      <p:sp>
        <p:nvSpPr>
          <p:cNvPr id="14" name="Shape 12"/>
          <p:cNvSpPr/>
          <p:nvPr/>
        </p:nvSpPr>
        <p:spPr>
          <a:xfrm>
            <a:off x="640080" y="3438144"/>
            <a:ext cx="10908792" cy="804672"/>
          </a:xfrm>
          <a:prstGeom prst="roundRect">
            <a:avLst>
              <a:gd name="adj" fmla="val 5682"/>
            </a:avLst>
          </a:prstGeom>
          <a:solidFill>
            <a:srgbClr val="2C3E50"/>
          </a:solidFill>
          <a:ln w="12700">
            <a:solidFill>
              <a:srgbClr val="3D5165"/>
            </a:solidFill>
            <a:prstDash val="solid"/>
          </a:ln>
        </p:spPr>
      </p:sp>
      <p:sp>
        <p:nvSpPr>
          <p:cNvPr id="15" name="Shape 13"/>
          <p:cNvSpPr/>
          <p:nvPr/>
        </p:nvSpPr>
        <p:spPr>
          <a:xfrm>
            <a:off x="877824" y="3630168"/>
            <a:ext cx="420624" cy="420624"/>
          </a:xfrm>
          <a:prstGeom prst="ellipse">
            <a:avLst/>
          </a:prstGeom>
          <a:solidFill>
            <a:srgbClr val="6FB3D2"/>
          </a:solidFill>
          <a:ln w="12700">
            <a:solidFill>
              <a:srgbClr val="6FB3D2"/>
            </a:solidFill>
            <a:prstDash val="solid"/>
          </a:ln>
        </p:spPr>
      </p:sp>
      <p:sp>
        <p:nvSpPr>
          <p:cNvPr id="16" name="Text 14"/>
          <p:cNvSpPr txBox="1"/>
          <p:nvPr/>
        </p:nvSpPr>
        <p:spPr>
          <a:xfrm>
            <a:off x="877824" y="3630168"/>
            <a:ext cx="420624" cy="420624"/>
          </a:xfrm>
          <a:prstGeom prst="rect">
            <a:avLst/>
          </a:prstGeom>
          <a:noFill/>
          <a:ln/>
        </p:spPr>
        <p:txBody>
          <a:bodyPr wrap="square" lIns="0" tIns="0" rIns="0" bIns="0" rtlCol="0" anchor="ctr"/>
          <a:lstStyle/>
          <a:p>
            <a:pPr algn="ctr" indent="0" marL="0">
              <a:buNone/>
            </a:pPr>
            <a:r>
              <a:rPr lang="en-US" sz="1300" b="1" dirty="0">
                <a:solidFill>
                  <a:srgbClr val="141C26"/>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499616" y="3438144"/>
            <a:ext cx="3931920" cy="8046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Build jobs and pipelines</a:t>
            </a:r>
            <a:endParaRPr lang="en-US" sz="1500" dirty="0"/>
          </a:p>
        </p:txBody>
      </p:sp>
      <p:sp>
        <p:nvSpPr>
          <p:cNvPr id="18" name="Text 16"/>
          <p:cNvSpPr txBox="1"/>
          <p:nvPr/>
        </p:nvSpPr>
        <p:spPr>
          <a:xfrm>
            <a:off x="5486400" y="3438144"/>
            <a:ext cx="5788152" cy="804672"/>
          </a:xfrm>
          <a:prstGeom prst="rect">
            <a:avLst/>
          </a:prstGeom>
          <a:noFill/>
          <a:ln/>
        </p:spPr>
        <p:txBody>
          <a:bodyPr wrap="square" lIns="0" tIns="0" rIns="0" bIns="0" rtlCol="0" anchor="ctr"/>
          <a:lstStyle/>
          <a:p>
            <a:pPr indent="0" marL="0">
              <a:buNone/>
            </a:pPr>
            <a:r>
              <a:rPr lang="en-US" sz="1250" dirty="0">
                <a:solidFill>
                  <a:srgbClr val="B0BBC7"/>
                </a:solidFill>
                <a:latin typeface="Calibri" pitchFamily="34" charset="0"/>
                <a:ea typeface="Calibri" pitchFamily="34" charset="-122"/>
                <a:cs typeface="Calibri" pitchFamily="34" charset="-120"/>
              </a:rPr>
              <a:t>Create freestyle jobs, and write declarative Jenkinsfiles that live in the repository.</a:t>
            </a:r>
            <a:endParaRPr lang="en-US" sz="1250" dirty="0"/>
          </a:p>
        </p:txBody>
      </p:sp>
      <p:sp>
        <p:nvSpPr>
          <p:cNvPr id="19" name="Shape 17"/>
          <p:cNvSpPr/>
          <p:nvPr/>
        </p:nvSpPr>
        <p:spPr>
          <a:xfrm>
            <a:off x="640080" y="4370832"/>
            <a:ext cx="10908792" cy="804672"/>
          </a:xfrm>
          <a:prstGeom prst="roundRect">
            <a:avLst>
              <a:gd name="adj" fmla="val 5682"/>
            </a:avLst>
          </a:prstGeom>
          <a:solidFill>
            <a:srgbClr val="2C3E50"/>
          </a:solidFill>
          <a:ln w="12700">
            <a:solidFill>
              <a:srgbClr val="3D5165"/>
            </a:solidFill>
            <a:prstDash val="solid"/>
          </a:ln>
        </p:spPr>
      </p:sp>
      <p:sp>
        <p:nvSpPr>
          <p:cNvPr id="20" name="Shape 18"/>
          <p:cNvSpPr/>
          <p:nvPr/>
        </p:nvSpPr>
        <p:spPr>
          <a:xfrm>
            <a:off x="877824" y="4562856"/>
            <a:ext cx="420624" cy="420624"/>
          </a:xfrm>
          <a:prstGeom prst="ellipse">
            <a:avLst/>
          </a:prstGeom>
          <a:solidFill>
            <a:srgbClr val="6FB3D2"/>
          </a:solidFill>
          <a:ln w="12700">
            <a:solidFill>
              <a:srgbClr val="6FB3D2"/>
            </a:solidFill>
            <a:prstDash val="solid"/>
          </a:ln>
        </p:spPr>
      </p:sp>
      <p:sp>
        <p:nvSpPr>
          <p:cNvPr id="21" name="Text 19"/>
          <p:cNvSpPr txBox="1"/>
          <p:nvPr/>
        </p:nvSpPr>
        <p:spPr>
          <a:xfrm>
            <a:off x="877824" y="4562856"/>
            <a:ext cx="420624" cy="420624"/>
          </a:xfrm>
          <a:prstGeom prst="rect">
            <a:avLst/>
          </a:prstGeom>
          <a:noFill/>
          <a:ln/>
        </p:spPr>
        <p:txBody>
          <a:bodyPr wrap="square" lIns="0" tIns="0" rIns="0" bIns="0" rtlCol="0" anchor="ctr"/>
          <a:lstStyle/>
          <a:p>
            <a:pPr algn="ctr" indent="0" marL="0">
              <a:buNone/>
            </a:pPr>
            <a:r>
              <a:rPr lang="en-US" sz="1300" b="1" dirty="0">
                <a:solidFill>
                  <a:srgbClr val="141C26"/>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499616" y="4370832"/>
            <a:ext cx="3931920" cy="8046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Distribute the work</a:t>
            </a:r>
            <a:endParaRPr lang="en-US" sz="1500" dirty="0"/>
          </a:p>
        </p:txBody>
      </p:sp>
      <p:sp>
        <p:nvSpPr>
          <p:cNvPr id="23" name="Text 21"/>
          <p:cNvSpPr txBox="1"/>
          <p:nvPr/>
        </p:nvSpPr>
        <p:spPr>
          <a:xfrm>
            <a:off x="5486400" y="4370832"/>
            <a:ext cx="5788152" cy="804672"/>
          </a:xfrm>
          <a:prstGeom prst="rect">
            <a:avLst/>
          </a:prstGeom>
          <a:noFill/>
          <a:ln/>
        </p:spPr>
        <p:txBody>
          <a:bodyPr wrap="square" lIns="0" tIns="0" rIns="0" bIns="0" rtlCol="0" anchor="ctr"/>
          <a:lstStyle/>
          <a:p>
            <a:pPr indent="0" marL="0">
              <a:buNone/>
            </a:pPr>
            <a:r>
              <a:rPr lang="en-US" sz="1250" dirty="0">
                <a:solidFill>
                  <a:srgbClr val="B0BBC7"/>
                </a:solidFill>
                <a:latin typeface="Calibri" pitchFamily="34" charset="0"/>
                <a:ea typeface="Calibri" pitchFamily="34" charset="-122"/>
                <a:cs typeface="Calibri" pitchFamily="34" charset="-120"/>
              </a:rPr>
              <a:t>Explain the controller and agent model, and configure and target agent nodes.</a:t>
            </a:r>
            <a:endParaRPr lang="en-US" sz="1250" dirty="0"/>
          </a:p>
        </p:txBody>
      </p:sp>
      <p:sp>
        <p:nvSpPr>
          <p:cNvPr id="24" name="Shape 22"/>
          <p:cNvSpPr/>
          <p:nvPr/>
        </p:nvSpPr>
        <p:spPr>
          <a:xfrm>
            <a:off x="640080" y="5303520"/>
            <a:ext cx="10908792" cy="804672"/>
          </a:xfrm>
          <a:prstGeom prst="roundRect">
            <a:avLst>
              <a:gd name="adj" fmla="val 5682"/>
            </a:avLst>
          </a:prstGeom>
          <a:solidFill>
            <a:srgbClr val="2C3E50"/>
          </a:solidFill>
          <a:ln w="12700">
            <a:solidFill>
              <a:srgbClr val="3D5165"/>
            </a:solidFill>
            <a:prstDash val="solid"/>
          </a:ln>
        </p:spPr>
      </p:sp>
      <p:sp>
        <p:nvSpPr>
          <p:cNvPr id="25" name="Shape 23"/>
          <p:cNvSpPr/>
          <p:nvPr/>
        </p:nvSpPr>
        <p:spPr>
          <a:xfrm>
            <a:off x="877824" y="5495544"/>
            <a:ext cx="420624" cy="420624"/>
          </a:xfrm>
          <a:prstGeom prst="ellipse">
            <a:avLst/>
          </a:prstGeom>
          <a:solidFill>
            <a:srgbClr val="6FB3D2"/>
          </a:solidFill>
          <a:ln w="12700">
            <a:solidFill>
              <a:srgbClr val="6FB3D2"/>
            </a:solidFill>
            <a:prstDash val="solid"/>
          </a:ln>
        </p:spPr>
      </p:sp>
      <p:sp>
        <p:nvSpPr>
          <p:cNvPr id="26" name="Text 24"/>
          <p:cNvSpPr txBox="1"/>
          <p:nvPr/>
        </p:nvSpPr>
        <p:spPr>
          <a:xfrm>
            <a:off x="877824" y="5495544"/>
            <a:ext cx="420624" cy="420624"/>
          </a:xfrm>
          <a:prstGeom prst="rect">
            <a:avLst/>
          </a:prstGeom>
          <a:noFill/>
          <a:ln/>
        </p:spPr>
        <p:txBody>
          <a:bodyPr wrap="square" lIns="0" tIns="0" rIns="0" bIns="0" rtlCol="0" anchor="ctr"/>
          <a:lstStyle/>
          <a:p>
            <a:pPr algn="ctr" indent="0" marL="0">
              <a:buNone/>
            </a:pPr>
            <a:r>
              <a:rPr lang="en-US" sz="1300" b="1" dirty="0">
                <a:solidFill>
                  <a:srgbClr val="141C26"/>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499616" y="5303520"/>
            <a:ext cx="3931920" cy="804672"/>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Deploy and automate</a:t>
            </a:r>
            <a:endParaRPr lang="en-US" sz="1500" dirty="0"/>
          </a:p>
        </p:txBody>
      </p:sp>
      <p:sp>
        <p:nvSpPr>
          <p:cNvPr id="28" name="Text 26"/>
          <p:cNvSpPr txBox="1"/>
          <p:nvPr/>
        </p:nvSpPr>
        <p:spPr>
          <a:xfrm>
            <a:off x="5486400" y="5303520"/>
            <a:ext cx="5788152" cy="804672"/>
          </a:xfrm>
          <a:prstGeom prst="rect">
            <a:avLst/>
          </a:prstGeom>
          <a:noFill/>
          <a:ln/>
        </p:spPr>
        <p:txBody>
          <a:bodyPr wrap="square" lIns="0" tIns="0" rIns="0" bIns="0" rtlCol="0" anchor="ctr"/>
          <a:lstStyle/>
          <a:p>
            <a:pPr indent="0" marL="0">
              <a:buNone/>
            </a:pPr>
            <a:r>
              <a:rPr lang="en-US" sz="1250" dirty="0">
                <a:solidFill>
                  <a:srgbClr val="B0BBC7"/>
                </a:solidFill>
                <a:latin typeface="Calibri" pitchFamily="34" charset="0"/>
                <a:ea typeface="Calibri" pitchFamily="34" charset="-122"/>
                <a:cs typeface="Calibri" pitchFamily="34" charset="-120"/>
              </a:rPr>
              <a:t>Deploy to Tomcat, trigger builds from events, notify the team, and keep the instance healthy.</a:t>
            </a:r>
            <a:endParaRPr lang="en-US" sz="12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141C26"/>
        </a:solidFill>
      </p:bgPr>
    </p:bg>
    <p:spTree>
      <p:nvGrpSpPr>
        <p:cNvPr id="1" name=""/>
        <p:cNvGrpSpPr/>
        <p:nvPr/>
      </p:nvGrpSpPr>
      <p:grpSpPr>
        <a:xfrm>
          <a:off x="0" y="0"/>
          <a:ext cx="0" cy="0"/>
          <a:chOff x="0" y="0"/>
          <a:chExt cx="0" cy="0"/>
        </a:xfrm>
      </p:grpSpPr>
      <p:sp>
        <p:nvSpPr>
          <p:cNvPr id="2" name="Shape 0"/>
          <p:cNvSpPr/>
          <p:nvPr/>
        </p:nvSpPr>
        <p:spPr>
          <a:xfrm>
            <a:off x="-1463040" y="2926080"/>
            <a:ext cx="5303520" cy="5303520"/>
          </a:xfrm>
          <a:prstGeom prst="ellipse">
            <a:avLst/>
          </a:prstGeom>
          <a:solidFill>
            <a:srgbClr val="2C3E50"/>
          </a:solidFill>
          <a:ln w="12700">
            <a:solidFill>
              <a:srgbClr val="2C3E50"/>
            </a:solidFill>
            <a:prstDash val="solid"/>
          </a:ln>
        </p:spPr>
      </p:sp>
      <p:sp>
        <p:nvSpPr>
          <p:cNvPr id="3" name="Shape 1"/>
          <p:cNvSpPr/>
          <p:nvPr/>
        </p:nvSpPr>
        <p:spPr>
          <a:xfrm>
            <a:off x="9509760" y="-1371600"/>
            <a:ext cx="4389120" cy="4389120"/>
          </a:xfrm>
          <a:prstGeom prst="ellipse">
            <a:avLst/>
          </a:prstGeom>
          <a:solidFill>
            <a:srgbClr val="1F5673"/>
          </a:solidFill>
          <a:ln w="12700">
            <a:solidFill>
              <a:srgbClr val="1F5673"/>
            </a:solidFill>
            <a:prstDash val="solid"/>
          </a:ln>
        </p:spPr>
      </p:sp>
      <p:sp>
        <p:nvSpPr>
          <p:cNvPr id="4" name="Text 2"/>
          <p:cNvSpPr txBox="1"/>
          <p:nvPr/>
        </p:nvSpPr>
        <p:spPr>
          <a:xfrm>
            <a:off x="640080" y="1371600"/>
            <a:ext cx="7315200" cy="274320"/>
          </a:xfrm>
          <a:prstGeom prst="rect">
            <a:avLst/>
          </a:prstGeom>
          <a:noFill/>
          <a:ln/>
        </p:spPr>
        <p:txBody>
          <a:bodyPr wrap="square" lIns="0" tIns="0" rIns="0" bIns="0" rtlCol="0" anchor="ctr"/>
          <a:lstStyle/>
          <a:p>
            <a:pPr indent="0" marL="0">
              <a:buNone/>
            </a:pPr>
            <a:r>
              <a:rPr lang="en-US" sz="1200" b="1" spc="300" kern="0" dirty="0">
                <a:solidFill>
                  <a:srgbClr val="6FB3D2"/>
                </a:solidFill>
                <a:latin typeface="Calibri" pitchFamily="34" charset="0"/>
                <a:ea typeface="Calibri" pitchFamily="34" charset="-122"/>
                <a:cs typeface="Calibri" pitchFamily="34" charset="-120"/>
              </a:rPr>
              <a:t>KEEP PRACTISING</a:t>
            </a:r>
            <a:endParaRPr lang="en-US" sz="1200" dirty="0"/>
          </a:p>
        </p:txBody>
      </p:sp>
      <p:sp>
        <p:nvSpPr>
          <p:cNvPr id="5" name="Text 3"/>
          <p:cNvSpPr txBox="1"/>
          <p:nvPr/>
        </p:nvSpPr>
        <p:spPr>
          <a:xfrm>
            <a:off x="640080" y="1737360"/>
            <a:ext cx="7680960" cy="1371600"/>
          </a:xfrm>
          <a:prstGeom prst="rect">
            <a:avLst/>
          </a:prstGeom>
          <a:noFill/>
          <a:ln/>
        </p:spPr>
        <p:txBody>
          <a:bodyPr wrap="square" lIns="0" tIns="0" rIns="0" bIns="0" rtlCol="0" anchor="ctr"/>
          <a:lstStyle/>
          <a:p>
            <a:pPr indent="0" marL="0">
              <a:lnSpc>
                <a:spcPct val="100000"/>
              </a:lnSpc>
              <a:buNone/>
            </a:pPr>
            <a:r>
              <a:rPr lang="en-US" sz="3600" b="1" dirty="0">
                <a:solidFill>
                  <a:srgbClr val="FFFFFF"/>
                </a:solidFill>
                <a:latin typeface="Cambria" pitchFamily="34" charset="0"/>
                <a:ea typeface="Cambria" pitchFamily="34" charset="-122"/>
                <a:cs typeface="Cambria" pitchFamily="34" charset="-120"/>
              </a:rPr>
              <a:t>Automate one manual</a:t>
            </a:r>
            <a:endParaRPr lang="en-US" sz="3600" dirty="0"/>
          </a:p>
          <a:p>
            <a:pPr indent="0" marL="0">
              <a:lnSpc>
                <a:spcPct val="100000"/>
              </a:lnSpc>
              <a:buNone/>
            </a:pPr>
            <a:r>
              <a:rPr lang="en-US" sz="3600" b="1" dirty="0">
                <a:solidFill>
                  <a:srgbClr val="FFFFFF"/>
                </a:solidFill>
                <a:latin typeface="Cambria" pitchFamily="34" charset="0"/>
                <a:ea typeface="Cambria" pitchFamily="34" charset="-122"/>
                <a:cs typeface="Cambria" pitchFamily="34" charset="-120"/>
              </a:rPr>
              <a:t>step from your week</a:t>
            </a:r>
            <a:endParaRPr lang="en-US" sz="3600" dirty="0"/>
          </a:p>
        </p:txBody>
      </p:sp>
      <p:sp>
        <p:nvSpPr>
          <p:cNvPr id="6" name="Text 4"/>
          <p:cNvSpPr txBox="1"/>
          <p:nvPr/>
        </p:nvSpPr>
        <p:spPr>
          <a:xfrm>
            <a:off x="640080" y="3200400"/>
            <a:ext cx="6949440" cy="640080"/>
          </a:xfrm>
          <a:prstGeom prst="rect">
            <a:avLst/>
          </a:prstGeom>
          <a:noFill/>
          <a:ln/>
        </p:spPr>
        <p:txBody>
          <a:bodyPr wrap="square" lIns="0" tIns="0" rIns="0" bIns="0" rtlCol="0" anchor="ctr"/>
          <a:lstStyle/>
          <a:p>
            <a:pPr indent="0" marL="0">
              <a:lnSpc>
                <a:spcPct val="110000"/>
              </a:lnSpc>
              <a:buNone/>
            </a:pPr>
            <a:r>
              <a:rPr lang="en-US" sz="1500" dirty="0">
                <a:solidFill>
                  <a:srgbClr val="AAB4C0"/>
                </a:solidFill>
                <a:latin typeface="Calibri" pitchFamily="34" charset="0"/>
                <a:ea typeface="Calibri" pitchFamily="34" charset="-122"/>
                <a:cs typeface="Calibri" pitchFamily="34" charset="-120"/>
              </a:rPr>
              <a:t>Find something a person currently does by hand before a release, and make a pipeline stage do it instead. One stage at a time is how real pipelines get built.</a:t>
            </a:r>
            <a:endParaRPr lang="en-US" sz="1500" dirty="0"/>
          </a:p>
        </p:txBody>
      </p:sp>
      <p:sp>
        <p:nvSpPr>
          <p:cNvPr id="7" name="Shape 5"/>
          <p:cNvSpPr/>
          <p:nvPr/>
        </p:nvSpPr>
        <p:spPr>
          <a:xfrm>
            <a:off x="640080" y="4069080"/>
            <a:ext cx="3419856" cy="1371600"/>
          </a:xfrm>
          <a:prstGeom prst="roundRect">
            <a:avLst>
              <a:gd name="adj" fmla="val 4000"/>
            </a:avLst>
          </a:prstGeom>
          <a:solidFill>
            <a:srgbClr val="2C3E50"/>
          </a:solidFill>
          <a:ln w="12700">
            <a:solidFill>
              <a:srgbClr val="3D5165"/>
            </a:solidFill>
            <a:prstDash val="solid"/>
          </a:ln>
        </p:spPr>
      </p:sp>
      <p:sp>
        <p:nvSpPr>
          <p:cNvPr id="8" name="Text 6"/>
          <p:cNvSpPr txBox="1"/>
          <p:nvPr/>
        </p:nvSpPr>
        <p:spPr>
          <a:xfrm>
            <a:off x="896112" y="4251960"/>
            <a:ext cx="2907792" cy="274320"/>
          </a:xfrm>
          <a:prstGeom prst="rect">
            <a:avLst/>
          </a:prstGeom>
          <a:noFill/>
          <a:ln/>
        </p:spPr>
        <p:txBody>
          <a:bodyPr wrap="square" lIns="0" tIns="0" rIns="0" bIns="0" rtlCol="0" anchor="ctr"/>
          <a:lstStyle/>
          <a:p>
            <a:pPr indent="0" marL="0">
              <a:buNone/>
            </a:pPr>
            <a:r>
              <a:rPr lang="en-US" sz="1200" b="1" spc="120" kern="0" dirty="0">
                <a:solidFill>
                  <a:srgbClr val="6FB3D2"/>
                </a:solidFill>
                <a:latin typeface="Calibri" pitchFamily="34" charset="0"/>
                <a:ea typeface="Calibri" pitchFamily="34" charset="-122"/>
                <a:cs typeface="Calibri" pitchFamily="34" charset="-120"/>
              </a:rPr>
              <a:t>Practise</a:t>
            </a:r>
            <a:endParaRPr lang="en-US" sz="1200" dirty="0"/>
          </a:p>
        </p:txBody>
      </p:sp>
      <p:sp>
        <p:nvSpPr>
          <p:cNvPr id="9" name="Text 7"/>
          <p:cNvSpPr txBox="1"/>
          <p:nvPr/>
        </p:nvSpPr>
        <p:spPr>
          <a:xfrm>
            <a:off x="896112" y="4562856"/>
            <a:ext cx="2907792" cy="731520"/>
          </a:xfrm>
          <a:prstGeom prst="rect">
            <a:avLst/>
          </a:prstGeom>
          <a:noFill/>
          <a:ln/>
        </p:spPr>
        <p:txBody>
          <a:bodyPr wrap="square" lIns="0" tIns="0" rIns="0" bIns="0" rtlCol="0" anchor="ctr"/>
          <a:lstStyle/>
          <a:p>
            <a:pPr indent="0" marL="0">
              <a:lnSpc>
                <a:spcPct val="106000"/>
              </a:lnSpc>
              <a:buNone/>
            </a:pPr>
            <a:r>
              <a:rPr lang="en-US" sz="1300" dirty="0">
                <a:solidFill>
                  <a:srgbClr val="DBE2EA"/>
                </a:solidFill>
                <a:latin typeface="Calibri" pitchFamily="34" charset="0"/>
                <a:ea typeface="Calibri" pitchFamily="34" charset="-122"/>
                <a:cs typeface="Calibri" pitchFamily="34" charset="-120"/>
              </a:rPr>
              <a:t>Rebuild lab 3's pipeline from an empty Jenkinsfile, without looking at your notes.</a:t>
            </a:r>
            <a:endParaRPr lang="en-US" sz="1300" dirty="0"/>
          </a:p>
        </p:txBody>
      </p:sp>
      <p:sp>
        <p:nvSpPr>
          <p:cNvPr id="10" name="Shape 8"/>
          <p:cNvSpPr/>
          <p:nvPr/>
        </p:nvSpPr>
        <p:spPr>
          <a:xfrm>
            <a:off x="4384548" y="4069080"/>
            <a:ext cx="3419856" cy="1371600"/>
          </a:xfrm>
          <a:prstGeom prst="roundRect">
            <a:avLst>
              <a:gd name="adj" fmla="val 4000"/>
            </a:avLst>
          </a:prstGeom>
          <a:solidFill>
            <a:srgbClr val="2C3E50"/>
          </a:solidFill>
          <a:ln w="12700">
            <a:solidFill>
              <a:srgbClr val="3D5165"/>
            </a:solidFill>
            <a:prstDash val="solid"/>
          </a:ln>
        </p:spPr>
      </p:sp>
      <p:sp>
        <p:nvSpPr>
          <p:cNvPr id="11" name="Text 9"/>
          <p:cNvSpPr txBox="1"/>
          <p:nvPr/>
        </p:nvSpPr>
        <p:spPr>
          <a:xfrm>
            <a:off x="4640580" y="4251960"/>
            <a:ext cx="2907792" cy="274320"/>
          </a:xfrm>
          <a:prstGeom prst="rect">
            <a:avLst/>
          </a:prstGeom>
          <a:noFill/>
          <a:ln/>
        </p:spPr>
        <p:txBody>
          <a:bodyPr wrap="square" lIns="0" tIns="0" rIns="0" bIns="0" rtlCol="0" anchor="ctr"/>
          <a:lstStyle/>
          <a:p>
            <a:pPr indent="0" marL="0">
              <a:buNone/>
            </a:pPr>
            <a:r>
              <a:rPr lang="en-US" sz="1200" b="1" spc="120" kern="0" dirty="0">
                <a:solidFill>
                  <a:srgbClr val="6FB3D2"/>
                </a:solidFill>
                <a:latin typeface="Calibri" pitchFamily="34" charset="0"/>
                <a:ea typeface="Calibri" pitchFamily="34" charset="-122"/>
                <a:cs typeface="Calibri" pitchFamily="34" charset="-120"/>
              </a:rPr>
              <a:t>Reference</a:t>
            </a:r>
            <a:endParaRPr lang="en-US" sz="1200" dirty="0"/>
          </a:p>
        </p:txBody>
      </p:sp>
      <p:sp>
        <p:nvSpPr>
          <p:cNvPr id="12" name="Text 10"/>
          <p:cNvSpPr txBox="1"/>
          <p:nvPr/>
        </p:nvSpPr>
        <p:spPr>
          <a:xfrm>
            <a:off x="4640580" y="4562856"/>
            <a:ext cx="2907792" cy="731520"/>
          </a:xfrm>
          <a:prstGeom prst="rect">
            <a:avLst/>
          </a:prstGeom>
          <a:noFill/>
          <a:ln/>
        </p:spPr>
        <p:txBody>
          <a:bodyPr wrap="square" lIns="0" tIns="0" rIns="0" bIns="0" rtlCol="0" anchor="ctr"/>
          <a:lstStyle/>
          <a:p>
            <a:pPr indent="0" marL="0">
              <a:lnSpc>
                <a:spcPct val="106000"/>
              </a:lnSpc>
              <a:buNone/>
            </a:pPr>
            <a:r>
              <a:rPr lang="en-US" sz="1300" dirty="0">
                <a:solidFill>
                  <a:srgbClr val="DBE2EA"/>
                </a:solidFill>
                <a:latin typeface="Calibri" pitchFamily="34" charset="0"/>
                <a:ea typeface="Calibri" pitchFamily="34" charset="-122"/>
                <a:cs typeface="Calibri" pitchFamily="34" charset="-120"/>
              </a:rPr>
              <a:t>jenkins.io/doc — the Pipeline syntax reference and the steps index.</a:t>
            </a:r>
            <a:endParaRPr lang="en-US" sz="1300" dirty="0"/>
          </a:p>
        </p:txBody>
      </p:sp>
      <p:sp>
        <p:nvSpPr>
          <p:cNvPr id="13" name="Shape 11"/>
          <p:cNvSpPr/>
          <p:nvPr/>
        </p:nvSpPr>
        <p:spPr>
          <a:xfrm>
            <a:off x="8129016" y="4069080"/>
            <a:ext cx="3419856" cy="1371600"/>
          </a:xfrm>
          <a:prstGeom prst="roundRect">
            <a:avLst>
              <a:gd name="adj" fmla="val 4000"/>
            </a:avLst>
          </a:prstGeom>
          <a:solidFill>
            <a:srgbClr val="2C3E50"/>
          </a:solidFill>
          <a:ln w="12700">
            <a:solidFill>
              <a:srgbClr val="3D5165"/>
            </a:solidFill>
            <a:prstDash val="solid"/>
          </a:ln>
        </p:spPr>
      </p:sp>
      <p:sp>
        <p:nvSpPr>
          <p:cNvPr id="14" name="Text 12"/>
          <p:cNvSpPr txBox="1"/>
          <p:nvPr/>
        </p:nvSpPr>
        <p:spPr>
          <a:xfrm>
            <a:off x="8385048" y="4251960"/>
            <a:ext cx="2907792" cy="274320"/>
          </a:xfrm>
          <a:prstGeom prst="rect">
            <a:avLst/>
          </a:prstGeom>
          <a:noFill/>
          <a:ln/>
        </p:spPr>
        <p:txBody>
          <a:bodyPr wrap="square" lIns="0" tIns="0" rIns="0" bIns="0" rtlCol="0" anchor="ctr"/>
          <a:lstStyle/>
          <a:p>
            <a:pPr indent="0" marL="0">
              <a:buNone/>
            </a:pPr>
            <a:r>
              <a:rPr lang="en-US" sz="1200" b="1" spc="120" kern="0" dirty="0">
                <a:solidFill>
                  <a:srgbClr val="6FB3D2"/>
                </a:solidFill>
                <a:latin typeface="Calibri" pitchFamily="34" charset="0"/>
                <a:ea typeface="Calibri" pitchFamily="34" charset="-122"/>
                <a:cs typeface="Calibri" pitchFamily="34" charset="-120"/>
              </a:rPr>
              <a:t>Explore</a:t>
            </a:r>
            <a:endParaRPr lang="en-US" sz="1200" dirty="0"/>
          </a:p>
        </p:txBody>
      </p:sp>
      <p:sp>
        <p:nvSpPr>
          <p:cNvPr id="15" name="Text 13"/>
          <p:cNvSpPr txBox="1"/>
          <p:nvPr/>
        </p:nvSpPr>
        <p:spPr>
          <a:xfrm>
            <a:off x="8385048" y="4562856"/>
            <a:ext cx="2907792" cy="731520"/>
          </a:xfrm>
          <a:prstGeom prst="rect">
            <a:avLst/>
          </a:prstGeom>
          <a:noFill/>
          <a:ln/>
        </p:spPr>
        <p:txBody>
          <a:bodyPr wrap="square" lIns="0" tIns="0" rIns="0" bIns="0" rtlCol="0" anchor="ctr"/>
          <a:lstStyle/>
          <a:p>
            <a:pPr indent="0" marL="0">
              <a:lnSpc>
                <a:spcPct val="106000"/>
              </a:lnSpc>
              <a:buNone/>
            </a:pPr>
            <a:r>
              <a:rPr lang="en-US" sz="1300" dirty="0">
                <a:solidFill>
                  <a:srgbClr val="DBE2EA"/>
                </a:solidFill>
                <a:latin typeface="Calibri" pitchFamily="34" charset="0"/>
                <a:ea typeface="Calibri" pitchFamily="34" charset="-122"/>
                <a:cs typeface="Calibri" pitchFamily="34" charset="-120"/>
              </a:rPr>
              <a:t>Try a multibranch pipeline against a repository with two branches.</a:t>
            </a:r>
            <a:endParaRPr lang="en-US" sz="1300" dirty="0"/>
          </a:p>
        </p:txBody>
      </p:sp>
      <p:sp>
        <p:nvSpPr>
          <p:cNvPr id="16" name="Text 14"/>
          <p:cNvSpPr txBox="1"/>
          <p:nvPr/>
        </p:nvSpPr>
        <p:spPr>
          <a:xfrm>
            <a:off x="640080" y="5669280"/>
            <a:ext cx="4572000" cy="457200"/>
          </a:xfrm>
          <a:prstGeom prst="rect">
            <a:avLst/>
          </a:prstGeom>
          <a:noFill/>
          <a:ln/>
        </p:spPr>
        <p:txBody>
          <a:bodyPr wrap="square" lIns="0" tIns="0" rIns="0" bIns="0" rtlCol="0" anchor="ctr"/>
          <a:lstStyle/>
          <a:p>
            <a:pPr indent="0" marL="0">
              <a:buNone/>
            </a:pPr>
            <a:r>
              <a:rPr lang="en-US" sz="2400" b="1" dirty="0">
                <a:solidFill>
                  <a:srgbClr val="6FB3D2"/>
                </a:solidFill>
                <a:latin typeface="Cambria" pitchFamily="34" charset="0"/>
                <a:ea typeface="Cambria" pitchFamily="34" charset="-122"/>
                <a:cs typeface="Cambria" pitchFamily="34" charset="-120"/>
              </a:rPr>
              <a:t>Questions?</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6 — Continuous Integration Using Jenkins</dc:title>
  <dc:subject>PptxGenJS Presentation</dc:subject>
  <dc:creator>Rochak</dc:creator>
  <cp:lastModifiedBy>Rochak</cp:lastModifiedBy>
  <cp:revision>1</cp:revision>
  <dcterms:created xsi:type="dcterms:W3CDTF">2026-09-11T17:23:24Z</dcterms:created>
  <dcterms:modified xsi:type="dcterms:W3CDTF">2026-09-11T17:23:24Z</dcterms:modified>
</cp:coreProperties>
</file>